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0" d="100"/>
          <a:sy n="160" d="100"/>
        </p:scale>
        <p:origin x="29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1067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for the single-camera modes, where output row r comes from source row r. In the panorama modes the warp lets a source row land within a band of output rows, so the cancellation is approximate - bounded by the row-window span of about 13 source rows, under 0.5 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 panorama reference event read 15 Hz in that capture where the genlock says 30 - already recorded as untrustworthy in MEASURED_20260819. Re-measuring latency on the IR-DDR branch needs the timing probe ported to it; that branch has never carried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203709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94391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7FA43F5B-065E-43CE-B3FD-98C48A6F94D7}" type="datetime1">
              <a:rPr lang="en-US" smtClean="0"/>
              <a:t>8/20/2026</a:t>
            </a:fld>
            <a:endParaRPr lang="en-US"/>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2387121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5598566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EEE2A7A0-B9EE-41A8-8016-28E5803F20B2}" type="datetime1">
              <a:rPr lang="en-US" smtClean="0"/>
              <a:pPr/>
              <a:t>8/20/2026</a:t>
            </a:fld>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930709"/>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3D6F41-6645-4089-A6BB-7B692A44A4CC}" type="datetime1">
              <a:rPr lang="en-US" smtClean="0"/>
              <a:pPr/>
              <a:t>8/20/2026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0892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pPr/>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477857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360324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74269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2593982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43169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941658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8256505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9370928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302506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773975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6343125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57127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56703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334797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pPr/>
              <a:t>8/20/2026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3999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74977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49490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24885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9719330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80768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35680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3090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3856711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 id="2147483761" r:id="rId24"/>
    <p:sldLayoutId id="2147483762" r:id="rId25"/>
    <p:sldLayoutId id="2147483763" r:id="rId26"/>
    <p:sldLayoutId id="2147483764" r:id="rId27"/>
    <p:sldLayoutId id="2147483765" r:id="rId28"/>
  </p:sldLayoutIdLst>
  <p:hf sldNum="0" hdr="0" ftr="0" dt="0"/>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36"/>
        </a:solidFill>
        <a:effectLst/>
      </p:bgPr>
    </p:bg>
    <p:spTree>
      <p:nvGrpSpPr>
        <p:cNvPr id="1" name=""/>
        <p:cNvGrpSpPr/>
        <p:nvPr/>
      </p:nvGrpSpPr>
      <p:grpSpPr>
        <a:xfrm>
          <a:off x="0" y="0"/>
          <a:ext cx="0" cy="0"/>
          <a:chOff x="0" y="0"/>
          <a:chExt cx="0" cy="0"/>
        </a:xfrm>
      </p:grpSpPr>
      <p:sp>
        <p:nvSpPr>
          <p:cNvPr id="2" name="Text 0"/>
          <p:cNvSpPr/>
          <p:nvPr/>
        </p:nvSpPr>
        <p:spPr>
          <a:xfrm>
            <a:off x="822960" y="1874520"/>
            <a:ext cx="10515600" cy="8229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Latency and Frame Rate</a:t>
            </a:r>
            <a:endParaRPr lang="en-US" sz="4600" dirty="0"/>
          </a:p>
        </p:txBody>
      </p:sp>
      <p:sp>
        <p:nvSpPr>
          <p:cNvPr id="3" name="Text 1"/>
          <p:cNvSpPr/>
          <p:nvPr/>
        </p:nvSpPr>
        <p:spPr>
          <a:xfrm>
            <a:off x="822960" y="2743200"/>
            <a:ext cx="10515600" cy="402336"/>
          </a:xfrm>
          <a:prstGeom prst="rect">
            <a:avLst/>
          </a:prstGeom>
          <a:noFill/>
          <a:ln/>
        </p:spPr>
        <p:txBody>
          <a:bodyPr wrap="square" lIns="0" tIns="0" rIns="0" bIns="0" rtlCol="0" anchor="ctr"/>
          <a:lstStyle/>
          <a:p>
            <a:pPr marL="0" indent="0">
              <a:buNone/>
            </a:pPr>
            <a:r>
              <a:rPr lang="en-US" sz="1900" dirty="0">
                <a:solidFill>
                  <a:srgbClr val="9FB4D4"/>
                </a:solidFill>
                <a:latin typeface="Calibri" pitchFamily="34" charset="0"/>
                <a:ea typeface="Calibri" pitchFamily="34" charset="-122"/>
                <a:cs typeface="Calibri" pitchFamily="34" charset="-120"/>
              </a:rPr>
              <a:t>Six-camera EO / IR panorama  ·  V19 Milestone 1</a:t>
            </a:r>
            <a:endParaRPr lang="en-US" sz="1900" dirty="0"/>
          </a:p>
        </p:txBody>
      </p:sp>
      <p:sp>
        <p:nvSpPr>
          <p:cNvPr id="4" name="Text 2"/>
          <p:cNvSpPr/>
          <p:nvPr/>
        </p:nvSpPr>
        <p:spPr>
          <a:xfrm>
            <a:off x="822960" y="3310128"/>
            <a:ext cx="9509760" cy="640080"/>
          </a:xfrm>
          <a:prstGeom prst="rect">
            <a:avLst/>
          </a:prstGeom>
          <a:noFill/>
          <a:ln/>
        </p:spPr>
        <p:txBody>
          <a:bodyPr wrap="square" lIns="0" tIns="0" rIns="0" bIns="0" rtlCol="0" anchor="ctr"/>
          <a:lstStyle/>
          <a:p>
            <a:pPr marL="0" indent="0">
              <a:buNone/>
            </a:pPr>
            <a:r>
              <a:rPr lang="en-US" sz="1350" dirty="0">
                <a:solidFill>
                  <a:srgbClr val="7E93B5"/>
                </a:solidFill>
                <a:latin typeface="Calibri" pitchFamily="34" charset="0"/>
                <a:ea typeface="Calibri" pitchFamily="34" charset="-122"/>
                <a:cs typeface="Calibri" pitchFamily="34" charset="-120"/>
              </a:rPr>
              <a:t>Measured three independent ways: the RTL and its simulation, an in-fabric timing probe read over JTAG, and the SDI output captured and analysed frame by frame.</a:t>
            </a:r>
            <a:endParaRPr lang="en-US" sz="1350" dirty="0"/>
          </a:p>
        </p:txBody>
      </p:sp>
      <p:sp>
        <p:nvSpPr>
          <p:cNvPr id="5" name="Shape 3"/>
          <p:cNvSpPr/>
          <p:nvPr/>
        </p:nvSpPr>
        <p:spPr>
          <a:xfrm>
            <a:off x="822960" y="4572000"/>
            <a:ext cx="3017520" cy="603504"/>
          </a:xfrm>
          <a:prstGeom prst="roundRect">
            <a:avLst>
              <a:gd name="adj" fmla="val 12121"/>
            </a:avLst>
          </a:prstGeom>
          <a:solidFill>
            <a:srgbClr val="16294A"/>
          </a:solidFill>
          <a:ln w="17780">
            <a:solidFill>
              <a:srgbClr val="1C7293"/>
            </a:solidFill>
            <a:prstDash val="solid"/>
          </a:ln>
        </p:spPr>
        <p:txBody>
          <a:bodyPr/>
          <a:lstStyle/>
          <a:p>
            <a:endParaRPr lang="en-US"/>
          </a:p>
        </p:txBody>
      </p:sp>
      <p:sp>
        <p:nvSpPr>
          <p:cNvPr id="6" name="Text 4"/>
          <p:cNvSpPr/>
          <p:nvPr/>
        </p:nvSpPr>
        <p:spPr>
          <a:xfrm>
            <a:off x="822960" y="4572000"/>
            <a:ext cx="301752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RTL + simulation</a:t>
            </a:r>
            <a:endParaRPr lang="en-US" sz="1250" dirty="0"/>
          </a:p>
        </p:txBody>
      </p:sp>
      <p:sp>
        <p:nvSpPr>
          <p:cNvPr id="7" name="Shape 5"/>
          <p:cNvSpPr/>
          <p:nvPr/>
        </p:nvSpPr>
        <p:spPr>
          <a:xfrm>
            <a:off x="4114800" y="4572000"/>
            <a:ext cx="3017520" cy="603504"/>
          </a:xfrm>
          <a:prstGeom prst="roundRect">
            <a:avLst>
              <a:gd name="adj" fmla="val 12121"/>
            </a:avLst>
          </a:prstGeom>
          <a:solidFill>
            <a:srgbClr val="16294A"/>
          </a:solidFill>
          <a:ln w="17780">
            <a:solidFill>
              <a:srgbClr val="C2A33B"/>
            </a:solidFill>
            <a:prstDash val="solid"/>
          </a:ln>
        </p:spPr>
        <p:txBody>
          <a:bodyPr/>
          <a:lstStyle/>
          <a:p>
            <a:endParaRPr lang="en-US"/>
          </a:p>
        </p:txBody>
      </p:sp>
      <p:sp>
        <p:nvSpPr>
          <p:cNvPr id="8" name="Text 6"/>
          <p:cNvSpPr/>
          <p:nvPr/>
        </p:nvSpPr>
        <p:spPr>
          <a:xfrm>
            <a:off x="4114800" y="4572000"/>
            <a:ext cx="301752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ILA / in-fabric probe</a:t>
            </a:r>
            <a:endParaRPr lang="en-US" sz="1250" dirty="0"/>
          </a:p>
        </p:txBody>
      </p:sp>
      <p:sp>
        <p:nvSpPr>
          <p:cNvPr id="9" name="Shape 7"/>
          <p:cNvSpPr/>
          <p:nvPr/>
        </p:nvSpPr>
        <p:spPr>
          <a:xfrm>
            <a:off x="7406640" y="4572000"/>
            <a:ext cx="3017520" cy="603504"/>
          </a:xfrm>
          <a:prstGeom prst="roundRect">
            <a:avLst>
              <a:gd name="adj" fmla="val 12121"/>
            </a:avLst>
          </a:prstGeom>
          <a:solidFill>
            <a:srgbClr val="16294A"/>
          </a:solidFill>
          <a:ln w="17780">
            <a:solidFill>
              <a:srgbClr val="02A37A"/>
            </a:solidFill>
            <a:prstDash val="solid"/>
          </a:ln>
        </p:spPr>
        <p:txBody>
          <a:bodyPr/>
          <a:lstStyle/>
          <a:p>
            <a:endParaRPr lang="en-US"/>
          </a:p>
        </p:txBody>
      </p:sp>
      <p:sp>
        <p:nvSpPr>
          <p:cNvPr id="10" name="Text 8"/>
          <p:cNvSpPr/>
          <p:nvPr/>
        </p:nvSpPr>
        <p:spPr>
          <a:xfrm>
            <a:off x="7406640" y="4572000"/>
            <a:ext cx="301752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Optical capture (Python)</a:t>
            </a:r>
            <a:endParaRPr lang="en-US" sz="1250" dirty="0"/>
          </a:p>
        </p:txBody>
      </p:sp>
      <p:sp>
        <p:nvSpPr>
          <p:cNvPr id="11" name="Text 9"/>
          <p:cNvSpPr/>
          <p:nvPr/>
        </p:nvSpPr>
        <p:spPr>
          <a:xfrm>
            <a:off x="822960" y="5897880"/>
            <a:ext cx="3657600" cy="274320"/>
          </a:xfrm>
          <a:prstGeom prst="rect">
            <a:avLst/>
          </a:prstGeom>
          <a:noFill/>
          <a:ln/>
        </p:spPr>
        <p:txBody>
          <a:bodyPr wrap="square" lIns="0" tIns="0" rIns="0" bIns="0" rtlCol="0" anchor="ctr"/>
          <a:lstStyle/>
          <a:p>
            <a:pPr marL="0" indent="0">
              <a:buNone/>
            </a:pPr>
            <a:r>
              <a:rPr lang="en-US" sz="1100" dirty="0">
                <a:solidFill>
                  <a:srgbClr val="6B7C97"/>
                </a:solidFill>
                <a:latin typeface="Calibri" pitchFamily="34" charset="0"/>
                <a:ea typeface="Calibri" pitchFamily="34" charset="-122"/>
                <a:cs typeface="Calibri" pitchFamily="34" charset="-120"/>
              </a:rPr>
              <a:t>2026-08-20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What the system does today</a:t>
            </a:r>
            <a:endParaRPr lang="en-US" sz="3000" dirty="0"/>
          </a:p>
        </p:txBody>
      </p:sp>
      <p:sp>
        <p:nvSpPr>
          <p:cNvPr id="4" name="Shape 2"/>
          <p:cNvSpPr/>
          <p:nvPr/>
        </p:nvSpPr>
        <p:spPr>
          <a:xfrm>
            <a:off x="548640" y="1234440"/>
            <a:ext cx="2212848" cy="1298448"/>
          </a:xfrm>
          <a:prstGeom prst="roundRect">
            <a:avLst>
              <a:gd name="adj" fmla="val 4225"/>
            </a:avLst>
          </a:prstGeom>
          <a:solidFill>
            <a:srgbClr val="F2F5FA"/>
          </a:solidFill>
          <a:ln w="12700">
            <a:solidFill>
              <a:srgbClr val="D3DCEA"/>
            </a:solidFill>
            <a:prstDash val="solid"/>
          </a:ln>
        </p:spPr>
        <p:txBody>
          <a:bodyPr/>
          <a:lstStyle/>
          <a:p>
            <a:endParaRPr lang="en-US"/>
          </a:p>
        </p:txBody>
      </p:sp>
      <p:sp>
        <p:nvSpPr>
          <p:cNvPr id="5" name="Text 3"/>
          <p:cNvSpPr/>
          <p:nvPr/>
        </p:nvSpPr>
        <p:spPr>
          <a:xfrm>
            <a:off x="603504" y="1362456"/>
            <a:ext cx="2103120" cy="603504"/>
          </a:xfrm>
          <a:prstGeom prst="rect">
            <a:avLst/>
          </a:prstGeom>
          <a:noFill/>
          <a:ln/>
        </p:spPr>
        <p:txBody>
          <a:bodyPr wrap="square" lIns="0" tIns="0" rIns="0" bIns="0" rtlCol="0" anchor="ctr"/>
          <a:lstStyle/>
          <a:p>
            <a:pPr marL="0" indent="0" algn="ctr">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6" name="Text 4"/>
          <p:cNvSpPr/>
          <p:nvPr/>
        </p:nvSpPr>
        <p:spPr>
          <a:xfrm>
            <a:off x="640080" y="2002536"/>
            <a:ext cx="2029968" cy="457200"/>
          </a:xfrm>
          <a:prstGeom prst="rect">
            <a:avLst/>
          </a:prstGeom>
          <a:noFill/>
          <a:ln/>
        </p:spPr>
        <p:txBody>
          <a:bodyPr wrap="square" lIns="0" tIns="0" rIns="0" bIns="0" rtlCol="0" anchor="t"/>
          <a:lstStyle/>
          <a:p>
            <a:pPr marL="0" indent="0" algn="ctr">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marL="0" indent="0" algn="ctr">
              <a:buNone/>
            </a:pPr>
            <a:r>
              <a:rPr lang="en-US" sz="1000" dirty="0">
                <a:solidFill>
                  <a:srgbClr val="27374F"/>
                </a:solidFill>
                <a:latin typeface="Calibri" pitchFamily="34" charset="0"/>
                <a:ea typeface="Calibri" pitchFamily="34" charset="-122"/>
                <a:cs typeface="Calibri" pitchFamily="34" charset="-120"/>
              </a:rPr>
              <a:t>IR single</a:t>
            </a:r>
            <a:endParaRPr lang="en-US" sz="1000" dirty="0"/>
          </a:p>
        </p:txBody>
      </p:sp>
      <p:sp>
        <p:nvSpPr>
          <p:cNvPr id="7" name="Shape 5"/>
          <p:cNvSpPr/>
          <p:nvPr/>
        </p:nvSpPr>
        <p:spPr>
          <a:xfrm>
            <a:off x="2852928" y="1234440"/>
            <a:ext cx="2212848" cy="1298448"/>
          </a:xfrm>
          <a:prstGeom prst="roundRect">
            <a:avLst>
              <a:gd name="adj" fmla="val 4225"/>
            </a:avLst>
          </a:prstGeom>
          <a:solidFill>
            <a:srgbClr val="F2F5FA"/>
          </a:solidFill>
          <a:ln w="12700">
            <a:solidFill>
              <a:srgbClr val="D3DCEA"/>
            </a:solidFill>
            <a:prstDash val="solid"/>
          </a:ln>
        </p:spPr>
        <p:txBody>
          <a:bodyPr/>
          <a:lstStyle/>
          <a:p>
            <a:endParaRPr lang="en-US"/>
          </a:p>
        </p:txBody>
      </p:sp>
      <p:sp>
        <p:nvSpPr>
          <p:cNvPr id="8" name="Text 6"/>
          <p:cNvSpPr/>
          <p:nvPr/>
        </p:nvSpPr>
        <p:spPr>
          <a:xfrm>
            <a:off x="2907792" y="1362456"/>
            <a:ext cx="2103120" cy="603504"/>
          </a:xfrm>
          <a:prstGeom prst="rect">
            <a:avLst/>
          </a:prstGeom>
          <a:noFill/>
          <a:ln/>
        </p:spPr>
        <p:txBody>
          <a:bodyPr wrap="square" lIns="0" tIns="0" rIns="0" bIns="0" rtlCol="0" anchor="ctr"/>
          <a:lstStyle/>
          <a:p>
            <a:pPr marL="0" indent="0" algn="ctr">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9" name="Text 7"/>
          <p:cNvSpPr/>
          <p:nvPr/>
        </p:nvSpPr>
        <p:spPr>
          <a:xfrm>
            <a:off x="2944368" y="2002536"/>
            <a:ext cx="2029968" cy="457200"/>
          </a:xfrm>
          <a:prstGeom prst="rect">
            <a:avLst/>
          </a:prstGeom>
          <a:noFill/>
          <a:ln/>
        </p:spPr>
        <p:txBody>
          <a:bodyPr wrap="square" lIns="0" tIns="0" rIns="0" bIns="0" rtlCol="0" anchor="t"/>
          <a:lstStyle/>
          <a:p>
            <a:pPr marL="0" indent="0" algn="ctr">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marL="0" indent="0" algn="ctr">
              <a:buNone/>
            </a:pPr>
            <a:r>
              <a:rPr lang="en-US" sz="1000" dirty="0">
                <a:solidFill>
                  <a:srgbClr val="27374F"/>
                </a:solidFill>
                <a:latin typeface="Calibri" pitchFamily="34" charset="0"/>
                <a:ea typeface="Calibri" pitchFamily="34" charset="-122"/>
                <a:cs typeface="Calibri" pitchFamily="34" charset="-120"/>
              </a:rPr>
              <a:t>IR panorama</a:t>
            </a:r>
            <a:endParaRPr lang="en-US" sz="1000" dirty="0"/>
          </a:p>
        </p:txBody>
      </p:sp>
      <p:sp>
        <p:nvSpPr>
          <p:cNvPr id="10" name="Shape 8"/>
          <p:cNvSpPr/>
          <p:nvPr/>
        </p:nvSpPr>
        <p:spPr>
          <a:xfrm>
            <a:off x="5157216" y="1234440"/>
            <a:ext cx="2212848" cy="1298448"/>
          </a:xfrm>
          <a:prstGeom prst="roundRect">
            <a:avLst>
              <a:gd name="adj" fmla="val 4225"/>
            </a:avLst>
          </a:prstGeom>
          <a:solidFill>
            <a:srgbClr val="F2F5FA"/>
          </a:solidFill>
          <a:ln w="12700">
            <a:solidFill>
              <a:srgbClr val="D3DCEA"/>
            </a:solidFill>
            <a:prstDash val="solid"/>
          </a:ln>
        </p:spPr>
        <p:txBody>
          <a:bodyPr/>
          <a:lstStyle/>
          <a:p>
            <a:endParaRPr lang="en-US"/>
          </a:p>
        </p:txBody>
      </p:sp>
      <p:sp>
        <p:nvSpPr>
          <p:cNvPr id="11" name="Text 9"/>
          <p:cNvSpPr/>
          <p:nvPr/>
        </p:nvSpPr>
        <p:spPr>
          <a:xfrm>
            <a:off x="5212080" y="1362456"/>
            <a:ext cx="2103120" cy="603504"/>
          </a:xfrm>
          <a:prstGeom prst="rect">
            <a:avLst/>
          </a:prstGeom>
          <a:noFill/>
          <a:ln/>
        </p:spPr>
        <p:txBody>
          <a:bodyPr wrap="square" lIns="0" tIns="0" rIns="0" bIns="0" rtlCol="0" anchor="ctr"/>
          <a:lstStyle/>
          <a:p>
            <a:pPr marL="0" indent="0" algn="ctr">
              <a:buNone/>
            </a:pPr>
            <a:r>
              <a:rPr lang="en-US" sz="3200" b="1" dirty="0">
                <a:solidFill>
                  <a:srgbClr val="02A37A"/>
                </a:solidFill>
                <a:latin typeface="Cambria" pitchFamily="34" charset="0"/>
                <a:ea typeface="Cambria" pitchFamily="34" charset="-122"/>
                <a:cs typeface="Cambria" pitchFamily="34" charset="-120"/>
              </a:rPr>
              <a:t>30</a:t>
            </a:r>
            <a:endParaRPr lang="en-US" sz="3200" dirty="0"/>
          </a:p>
        </p:txBody>
      </p:sp>
      <p:sp>
        <p:nvSpPr>
          <p:cNvPr id="12" name="Text 10"/>
          <p:cNvSpPr/>
          <p:nvPr/>
        </p:nvSpPr>
        <p:spPr>
          <a:xfrm>
            <a:off x="5248656" y="2002536"/>
            <a:ext cx="2029968" cy="457200"/>
          </a:xfrm>
          <a:prstGeom prst="rect">
            <a:avLst/>
          </a:prstGeom>
          <a:noFill/>
          <a:ln/>
        </p:spPr>
        <p:txBody>
          <a:bodyPr wrap="square" lIns="0" tIns="0" rIns="0" bIns="0" rtlCol="0" anchor="t"/>
          <a:lstStyle/>
          <a:p>
            <a:pPr marL="0" indent="0" algn="ctr">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marL="0" indent="0" algn="ctr">
              <a:buNone/>
            </a:pPr>
            <a:r>
              <a:rPr lang="en-US" sz="1000" dirty="0">
                <a:solidFill>
                  <a:srgbClr val="27374F"/>
                </a:solidFill>
                <a:latin typeface="Calibri" pitchFamily="34" charset="0"/>
                <a:ea typeface="Calibri" pitchFamily="34" charset="-122"/>
                <a:cs typeface="Calibri" pitchFamily="34" charset="-120"/>
              </a:rPr>
              <a:t>EO single, all six</a:t>
            </a:r>
            <a:endParaRPr lang="en-US" sz="1000" dirty="0"/>
          </a:p>
        </p:txBody>
      </p:sp>
      <p:sp>
        <p:nvSpPr>
          <p:cNvPr id="13" name="Shape 11"/>
          <p:cNvSpPr/>
          <p:nvPr/>
        </p:nvSpPr>
        <p:spPr>
          <a:xfrm>
            <a:off x="7461504" y="1234440"/>
            <a:ext cx="2212848" cy="1298448"/>
          </a:xfrm>
          <a:prstGeom prst="roundRect">
            <a:avLst>
              <a:gd name="adj" fmla="val 4225"/>
            </a:avLst>
          </a:prstGeom>
          <a:solidFill>
            <a:srgbClr val="F2F5FA"/>
          </a:solidFill>
          <a:ln w="12700">
            <a:solidFill>
              <a:srgbClr val="D3DCEA"/>
            </a:solidFill>
            <a:prstDash val="solid"/>
          </a:ln>
        </p:spPr>
        <p:txBody>
          <a:bodyPr/>
          <a:lstStyle/>
          <a:p>
            <a:endParaRPr lang="en-US"/>
          </a:p>
        </p:txBody>
      </p:sp>
      <p:sp>
        <p:nvSpPr>
          <p:cNvPr id="14" name="Text 12"/>
          <p:cNvSpPr/>
          <p:nvPr/>
        </p:nvSpPr>
        <p:spPr>
          <a:xfrm>
            <a:off x="7516368" y="1362456"/>
            <a:ext cx="2103120" cy="603504"/>
          </a:xfrm>
          <a:prstGeom prst="rect">
            <a:avLst/>
          </a:prstGeom>
          <a:noFill/>
          <a:ln/>
        </p:spPr>
        <p:txBody>
          <a:bodyPr wrap="square" lIns="0" tIns="0" rIns="0" bIns="0" rtlCol="0" anchor="ctr"/>
          <a:lstStyle/>
          <a:p>
            <a:pPr marL="0" indent="0" algn="ctr">
              <a:buNone/>
            </a:pPr>
            <a:r>
              <a:rPr lang="en-US" sz="3200" b="1" dirty="0">
                <a:solidFill>
                  <a:srgbClr val="C2A33B"/>
                </a:solidFill>
                <a:latin typeface="Cambria" pitchFamily="34" charset="0"/>
                <a:ea typeface="Cambria" pitchFamily="34" charset="-122"/>
                <a:cs typeface="Cambria" pitchFamily="34" charset="-120"/>
              </a:rPr>
              <a:t>22.9</a:t>
            </a:r>
            <a:endParaRPr lang="en-US" sz="3200" dirty="0"/>
          </a:p>
        </p:txBody>
      </p:sp>
      <p:sp>
        <p:nvSpPr>
          <p:cNvPr id="15" name="Text 13"/>
          <p:cNvSpPr/>
          <p:nvPr/>
        </p:nvSpPr>
        <p:spPr>
          <a:xfrm>
            <a:off x="7552944" y="2002536"/>
            <a:ext cx="2029968" cy="457200"/>
          </a:xfrm>
          <a:prstGeom prst="rect">
            <a:avLst/>
          </a:prstGeom>
          <a:noFill/>
          <a:ln/>
        </p:spPr>
        <p:txBody>
          <a:bodyPr wrap="square" lIns="0" tIns="0" rIns="0" bIns="0" rtlCol="0" anchor="t"/>
          <a:lstStyle/>
          <a:p>
            <a:pPr marL="0" indent="0" algn="ctr">
              <a:buNone/>
            </a:pPr>
            <a:r>
              <a:rPr lang="en-US" sz="1000" dirty="0">
                <a:solidFill>
                  <a:srgbClr val="27374F"/>
                </a:solidFill>
                <a:latin typeface="Calibri" pitchFamily="34" charset="0"/>
                <a:ea typeface="Calibri" pitchFamily="34" charset="-122"/>
                <a:cs typeface="Calibri" pitchFamily="34" charset="-120"/>
              </a:rPr>
              <a:t>frames/s published</a:t>
            </a:r>
            <a:endParaRPr lang="en-US" sz="1000" dirty="0"/>
          </a:p>
          <a:p>
            <a:pPr marL="0" indent="0" algn="ctr">
              <a:buNone/>
            </a:pPr>
            <a:r>
              <a:rPr lang="en-US" sz="1000" dirty="0">
                <a:solidFill>
                  <a:srgbClr val="27374F"/>
                </a:solidFill>
                <a:latin typeface="Calibri" pitchFamily="34" charset="0"/>
                <a:ea typeface="Calibri" pitchFamily="34" charset="-122"/>
                <a:cs typeface="Calibri" pitchFamily="34" charset="-120"/>
              </a:rPr>
              <a:t>EO panorama</a:t>
            </a:r>
            <a:endParaRPr lang="en-US" sz="1000" dirty="0"/>
          </a:p>
        </p:txBody>
      </p:sp>
      <p:sp>
        <p:nvSpPr>
          <p:cNvPr id="16" name="Shape 14"/>
          <p:cNvSpPr/>
          <p:nvPr/>
        </p:nvSpPr>
        <p:spPr>
          <a:xfrm>
            <a:off x="9765792" y="1234440"/>
            <a:ext cx="1892808" cy="1298448"/>
          </a:xfrm>
          <a:prstGeom prst="roundRect">
            <a:avLst>
              <a:gd name="adj" fmla="val 4225"/>
            </a:avLst>
          </a:prstGeom>
          <a:solidFill>
            <a:srgbClr val="F2F5FA"/>
          </a:solidFill>
          <a:ln w="12700">
            <a:solidFill>
              <a:srgbClr val="D3DCEA"/>
            </a:solidFill>
            <a:prstDash val="solid"/>
          </a:ln>
        </p:spPr>
        <p:txBody>
          <a:bodyPr/>
          <a:lstStyle/>
          <a:p>
            <a:endParaRPr lang="en-US"/>
          </a:p>
        </p:txBody>
      </p:sp>
      <p:sp>
        <p:nvSpPr>
          <p:cNvPr id="17" name="Text 15"/>
          <p:cNvSpPr/>
          <p:nvPr/>
        </p:nvSpPr>
        <p:spPr>
          <a:xfrm>
            <a:off x="9820656" y="1362456"/>
            <a:ext cx="1783080" cy="603504"/>
          </a:xfrm>
          <a:prstGeom prst="rect">
            <a:avLst/>
          </a:prstGeom>
          <a:noFill/>
          <a:ln/>
        </p:spPr>
        <p:txBody>
          <a:bodyPr wrap="square" lIns="0" tIns="0" rIns="0" bIns="0" rtlCol="0" anchor="ctr"/>
          <a:lstStyle/>
          <a:p>
            <a:pPr marL="0" indent="0" algn="ctr">
              <a:buNone/>
            </a:pPr>
            <a:r>
              <a:rPr lang="en-US" sz="2400" b="1" dirty="0">
                <a:solidFill>
                  <a:srgbClr val="0E1C36"/>
                </a:solidFill>
                <a:latin typeface="Cambria" pitchFamily="34" charset="0"/>
                <a:ea typeface="Cambria" pitchFamily="34" charset="-122"/>
                <a:cs typeface="Cambria" pitchFamily="34" charset="-120"/>
              </a:rPr>
              <a:t>71 ms</a:t>
            </a:r>
            <a:endParaRPr lang="en-US" sz="2400" dirty="0"/>
          </a:p>
        </p:txBody>
      </p:sp>
      <p:sp>
        <p:nvSpPr>
          <p:cNvPr id="18" name="Text 16"/>
          <p:cNvSpPr/>
          <p:nvPr/>
        </p:nvSpPr>
        <p:spPr>
          <a:xfrm>
            <a:off x="9857232" y="2002536"/>
            <a:ext cx="1709928" cy="457200"/>
          </a:xfrm>
          <a:prstGeom prst="rect">
            <a:avLst/>
          </a:prstGeom>
          <a:noFill/>
          <a:ln/>
        </p:spPr>
        <p:txBody>
          <a:bodyPr wrap="square" lIns="0" tIns="0" rIns="0" bIns="0" rtlCol="0" anchor="t"/>
          <a:lstStyle/>
          <a:p>
            <a:pPr marL="0" indent="0" algn="ctr">
              <a:buNone/>
            </a:pPr>
            <a:r>
              <a:rPr lang="en-US" sz="1000" dirty="0">
                <a:solidFill>
                  <a:srgbClr val="27374F"/>
                </a:solidFill>
                <a:latin typeface="Calibri" pitchFamily="34" charset="0"/>
                <a:ea typeface="Calibri" pitchFamily="34" charset="-122"/>
                <a:cs typeface="Calibri" pitchFamily="34" charset="-120"/>
              </a:rPr>
              <a:t>capture to display</a:t>
            </a:r>
            <a:endParaRPr lang="en-US" sz="1000" dirty="0"/>
          </a:p>
          <a:p>
            <a:pPr marL="0" indent="0" algn="ctr">
              <a:buNone/>
            </a:pPr>
            <a:r>
              <a:rPr lang="en-US" sz="1000" dirty="0">
                <a:solidFill>
                  <a:srgbClr val="27374F"/>
                </a:solidFill>
                <a:latin typeface="Calibri" pitchFamily="34" charset="0"/>
                <a:ea typeface="Calibri" pitchFamily="34" charset="-122"/>
                <a:cs typeface="Calibri" pitchFamily="34" charset="-120"/>
              </a:rPr>
              <a:t>EO panorama, best</a:t>
            </a:r>
            <a:endParaRPr lang="en-US" sz="1000" dirty="0"/>
          </a:p>
        </p:txBody>
      </p:sp>
      <p:sp>
        <p:nvSpPr>
          <p:cNvPr id="19" name="Text 17"/>
          <p:cNvSpPr/>
          <p:nvPr/>
        </p:nvSpPr>
        <p:spPr>
          <a:xfrm>
            <a:off x="548640" y="2788920"/>
            <a:ext cx="11109960" cy="310896"/>
          </a:xfrm>
          <a:prstGeom prst="rect">
            <a:avLst/>
          </a:prstGeom>
          <a:noFill/>
          <a:ln/>
        </p:spPr>
        <p:txBody>
          <a:bodyPr wrap="square" lIns="0" tIns="0" rIns="0" bIns="0" rtlCol="0" anchor="ctr"/>
          <a:lstStyle/>
          <a:p>
            <a:pPr marL="0" indent="0">
              <a:buNone/>
            </a:pPr>
            <a:r>
              <a:rPr lang="en-US" sz="1500" b="1" dirty="0">
                <a:solidFill>
                  <a:srgbClr val="0E1C36"/>
                </a:solidFill>
                <a:latin typeface="Calibri" pitchFamily="34" charset="0"/>
                <a:ea typeface="Calibri" pitchFamily="34" charset="-122"/>
                <a:cs typeface="Calibri" pitchFamily="34" charset="-120"/>
              </a:rPr>
              <a:t>Latency is a fixed number per mode, not a range</a:t>
            </a:r>
            <a:endParaRPr lang="en-US" sz="1500" dirty="0"/>
          </a:p>
        </p:txBody>
      </p:sp>
      <p:sp>
        <p:nvSpPr>
          <p:cNvPr id="20" name="Text 18"/>
          <p:cNvSpPr/>
          <p:nvPr/>
        </p:nvSpPr>
        <p:spPr>
          <a:xfrm>
            <a:off x="548640" y="3127248"/>
            <a:ext cx="11109960" cy="731520"/>
          </a:xfrm>
          <a:prstGeom prst="rect">
            <a:avLst/>
          </a:prstGeom>
          <a:noFill/>
          <a:ln/>
        </p:spPr>
        <p:txBody>
          <a:bodyPr wrap="square" lIns="0" tIns="0" rIns="0" bIns="0" rtlCol="0" anchor="ctr"/>
          <a:lstStyle/>
          <a:p>
            <a:pPr marL="0" indent="0">
              <a:buNone/>
            </a:pPr>
            <a:r>
              <a:rPr lang="en-US" sz="1250" b="1" dirty="0">
                <a:solidFill>
                  <a:srgbClr val="27374F"/>
                </a:solidFill>
                <a:latin typeface="Calibri" pitchFamily="34" charset="0"/>
                <a:ea typeface="Calibri" pitchFamily="34" charset="-122"/>
                <a:cs typeface="Calibri" pitchFamily="34" charset="-120"/>
              </a:rPr>
              <a:t>Every row of the picture has the SAME capture-to-display latency. </a:t>
            </a:r>
            <a:r>
              <a:rPr lang="en-US" sz="1250" dirty="0">
                <a:solidFill>
                  <a:srgbClr val="27374F"/>
                </a:solidFill>
                <a:latin typeface="Calibri" pitchFamily="34" charset="0"/>
                <a:ea typeface="Calibri" pitchFamily="34" charset="-122"/>
                <a:cs typeface="Calibri" pitchFamily="34" charset="-120"/>
              </a:rPr>
              <a:t>A row captured early waits longest for its frame to complete, and is then scanned out first; a row captured last waits least and is scanned out last. The two offsets cancel exactly. This is shown on the next slide and is the reason no "typical" figure appears anywhere in this deck: there is no spread to average over.</a:t>
            </a:r>
            <a:endParaRPr lang="en-US" sz="1250" dirty="0"/>
          </a:p>
        </p:txBody>
      </p:sp>
      <p:sp>
        <p:nvSpPr>
          <p:cNvPr id="21" name="Text 19"/>
          <p:cNvSpPr/>
          <p:nvPr/>
        </p:nvSpPr>
        <p:spPr>
          <a:xfrm>
            <a:off x="548640" y="3977640"/>
            <a:ext cx="11109960" cy="310896"/>
          </a:xfrm>
          <a:prstGeom prst="rect">
            <a:avLst/>
          </a:prstGeom>
          <a:noFill/>
          <a:ln/>
        </p:spPr>
        <p:txBody>
          <a:bodyPr wrap="square" lIns="0" tIns="0" rIns="0" bIns="0" rtlCol="0" anchor="ctr"/>
          <a:lstStyle/>
          <a:p>
            <a:pPr marL="0" indent="0">
              <a:buNone/>
            </a:pPr>
            <a:r>
              <a:rPr lang="en-US" sz="1500" b="1" dirty="0">
                <a:solidFill>
                  <a:srgbClr val="0E1C36"/>
                </a:solidFill>
                <a:latin typeface="Calibri" pitchFamily="34" charset="0"/>
                <a:ea typeface="Calibri" pitchFamily="34" charset="-122"/>
                <a:cs typeface="Calibri" pitchFamily="34" charset="-120"/>
              </a:rPr>
              <a:t>Where the remaining work is</a:t>
            </a:r>
            <a:endParaRPr lang="en-US" sz="1500" dirty="0"/>
          </a:p>
        </p:txBody>
      </p:sp>
      <p:sp>
        <p:nvSpPr>
          <p:cNvPr id="22" name="Text 20"/>
          <p:cNvSpPr/>
          <p:nvPr/>
        </p:nvSpPr>
        <p:spPr>
          <a:xfrm>
            <a:off x="548640" y="4315968"/>
            <a:ext cx="11109960" cy="731520"/>
          </a:xfrm>
          <a:prstGeom prst="rect">
            <a:avLst/>
          </a:prstGeom>
          <a:noFill/>
          <a:ln/>
        </p:spPr>
        <p:txBody>
          <a:bodyPr wrap="square" lIns="0" tIns="0" rIns="0" bIns="0" rtlCol="0" anchor="ctr"/>
          <a:lstStyle/>
          <a:p>
            <a:pPr marL="0" indent="0">
              <a:buNone/>
            </a:pPr>
            <a:r>
              <a:rPr lang="en-US" sz="1250" dirty="0">
                <a:solidFill>
                  <a:srgbClr val="27374F"/>
                </a:solidFill>
                <a:latin typeface="Calibri" pitchFamily="34" charset="0"/>
                <a:ea typeface="Calibri" pitchFamily="34" charset="-122"/>
                <a:cs typeface="Calibri" pitchFamily="34" charset="-120"/>
              </a:rPr>
              <a:t>Seven of the eight measured configurations publish at the rate their cameras produce. EO panorama publishes 22.9 against a 30 fps source: 78% of its frames arrive on the full 33.3 ms cadence and 22% slip by one or two frame periods. </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THE KEY PICTURE</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Why the stages must not be added up</a:t>
            </a:r>
            <a:endParaRPr lang="en-US" sz="3000" dirty="0"/>
          </a:p>
        </p:txBody>
      </p:sp>
      <p:sp>
        <p:nvSpPr>
          <p:cNvPr id="4" name="Text 2"/>
          <p:cNvSpPr/>
          <p:nvPr/>
        </p:nvSpPr>
        <p:spPr>
          <a:xfrm>
            <a:off x="548640" y="1133856"/>
            <a:ext cx="11109960" cy="310896"/>
          </a:xfrm>
          <a:prstGeom prst="rect">
            <a:avLst/>
          </a:prstGeom>
          <a:noFill/>
          <a:ln/>
        </p:spPr>
        <p:txBody>
          <a:bodyPr wrap="square" lIns="0" tIns="0" rIns="0" bIns="0" rtlCol="0" anchor="ctr"/>
          <a:lstStyle/>
          <a:p>
            <a:pPr marL="0" indent="0">
              <a:buNone/>
            </a:pPr>
            <a:r>
              <a:rPr lang="en-US" sz="1300" dirty="0">
                <a:solidFill>
                  <a:srgbClr val="27374F"/>
                </a:solidFill>
                <a:latin typeface="Calibri" pitchFamily="34" charset="0"/>
                <a:ea typeface="Calibri" pitchFamily="34" charset="-122"/>
                <a:cs typeface="Calibri" pitchFamily="34" charset="-120"/>
              </a:rPr>
              <a:t>Capture, render and scan-out overlap. Drawn end to end they read as 105 ms; drawn against one clock they are 71.5 ms.</a:t>
            </a:r>
            <a:endParaRPr lang="en-US" sz="1300" dirty="0"/>
          </a:p>
        </p:txBody>
      </p:sp>
      <p:sp>
        <p:nvSpPr>
          <p:cNvPr id="5" name="Shape 3"/>
          <p:cNvSpPr/>
          <p:nvPr/>
        </p:nvSpPr>
        <p:spPr>
          <a:xfrm>
            <a:off x="3154680" y="1965960"/>
            <a:ext cx="8138160" cy="0"/>
          </a:xfrm>
          <a:prstGeom prst="line">
            <a:avLst/>
          </a:prstGeom>
          <a:noFill/>
          <a:ln w="12700">
            <a:solidFill>
              <a:srgbClr val="6B7C97"/>
            </a:solidFill>
            <a:prstDash val="solid"/>
          </a:ln>
        </p:spPr>
        <p:txBody>
          <a:bodyPr/>
          <a:lstStyle/>
          <a:p>
            <a:endParaRPr lang="en-US"/>
          </a:p>
        </p:txBody>
      </p:sp>
      <p:sp>
        <p:nvSpPr>
          <p:cNvPr id="6" name="Shape 4"/>
          <p:cNvSpPr/>
          <p:nvPr/>
        </p:nvSpPr>
        <p:spPr>
          <a:xfrm>
            <a:off x="3154680" y="1883664"/>
            <a:ext cx="0" cy="82296"/>
          </a:xfrm>
          <a:prstGeom prst="line">
            <a:avLst/>
          </a:prstGeom>
          <a:noFill/>
          <a:ln w="12700">
            <a:solidFill>
              <a:srgbClr val="6B7C97"/>
            </a:solidFill>
            <a:prstDash val="solid"/>
          </a:ln>
        </p:spPr>
        <p:txBody>
          <a:bodyPr/>
          <a:lstStyle/>
          <a:p>
            <a:endParaRPr lang="en-US"/>
          </a:p>
        </p:txBody>
      </p:sp>
      <p:sp>
        <p:nvSpPr>
          <p:cNvPr id="7" name="Text 5"/>
          <p:cNvSpPr/>
          <p:nvPr/>
        </p:nvSpPr>
        <p:spPr>
          <a:xfrm>
            <a:off x="2770632" y="1655064"/>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0.0</a:t>
            </a:r>
            <a:endParaRPr lang="en-US" sz="850" dirty="0"/>
          </a:p>
        </p:txBody>
      </p:sp>
      <p:sp>
        <p:nvSpPr>
          <p:cNvPr id="8" name="Shape 6"/>
          <p:cNvSpPr/>
          <p:nvPr/>
        </p:nvSpPr>
        <p:spPr>
          <a:xfrm>
            <a:off x="5415257" y="1883664"/>
            <a:ext cx="0" cy="82296"/>
          </a:xfrm>
          <a:prstGeom prst="line">
            <a:avLst/>
          </a:prstGeom>
          <a:noFill/>
          <a:ln w="12700">
            <a:solidFill>
              <a:srgbClr val="6B7C97"/>
            </a:solidFill>
            <a:prstDash val="solid"/>
          </a:ln>
        </p:spPr>
        <p:txBody>
          <a:bodyPr/>
          <a:lstStyle/>
          <a:p>
            <a:endParaRPr lang="en-US"/>
          </a:p>
        </p:txBody>
      </p:sp>
      <p:sp>
        <p:nvSpPr>
          <p:cNvPr id="9" name="Text 7"/>
          <p:cNvSpPr/>
          <p:nvPr/>
        </p:nvSpPr>
        <p:spPr>
          <a:xfrm>
            <a:off x="5031209" y="1655064"/>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33.3</a:t>
            </a:r>
            <a:endParaRPr lang="en-US" sz="850" dirty="0"/>
          </a:p>
        </p:txBody>
      </p:sp>
      <p:sp>
        <p:nvSpPr>
          <p:cNvPr id="10" name="Shape 8"/>
          <p:cNvSpPr/>
          <p:nvPr/>
        </p:nvSpPr>
        <p:spPr>
          <a:xfrm>
            <a:off x="7675835" y="1883664"/>
            <a:ext cx="0" cy="82296"/>
          </a:xfrm>
          <a:prstGeom prst="line">
            <a:avLst/>
          </a:prstGeom>
          <a:noFill/>
          <a:ln w="12700">
            <a:solidFill>
              <a:srgbClr val="6B7C97"/>
            </a:solidFill>
            <a:prstDash val="solid"/>
          </a:ln>
        </p:spPr>
        <p:txBody>
          <a:bodyPr/>
          <a:lstStyle/>
          <a:p>
            <a:endParaRPr lang="en-US"/>
          </a:p>
        </p:txBody>
      </p:sp>
      <p:sp>
        <p:nvSpPr>
          <p:cNvPr id="11" name="Text 9"/>
          <p:cNvSpPr/>
          <p:nvPr/>
        </p:nvSpPr>
        <p:spPr>
          <a:xfrm>
            <a:off x="7291787" y="1655064"/>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66.7</a:t>
            </a:r>
            <a:endParaRPr lang="en-US" sz="850" dirty="0"/>
          </a:p>
        </p:txBody>
      </p:sp>
      <p:sp>
        <p:nvSpPr>
          <p:cNvPr id="12" name="Shape 10"/>
          <p:cNvSpPr/>
          <p:nvPr/>
        </p:nvSpPr>
        <p:spPr>
          <a:xfrm>
            <a:off x="9936412" y="1883664"/>
            <a:ext cx="0" cy="82296"/>
          </a:xfrm>
          <a:prstGeom prst="line">
            <a:avLst/>
          </a:prstGeom>
          <a:noFill/>
          <a:ln w="12700">
            <a:solidFill>
              <a:srgbClr val="6B7C97"/>
            </a:solidFill>
            <a:prstDash val="solid"/>
          </a:ln>
        </p:spPr>
        <p:txBody>
          <a:bodyPr/>
          <a:lstStyle/>
          <a:p>
            <a:endParaRPr lang="en-US"/>
          </a:p>
        </p:txBody>
      </p:sp>
      <p:sp>
        <p:nvSpPr>
          <p:cNvPr id="13" name="Text 11"/>
          <p:cNvSpPr/>
          <p:nvPr/>
        </p:nvSpPr>
        <p:spPr>
          <a:xfrm>
            <a:off x="9552364" y="1655064"/>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100.0</a:t>
            </a:r>
            <a:endParaRPr lang="en-US" sz="850" dirty="0"/>
          </a:p>
        </p:txBody>
      </p:sp>
      <p:sp>
        <p:nvSpPr>
          <p:cNvPr id="14" name="Text 12"/>
          <p:cNvSpPr/>
          <p:nvPr/>
        </p:nvSpPr>
        <p:spPr>
          <a:xfrm>
            <a:off x="8001000" y="2020824"/>
            <a:ext cx="3291840" cy="219456"/>
          </a:xfrm>
          <a:prstGeom prst="rect">
            <a:avLst/>
          </a:prstGeom>
          <a:noFill/>
          <a:ln/>
        </p:spPr>
        <p:txBody>
          <a:bodyPr wrap="square" lIns="0" tIns="0" rIns="0" bIns="0" rtlCol="0" anchor="ctr"/>
          <a:lstStyle/>
          <a:p>
            <a:pPr marL="0" indent="0" algn="r">
              <a:buNone/>
            </a:pPr>
            <a:r>
              <a:rPr lang="en-US" sz="900" i="1" dirty="0">
                <a:solidFill>
                  <a:srgbClr val="6B7C97"/>
                </a:solidFill>
                <a:latin typeface="Calibri" pitchFamily="34" charset="0"/>
                <a:ea typeface="Calibri" pitchFamily="34" charset="-122"/>
                <a:cs typeface="Calibri" pitchFamily="34" charset="-120"/>
              </a:rPr>
              <a:t>milliseconds — one shared clock</a:t>
            </a:r>
            <a:endParaRPr lang="en-US" sz="900" dirty="0"/>
          </a:p>
        </p:txBody>
      </p:sp>
      <p:sp>
        <p:nvSpPr>
          <p:cNvPr id="15" name="Text 13"/>
          <p:cNvSpPr/>
          <p:nvPr/>
        </p:nvSpPr>
        <p:spPr>
          <a:xfrm>
            <a:off x="896112" y="2221992"/>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Display frame edges</a:t>
            </a:r>
            <a:endParaRPr lang="en-US" sz="1050" dirty="0"/>
          </a:p>
        </p:txBody>
      </p:sp>
      <p:sp>
        <p:nvSpPr>
          <p:cNvPr id="16" name="Shape 14"/>
          <p:cNvSpPr/>
          <p:nvPr/>
        </p:nvSpPr>
        <p:spPr>
          <a:xfrm>
            <a:off x="3454984" y="2240280"/>
            <a:ext cx="64008" cy="292608"/>
          </a:xfrm>
          <a:prstGeom prst="rect">
            <a:avLst/>
          </a:prstGeom>
          <a:solidFill>
            <a:srgbClr val="16233A"/>
          </a:solidFill>
          <a:ln w="12700">
            <a:solidFill>
              <a:srgbClr val="333333"/>
            </a:solidFill>
            <a:prstDash val="solid"/>
          </a:ln>
        </p:spPr>
        <p:txBody>
          <a:bodyPr/>
          <a:lstStyle/>
          <a:p>
            <a:endParaRPr lang="en-US"/>
          </a:p>
        </p:txBody>
      </p:sp>
      <p:sp>
        <p:nvSpPr>
          <p:cNvPr id="17" name="Shape 15"/>
          <p:cNvSpPr/>
          <p:nvPr/>
        </p:nvSpPr>
        <p:spPr>
          <a:xfrm>
            <a:off x="5715562" y="2240280"/>
            <a:ext cx="64008" cy="292608"/>
          </a:xfrm>
          <a:prstGeom prst="rect">
            <a:avLst/>
          </a:prstGeom>
          <a:solidFill>
            <a:srgbClr val="16233A"/>
          </a:solidFill>
          <a:ln w="12700">
            <a:solidFill>
              <a:srgbClr val="333333"/>
            </a:solidFill>
            <a:prstDash val="solid"/>
          </a:ln>
        </p:spPr>
        <p:txBody>
          <a:bodyPr/>
          <a:lstStyle/>
          <a:p>
            <a:endParaRPr lang="en-US"/>
          </a:p>
        </p:txBody>
      </p:sp>
      <p:sp>
        <p:nvSpPr>
          <p:cNvPr id="18" name="Shape 16"/>
          <p:cNvSpPr/>
          <p:nvPr/>
        </p:nvSpPr>
        <p:spPr>
          <a:xfrm>
            <a:off x="7976139" y="2240280"/>
            <a:ext cx="64008" cy="292608"/>
          </a:xfrm>
          <a:prstGeom prst="rect">
            <a:avLst/>
          </a:prstGeom>
          <a:solidFill>
            <a:srgbClr val="16233A"/>
          </a:solidFill>
          <a:ln w="12700">
            <a:solidFill>
              <a:srgbClr val="333333"/>
            </a:solidFill>
            <a:prstDash val="solid"/>
          </a:ln>
        </p:spPr>
        <p:txBody>
          <a:bodyPr/>
          <a:lstStyle/>
          <a:p>
            <a:endParaRPr lang="en-US"/>
          </a:p>
        </p:txBody>
      </p:sp>
      <p:sp>
        <p:nvSpPr>
          <p:cNvPr id="19" name="Shape 17"/>
          <p:cNvSpPr/>
          <p:nvPr/>
        </p:nvSpPr>
        <p:spPr>
          <a:xfrm>
            <a:off x="10236716" y="2240280"/>
            <a:ext cx="64008" cy="292608"/>
          </a:xfrm>
          <a:prstGeom prst="rect">
            <a:avLst/>
          </a:prstGeom>
          <a:solidFill>
            <a:srgbClr val="16233A"/>
          </a:solidFill>
          <a:ln w="12700">
            <a:solidFill>
              <a:srgbClr val="333333"/>
            </a:solidFill>
            <a:prstDash val="solid"/>
          </a:ln>
        </p:spPr>
        <p:txBody>
          <a:bodyPr/>
          <a:lstStyle/>
          <a:p>
            <a:endParaRPr lang="en-US"/>
          </a:p>
        </p:txBody>
      </p:sp>
      <p:sp>
        <p:nvSpPr>
          <p:cNvPr id="20" name="Shape 18"/>
          <p:cNvSpPr/>
          <p:nvPr/>
        </p:nvSpPr>
        <p:spPr>
          <a:xfrm>
            <a:off x="3154680" y="2386584"/>
            <a:ext cx="8138160" cy="0"/>
          </a:xfrm>
          <a:prstGeom prst="line">
            <a:avLst/>
          </a:prstGeom>
          <a:noFill/>
          <a:ln w="12700">
            <a:solidFill>
              <a:srgbClr val="D3DCEA"/>
            </a:solidFill>
            <a:prstDash val="sysDot"/>
          </a:ln>
        </p:spPr>
        <p:txBody>
          <a:bodyPr/>
          <a:lstStyle/>
          <a:p>
            <a:endParaRPr lang="en-US"/>
          </a:p>
        </p:txBody>
      </p:sp>
      <p:sp>
        <p:nvSpPr>
          <p:cNvPr id="21" name="Text 19"/>
          <p:cNvSpPr/>
          <p:nvPr/>
        </p:nvSpPr>
        <p:spPr>
          <a:xfrm>
            <a:off x="896112" y="2624328"/>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Camera exposes and transfers</a:t>
            </a:r>
            <a:endParaRPr lang="en-US" sz="1050" dirty="0"/>
          </a:p>
        </p:txBody>
      </p:sp>
      <p:sp>
        <p:nvSpPr>
          <p:cNvPr id="22" name="Shape 20"/>
          <p:cNvSpPr/>
          <p:nvPr/>
        </p:nvSpPr>
        <p:spPr>
          <a:xfrm>
            <a:off x="3154680" y="2642616"/>
            <a:ext cx="2260577" cy="292608"/>
          </a:xfrm>
          <a:prstGeom prst="roundRect">
            <a:avLst>
              <a:gd name="adj" fmla="val 9375"/>
            </a:avLst>
          </a:prstGeom>
          <a:solidFill>
            <a:srgbClr val="1C7293"/>
          </a:solidFill>
          <a:ln w="12700">
            <a:solidFill>
              <a:srgbClr val="1C7293"/>
            </a:solidFill>
            <a:prstDash val="solid"/>
          </a:ln>
        </p:spPr>
        <p:txBody>
          <a:bodyPr/>
          <a:lstStyle/>
          <a:p>
            <a:endParaRPr lang="en-US"/>
          </a:p>
        </p:txBody>
      </p:sp>
      <p:sp>
        <p:nvSpPr>
          <p:cNvPr id="23" name="Text 21"/>
          <p:cNvSpPr/>
          <p:nvPr/>
        </p:nvSpPr>
        <p:spPr>
          <a:xfrm>
            <a:off x="3154680" y="2642616"/>
            <a:ext cx="2260577"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frame N   row 0 first → row 1079 last</a:t>
            </a:r>
            <a:endParaRPr lang="en-US" sz="900" dirty="0"/>
          </a:p>
        </p:txBody>
      </p:sp>
      <p:sp>
        <p:nvSpPr>
          <p:cNvPr id="24" name="Text 22"/>
          <p:cNvSpPr/>
          <p:nvPr/>
        </p:nvSpPr>
        <p:spPr>
          <a:xfrm>
            <a:off x="896112" y="3026664"/>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FPGA aligns, renders, writes</a:t>
            </a:r>
            <a:endParaRPr lang="en-US" sz="1050" dirty="0"/>
          </a:p>
        </p:txBody>
      </p:sp>
      <p:sp>
        <p:nvSpPr>
          <p:cNvPr id="25" name="Shape 23"/>
          <p:cNvSpPr/>
          <p:nvPr/>
        </p:nvSpPr>
        <p:spPr>
          <a:xfrm>
            <a:off x="5415257" y="3044952"/>
            <a:ext cx="2590648" cy="292608"/>
          </a:xfrm>
          <a:prstGeom prst="roundRect">
            <a:avLst>
              <a:gd name="adj" fmla="val 9375"/>
            </a:avLst>
          </a:prstGeom>
          <a:solidFill>
            <a:srgbClr val="C1663A"/>
          </a:solidFill>
          <a:ln w="12700">
            <a:solidFill>
              <a:srgbClr val="C1663A"/>
            </a:solidFill>
            <a:prstDash val="solid"/>
          </a:ln>
        </p:spPr>
        <p:txBody>
          <a:bodyPr/>
          <a:lstStyle/>
          <a:p>
            <a:endParaRPr lang="en-US"/>
          </a:p>
        </p:txBody>
      </p:sp>
      <p:sp>
        <p:nvSpPr>
          <p:cNvPr id="26" name="Text 24"/>
          <p:cNvSpPr/>
          <p:nvPr/>
        </p:nvSpPr>
        <p:spPr>
          <a:xfrm>
            <a:off x="5415257" y="3044952"/>
            <a:ext cx="259064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align + render into a free bank</a:t>
            </a:r>
            <a:endParaRPr lang="en-US" sz="900" dirty="0"/>
          </a:p>
        </p:txBody>
      </p:sp>
      <p:sp>
        <p:nvSpPr>
          <p:cNvPr id="27" name="Text 25"/>
          <p:cNvSpPr/>
          <p:nvPr/>
        </p:nvSpPr>
        <p:spPr>
          <a:xfrm>
            <a:off x="896112" y="3429000"/>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Published on the next edge</a:t>
            </a:r>
            <a:endParaRPr lang="en-US" sz="1050" dirty="0"/>
          </a:p>
        </p:txBody>
      </p:sp>
      <p:sp>
        <p:nvSpPr>
          <p:cNvPr id="28" name="Shape 26"/>
          <p:cNvSpPr/>
          <p:nvPr/>
        </p:nvSpPr>
        <p:spPr>
          <a:xfrm>
            <a:off x="8005702" y="3447288"/>
            <a:ext cx="94945" cy="292608"/>
          </a:xfrm>
          <a:prstGeom prst="roundRect">
            <a:avLst>
              <a:gd name="adj" fmla="val 28893"/>
            </a:avLst>
          </a:prstGeom>
          <a:solidFill>
            <a:srgbClr val="02A37A"/>
          </a:solidFill>
          <a:ln w="12700">
            <a:solidFill>
              <a:srgbClr val="02A37A"/>
            </a:solidFill>
            <a:prstDash val="solid"/>
          </a:ln>
        </p:spPr>
        <p:txBody>
          <a:bodyPr/>
          <a:lstStyle/>
          <a:p>
            <a:endParaRPr lang="en-US"/>
          </a:p>
        </p:txBody>
      </p:sp>
      <p:sp>
        <p:nvSpPr>
          <p:cNvPr id="29" name="Text 27"/>
          <p:cNvSpPr/>
          <p:nvPr/>
        </p:nvSpPr>
        <p:spPr>
          <a:xfrm>
            <a:off x="896112" y="3831336"/>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Display scans the frame out</a:t>
            </a:r>
            <a:endParaRPr lang="en-US" sz="1050" dirty="0"/>
          </a:p>
        </p:txBody>
      </p:sp>
      <p:sp>
        <p:nvSpPr>
          <p:cNvPr id="30" name="Shape 28"/>
          <p:cNvSpPr/>
          <p:nvPr/>
        </p:nvSpPr>
        <p:spPr>
          <a:xfrm>
            <a:off x="8005702" y="3849624"/>
            <a:ext cx="2260577" cy="292608"/>
          </a:xfrm>
          <a:prstGeom prst="roundRect">
            <a:avLst>
              <a:gd name="adj" fmla="val 9375"/>
            </a:avLst>
          </a:prstGeom>
          <a:solidFill>
            <a:srgbClr val="02A37A"/>
          </a:solidFill>
          <a:ln w="12700">
            <a:solidFill>
              <a:srgbClr val="02A37A"/>
            </a:solidFill>
            <a:prstDash val="solid"/>
          </a:ln>
        </p:spPr>
        <p:txBody>
          <a:bodyPr/>
          <a:lstStyle/>
          <a:p>
            <a:endParaRPr lang="en-US"/>
          </a:p>
        </p:txBody>
      </p:sp>
      <p:sp>
        <p:nvSpPr>
          <p:cNvPr id="31" name="Text 29"/>
          <p:cNvSpPr/>
          <p:nvPr/>
        </p:nvSpPr>
        <p:spPr>
          <a:xfrm>
            <a:off x="8005702" y="3849624"/>
            <a:ext cx="2260577"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row 0 first → row 1079 last</a:t>
            </a:r>
            <a:endParaRPr lang="en-US" sz="900" dirty="0"/>
          </a:p>
        </p:txBody>
      </p:sp>
      <p:sp>
        <p:nvSpPr>
          <p:cNvPr id="32" name="Shape 30"/>
          <p:cNvSpPr/>
          <p:nvPr/>
        </p:nvSpPr>
        <p:spPr>
          <a:xfrm>
            <a:off x="5415257" y="2148840"/>
            <a:ext cx="0" cy="2029968"/>
          </a:xfrm>
          <a:prstGeom prst="line">
            <a:avLst/>
          </a:prstGeom>
          <a:noFill/>
          <a:ln w="15875">
            <a:solidFill>
              <a:srgbClr val="0E1C36"/>
            </a:solidFill>
            <a:prstDash val="dash"/>
          </a:ln>
        </p:spPr>
        <p:txBody>
          <a:bodyPr/>
          <a:lstStyle/>
          <a:p>
            <a:endParaRPr lang="en-US"/>
          </a:p>
        </p:txBody>
      </p:sp>
      <p:sp>
        <p:nvSpPr>
          <p:cNvPr id="33" name="Text 31"/>
          <p:cNvSpPr/>
          <p:nvPr/>
        </p:nvSpPr>
        <p:spPr>
          <a:xfrm>
            <a:off x="4500857" y="1874520"/>
            <a:ext cx="1828800" cy="237744"/>
          </a:xfrm>
          <a:prstGeom prst="rect">
            <a:avLst/>
          </a:prstGeom>
          <a:noFill/>
          <a:ln/>
        </p:spPr>
        <p:txBody>
          <a:bodyPr wrap="square" lIns="0" tIns="0" rIns="0" bIns="0" rtlCol="0" anchor="ctr"/>
          <a:lstStyle/>
          <a:p>
            <a:pPr marL="0" indent="0" algn="ctr">
              <a:buNone/>
            </a:pPr>
            <a:r>
              <a:rPr lang="en-US" sz="900" b="1" dirty="0">
                <a:solidFill>
                  <a:srgbClr val="0E1C36"/>
                </a:solidFill>
                <a:latin typeface="Calibri" pitchFamily="34" charset="0"/>
                <a:ea typeface="Calibri" pitchFamily="34" charset="-122"/>
                <a:cs typeface="Calibri" pitchFamily="34" charset="-120"/>
              </a:rPr>
              <a:t>frame complete</a:t>
            </a:r>
            <a:endParaRPr lang="en-US" sz="900" dirty="0"/>
          </a:p>
        </p:txBody>
      </p:sp>
      <p:sp>
        <p:nvSpPr>
          <p:cNvPr id="34" name="Shape 32"/>
          <p:cNvSpPr/>
          <p:nvPr/>
        </p:nvSpPr>
        <p:spPr>
          <a:xfrm>
            <a:off x="8005702" y="2148840"/>
            <a:ext cx="0" cy="2029968"/>
          </a:xfrm>
          <a:prstGeom prst="line">
            <a:avLst/>
          </a:prstGeom>
          <a:noFill/>
          <a:ln w="15875">
            <a:solidFill>
              <a:srgbClr val="02A37A"/>
            </a:solidFill>
            <a:prstDash val="dash"/>
          </a:ln>
        </p:spPr>
        <p:txBody>
          <a:bodyPr/>
          <a:lstStyle/>
          <a:p>
            <a:endParaRPr lang="en-US"/>
          </a:p>
        </p:txBody>
      </p:sp>
      <p:sp>
        <p:nvSpPr>
          <p:cNvPr id="35" name="Text 33"/>
          <p:cNvSpPr/>
          <p:nvPr/>
        </p:nvSpPr>
        <p:spPr>
          <a:xfrm>
            <a:off x="7091302" y="1874520"/>
            <a:ext cx="1828800" cy="237744"/>
          </a:xfrm>
          <a:prstGeom prst="rect">
            <a:avLst/>
          </a:prstGeom>
          <a:noFill/>
          <a:ln/>
        </p:spPr>
        <p:txBody>
          <a:bodyPr wrap="square" lIns="0" tIns="0" rIns="0" bIns="0" rtlCol="0" anchor="ctr"/>
          <a:lstStyle/>
          <a:p>
            <a:pPr marL="0" indent="0" algn="ctr">
              <a:buNone/>
            </a:pPr>
            <a:r>
              <a:rPr lang="en-US" sz="900" b="1" dirty="0">
                <a:solidFill>
                  <a:srgbClr val="02A37A"/>
                </a:solidFill>
                <a:latin typeface="Calibri" pitchFamily="34" charset="0"/>
                <a:ea typeface="Calibri" pitchFamily="34" charset="-122"/>
                <a:cs typeface="Calibri" pitchFamily="34" charset="-120"/>
              </a:rPr>
              <a:t>published</a:t>
            </a:r>
            <a:endParaRPr lang="en-US" sz="900" dirty="0"/>
          </a:p>
        </p:txBody>
      </p:sp>
      <p:sp>
        <p:nvSpPr>
          <p:cNvPr id="36" name="Shape 34"/>
          <p:cNvSpPr/>
          <p:nvPr/>
        </p:nvSpPr>
        <p:spPr>
          <a:xfrm>
            <a:off x="3154680" y="4379976"/>
            <a:ext cx="4851022" cy="256032"/>
          </a:xfrm>
          <a:prstGeom prst="rightArrow">
            <a:avLst/>
          </a:prstGeom>
          <a:solidFill>
            <a:srgbClr val="16233A"/>
          </a:solidFill>
          <a:ln w="12700">
            <a:solidFill>
              <a:srgbClr val="16233A"/>
            </a:solidFill>
            <a:prstDash val="solid"/>
          </a:ln>
        </p:spPr>
        <p:txBody>
          <a:bodyPr/>
          <a:lstStyle/>
          <a:p>
            <a:endParaRPr lang="en-US"/>
          </a:p>
        </p:txBody>
      </p:sp>
      <p:sp>
        <p:nvSpPr>
          <p:cNvPr id="37" name="Text 35"/>
          <p:cNvSpPr/>
          <p:nvPr/>
        </p:nvSpPr>
        <p:spPr>
          <a:xfrm>
            <a:off x="3154680" y="4379976"/>
            <a:ext cx="485102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row 0     →  71.5 ms</a:t>
            </a:r>
            <a:endParaRPr lang="en-US" sz="900" dirty="0"/>
          </a:p>
        </p:txBody>
      </p:sp>
      <p:sp>
        <p:nvSpPr>
          <p:cNvPr id="38" name="Shape 36"/>
          <p:cNvSpPr/>
          <p:nvPr/>
        </p:nvSpPr>
        <p:spPr>
          <a:xfrm>
            <a:off x="5415257" y="4745736"/>
            <a:ext cx="4850818" cy="256032"/>
          </a:xfrm>
          <a:prstGeom prst="rightArrow">
            <a:avLst/>
          </a:prstGeom>
          <a:solidFill>
            <a:srgbClr val="16233A"/>
          </a:solidFill>
          <a:ln w="12700">
            <a:solidFill>
              <a:srgbClr val="16233A"/>
            </a:solidFill>
            <a:prstDash val="solid"/>
          </a:ln>
        </p:spPr>
        <p:txBody>
          <a:bodyPr/>
          <a:lstStyle/>
          <a:p>
            <a:endParaRPr lang="en-US"/>
          </a:p>
        </p:txBody>
      </p:sp>
      <p:sp>
        <p:nvSpPr>
          <p:cNvPr id="39" name="Text 37"/>
          <p:cNvSpPr/>
          <p:nvPr/>
        </p:nvSpPr>
        <p:spPr>
          <a:xfrm>
            <a:off x="5415257" y="4745736"/>
            <a:ext cx="4850818"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row 1079  →  71.5 ms</a:t>
            </a:r>
            <a:endParaRPr lang="en-US" sz="900" dirty="0"/>
          </a:p>
        </p:txBody>
      </p:sp>
      <p:sp>
        <p:nvSpPr>
          <p:cNvPr id="40" name="Text 38"/>
          <p:cNvSpPr/>
          <p:nvPr/>
        </p:nvSpPr>
        <p:spPr>
          <a:xfrm>
            <a:off x="548640" y="4416552"/>
            <a:ext cx="2377440" cy="658368"/>
          </a:xfrm>
          <a:prstGeom prst="rect">
            <a:avLst/>
          </a:prstGeom>
          <a:noFill/>
          <a:ln/>
        </p:spPr>
        <p:txBody>
          <a:bodyPr wrap="square" lIns="0" tIns="0" rIns="0" bIns="0" rtlCol="0" anchor="ctr"/>
          <a:lstStyle/>
          <a:p>
            <a:pPr marL="0" indent="0" algn="r">
              <a:buNone/>
            </a:pPr>
            <a:r>
              <a:rPr lang="en-US" sz="1000" b="1" i="1" dirty="0">
                <a:solidFill>
                  <a:srgbClr val="16233A"/>
                </a:solidFill>
                <a:latin typeface="Calibri" pitchFamily="34" charset="0"/>
                <a:ea typeface="Calibri" pitchFamily="34" charset="-122"/>
                <a:cs typeface="Calibri" pitchFamily="34" charset="-120"/>
              </a:rPr>
              <a:t>same length,</a:t>
            </a:r>
            <a:endParaRPr lang="en-US" sz="1000" dirty="0"/>
          </a:p>
          <a:p>
            <a:pPr marL="0" indent="0" algn="r">
              <a:buNone/>
            </a:pPr>
            <a:r>
              <a:rPr lang="en-US" sz="1000" b="1" i="1" dirty="0">
                <a:solidFill>
                  <a:srgbClr val="16233A"/>
                </a:solidFill>
                <a:latin typeface="Calibri" pitchFamily="34" charset="0"/>
                <a:ea typeface="Calibri" pitchFamily="34" charset="-122"/>
                <a:cs typeface="Calibri" pitchFamily="34" charset="-120"/>
              </a:rPr>
              <a:t>different start</a:t>
            </a:r>
            <a:endParaRPr lang="en-US" sz="1000" dirty="0"/>
          </a:p>
        </p:txBody>
      </p:sp>
      <p:sp>
        <p:nvSpPr>
          <p:cNvPr id="41" name="Shape 39"/>
          <p:cNvSpPr/>
          <p:nvPr/>
        </p:nvSpPr>
        <p:spPr>
          <a:xfrm>
            <a:off x="548640" y="5276088"/>
            <a:ext cx="11109960" cy="896112"/>
          </a:xfrm>
          <a:prstGeom prst="roundRect">
            <a:avLst>
              <a:gd name="adj" fmla="val 6122"/>
            </a:avLst>
          </a:prstGeom>
          <a:solidFill>
            <a:srgbClr val="DAF2EB"/>
          </a:solidFill>
          <a:ln w="15875">
            <a:solidFill>
              <a:srgbClr val="02A37A"/>
            </a:solidFill>
            <a:prstDash val="solid"/>
          </a:ln>
        </p:spPr>
        <p:txBody>
          <a:bodyPr/>
          <a:lstStyle/>
          <a:p>
            <a:endParaRPr lang="en-US"/>
          </a:p>
        </p:txBody>
      </p:sp>
      <p:sp>
        <p:nvSpPr>
          <p:cNvPr id="42" name="Text 40"/>
          <p:cNvSpPr/>
          <p:nvPr/>
        </p:nvSpPr>
        <p:spPr>
          <a:xfrm>
            <a:off x="777240" y="5385816"/>
            <a:ext cx="10607040" cy="694944"/>
          </a:xfrm>
          <a:prstGeom prst="rect">
            <a:avLst/>
          </a:prstGeom>
          <a:noFill/>
          <a:ln/>
        </p:spPr>
        <p:txBody>
          <a:bodyPr wrap="square" lIns="0" tIns="0" rIns="0" bIns="0" rtlCol="0" anchor="ctr"/>
          <a:lstStyle/>
          <a:p>
            <a:pPr marL="0" indent="0">
              <a:buNone/>
            </a:pPr>
            <a:r>
              <a:rPr lang="en-US" sz="1200" b="1" dirty="0">
                <a:solidFill>
                  <a:srgbClr val="0E1C36"/>
                </a:solidFill>
                <a:latin typeface="Calibri" pitchFamily="34" charset="0"/>
                <a:ea typeface="Calibri" pitchFamily="34" charset="-122"/>
                <a:cs typeface="Calibri" pitchFamily="34" charset="-120"/>
              </a:rPr>
              <a:t>The arithmetic. </a:t>
            </a:r>
            <a:r>
              <a:rPr lang="en-US" sz="1200" dirty="0">
                <a:solidFill>
                  <a:srgbClr val="27374F"/>
                </a:solidFill>
                <a:latin typeface="Calibri" pitchFamily="34" charset="0"/>
                <a:ea typeface="Calibri" pitchFamily="34" charset="-122"/>
                <a:cs typeface="Calibri" pitchFamily="34" charset="-120"/>
              </a:rPr>
              <a:t>For row r of N:  age when the frame completes = (1 − r/N) × 33.3,  scan-out position = (r/N) × 33.3.  These sum to 33.3 for every r — the row that waits longest to be captured is displayed first. Total = 33.3 + render-and-publish, identical for every row. Checked over all 1080 rows: spread 0.00 ms.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MEASURED</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Latency: best case and worst case</a:t>
            </a:r>
            <a:endParaRPr lang="en-US" sz="3000" dirty="0"/>
          </a:p>
        </p:txBody>
      </p:sp>
      <p:sp>
        <p:nvSpPr>
          <p:cNvPr id="4" name="Text 2"/>
          <p:cNvSpPr/>
          <p:nvPr/>
        </p:nvSpPr>
        <p:spPr>
          <a:xfrm>
            <a:off x="548640" y="1133856"/>
            <a:ext cx="11109960" cy="457200"/>
          </a:xfrm>
          <a:prstGeom prst="rect">
            <a:avLst/>
          </a:prstGeom>
          <a:noFill/>
          <a:ln/>
        </p:spPr>
        <p:txBody>
          <a:bodyPr wrap="square" lIns="0" tIns="0" rIns="0" bIns="0" rtlCol="0" anchor="ctr"/>
          <a:lstStyle/>
          <a:p>
            <a:pPr marL="0" indent="0">
              <a:buNone/>
            </a:pPr>
            <a:r>
              <a:rPr lang="en-US" sz="1250" dirty="0">
                <a:solidFill>
                  <a:srgbClr val="27374F"/>
                </a:solidFill>
                <a:latin typeface="Calibri" pitchFamily="34" charset="0"/>
                <a:ea typeface="Calibri" pitchFamily="34" charset="-122"/>
                <a:cs typeface="Calibri" pitchFamily="34" charset="-120"/>
              </a:rPr>
              <a:t>A finished frame may only be published on a display frame edge, and the camera does not track the display. The wait for that edge is anywhere from nothing to a full frame period, and that is the entire difference between the two columns.</a:t>
            </a:r>
            <a:endParaRPr lang="en-US" sz="1250" dirty="0"/>
          </a:p>
        </p:txBody>
      </p:sp>
      <p:sp>
        <p:nvSpPr>
          <p:cNvPr id="5" name="Text 3"/>
          <p:cNvSpPr/>
          <p:nvPr/>
        </p:nvSpPr>
        <p:spPr>
          <a:xfrm>
            <a:off x="548640" y="1700784"/>
            <a:ext cx="2057400" cy="310896"/>
          </a:xfrm>
          <a:prstGeom prst="rect">
            <a:avLst/>
          </a:prstGeom>
          <a:noFill/>
          <a:ln/>
        </p:spPr>
        <p:txBody>
          <a:bodyPr wrap="square" lIns="0" tIns="0" rIns="0" bIns="0" rtlCol="0" anchor="ctr"/>
          <a:lstStyle/>
          <a:p>
            <a:pPr marL="0" indent="0" algn="l">
              <a:buNone/>
            </a:pPr>
            <a:r>
              <a:rPr lang="en-US" sz="1050" b="1" dirty="0">
                <a:solidFill>
                  <a:srgbClr val="6B7C97"/>
                </a:solidFill>
                <a:latin typeface="Calibri" pitchFamily="34" charset="0"/>
                <a:ea typeface="Calibri" pitchFamily="34" charset="-122"/>
                <a:cs typeface="Calibri" pitchFamily="34" charset="-120"/>
              </a:rPr>
              <a:t>Mode</a:t>
            </a:r>
            <a:endParaRPr lang="en-US" sz="1050" dirty="0"/>
          </a:p>
        </p:txBody>
      </p:sp>
      <p:sp>
        <p:nvSpPr>
          <p:cNvPr id="6" name="Text 4"/>
          <p:cNvSpPr/>
          <p:nvPr/>
        </p:nvSpPr>
        <p:spPr>
          <a:xfrm>
            <a:off x="2606040" y="1700784"/>
            <a:ext cx="196596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Render occupancy</a:t>
            </a:r>
            <a:endParaRPr lang="en-US" sz="1050" dirty="0"/>
          </a:p>
          <a:p>
            <a:pPr marL="0" indent="0" algn="ctr">
              <a:buNone/>
            </a:pPr>
            <a:r>
              <a:rPr lang="en-US" sz="1050" b="1" dirty="0">
                <a:solidFill>
                  <a:srgbClr val="6B7C97"/>
                </a:solidFill>
                <a:latin typeface="Calibri" pitchFamily="34" charset="0"/>
                <a:ea typeface="Calibri" pitchFamily="34" charset="-122"/>
                <a:cs typeface="Calibri" pitchFamily="34" charset="-120"/>
              </a:rPr>
              <a:t>(ILA, untriggered)</a:t>
            </a:r>
            <a:endParaRPr lang="en-US" sz="1050" dirty="0"/>
          </a:p>
        </p:txBody>
      </p:sp>
      <p:sp>
        <p:nvSpPr>
          <p:cNvPr id="7" name="Text 5"/>
          <p:cNvSpPr/>
          <p:nvPr/>
        </p:nvSpPr>
        <p:spPr>
          <a:xfrm>
            <a:off x="4572000" y="1700784"/>
            <a:ext cx="214884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Frame → render done</a:t>
            </a:r>
            <a:endParaRPr lang="en-US" sz="1050" dirty="0"/>
          </a:p>
          <a:p>
            <a:pPr marL="0" indent="0" algn="ctr">
              <a:buNone/>
            </a:pPr>
            <a:r>
              <a:rPr lang="en-US" sz="1050" b="1" dirty="0">
                <a:solidFill>
                  <a:srgbClr val="6B7C97"/>
                </a:solidFill>
                <a:latin typeface="Calibri" pitchFamily="34" charset="0"/>
                <a:ea typeface="Calibri" pitchFamily="34" charset="-122"/>
                <a:cs typeface="Calibri" pitchFamily="34" charset="-120"/>
              </a:rPr>
              <a:t>= fixed wait + render</a:t>
            </a:r>
            <a:endParaRPr lang="en-US" sz="1050" dirty="0"/>
          </a:p>
        </p:txBody>
      </p:sp>
      <p:sp>
        <p:nvSpPr>
          <p:cNvPr id="8" name="Text 6"/>
          <p:cNvSpPr/>
          <p:nvPr/>
        </p:nvSpPr>
        <p:spPr>
          <a:xfrm>
            <a:off x="6720840" y="1700784"/>
            <a:ext cx="169164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BEST CASE</a:t>
            </a:r>
            <a:endParaRPr lang="en-US" sz="1050" dirty="0"/>
          </a:p>
          <a:p>
            <a:pPr marL="0" indent="0" algn="ctr">
              <a:buNone/>
            </a:pPr>
            <a:r>
              <a:rPr lang="en-US" sz="1050" b="1" dirty="0">
                <a:solidFill>
                  <a:srgbClr val="6B7C97"/>
                </a:solidFill>
                <a:latin typeface="Calibri" pitchFamily="34" charset="0"/>
                <a:ea typeface="Calibri" pitchFamily="34" charset="-122"/>
                <a:cs typeface="Calibri" pitchFamily="34" charset="-120"/>
              </a:rPr>
              <a:t>capture → display</a:t>
            </a:r>
            <a:endParaRPr lang="en-US" sz="1050" dirty="0"/>
          </a:p>
        </p:txBody>
      </p:sp>
      <p:sp>
        <p:nvSpPr>
          <p:cNvPr id="9" name="Text 7"/>
          <p:cNvSpPr/>
          <p:nvPr/>
        </p:nvSpPr>
        <p:spPr>
          <a:xfrm>
            <a:off x="8412480" y="1700784"/>
            <a:ext cx="169164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WORST CASE</a:t>
            </a:r>
            <a:endParaRPr lang="en-US" sz="1050" dirty="0"/>
          </a:p>
          <a:p>
            <a:pPr marL="0" indent="0" algn="ctr">
              <a:buNone/>
            </a:pPr>
            <a:r>
              <a:rPr lang="en-US" sz="1050" b="1" dirty="0">
                <a:solidFill>
                  <a:srgbClr val="6B7C97"/>
                </a:solidFill>
                <a:latin typeface="Calibri" pitchFamily="34" charset="0"/>
                <a:ea typeface="Calibri" pitchFamily="34" charset="-122"/>
                <a:cs typeface="Calibri" pitchFamily="34" charset="-120"/>
              </a:rPr>
              <a:t>capture → display</a:t>
            </a:r>
            <a:endParaRPr lang="en-US" sz="1050" dirty="0"/>
          </a:p>
        </p:txBody>
      </p:sp>
      <p:sp>
        <p:nvSpPr>
          <p:cNvPr id="10" name="Text 8"/>
          <p:cNvSpPr/>
          <p:nvPr/>
        </p:nvSpPr>
        <p:spPr>
          <a:xfrm>
            <a:off x="10104120" y="1700784"/>
            <a:ext cx="155448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Publishing</a:t>
            </a:r>
            <a:endParaRPr lang="en-US" sz="1050" dirty="0"/>
          </a:p>
        </p:txBody>
      </p:sp>
      <p:sp>
        <p:nvSpPr>
          <p:cNvPr id="11" name="Shape 9"/>
          <p:cNvSpPr/>
          <p:nvPr/>
        </p:nvSpPr>
        <p:spPr>
          <a:xfrm>
            <a:off x="548640" y="2029968"/>
            <a:ext cx="11109960" cy="0"/>
          </a:xfrm>
          <a:prstGeom prst="line">
            <a:avLst/>
          </a:prstGeom>
          <a:noFill/>
          <a:ln w="12700">
            <a:solidFill>
              <a:srgbClr val="D3DCEA"/>
            </a:solidFill>
            <a:prstDash val="solid"/>
          </a:ln>
        </p:spPr>
        <p:txBody>
          <a:bodyPr/>
          <a:lstStyle/>
          <a:p>
            <a:endParaRPr lang="en-US"/>
          </a:p>
        </p:txBody>
      </p:sp>
      <p:sp>
        <p:nvSpPr>
          <p:cNvPr id="12" name="Text 10"/>
          <p:cNvSpPr/>
          <p:nvPr/>
        </p:nvSpPr>
        <p:spPr>
          <a:xfrm>
            <a:off x="548640" y="2103120"/>
            <a:ext cx="2057400" cy="365760"/>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a:t>
            </a:r>
            <a:endParaRPr lang="en-US" sz="1050" dirty="0"/>
          </a:p>
        </p:txBody>
      </p:sp>
      <p:sp>
        <p:nvSpPr>
          <p:cNvPr id="13" name="Text 11"/>
          <p:cNvSpPr/>
          <p:nvPr/>
        </p:nvSpPr>
        <p:spPr>
          <a:xfrm>
            <a:off x="2606040" y="2103120"/>
            <a:ext cx="196596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~8.4 ms</a:t>
            </a:r>
            <a:endParaRPr lang="en-US" sz="1050" dirty="0"/>
          </a:p>
        </p:txBody>
      </p:sp>
      <p:sp>
        <p:nvSpPr>
          <p:cNvPr id="14" name="Text 12"/>
          <p:cNvSpPr/>
          <p:nvPr/>
        </p:nvSpPr>
        <p:spPr>
          <a:xfrm>
            <a:off x="4572000" y="2103120"/>
            <a:ext cx="214884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10.1 ms</a:t>
            </a:r>
            <a:endParaRPr lang="en-US" sz="1050" dirty="0"/>
          </a:p>
        </p:txBody>
      </p:sp>
      <p:sp>
        <p:nvSpPr>
          <p:cNvPr id="15" name="Text 13"/>
          <p:cNvSpPr/>
          <p:nvPr/>
        </p:nvSpPr>
        <p:spPr>
          <a:xfrm>
            <a:off x="6720840" y="2103120"/>
            <a:ext cx="1691640" cy="365760"/>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43.4 ms</a:t>
            </a:r>
            <a:endParaRPr lang="en-US" sz="1050" dirty="0"/>
          </a:p>
        </p:txBody>
      </p:sp>
      <p:sp>
        <p:nvSpPr>
          <p:cNvPr id="16" name="Text 14"/>
          <p:cNvSpPr/>
          <p:nvPr/>
        </p:nvSpPr>
        <p:spPr>
          <a:xfrm>
            <a:off x="8412480" y="2103120"/>
            <a:ext cx="1691640" cy="365760"/>
          </a:xfrm>
          <a:prstGeom prst="rect">
            <a:avLst/>
          </a:prstGeom>
          <a:noFill/>
          <a:ln/>
        </p:spPr>
        <p:txBody>
          <a:bodyPr wrap="square" lIns="0" tIns="0" rIns="0" bIns="0" rtlCol="0" anchor="ctr"/>
          <a:lstStyle/>
          <a:p>
            <a:pPr marL="0" indent="0" algn="ctr">
              <a:buNone/>
            </a:pPr>
            <a:r>
              <a:rPr lang="en-US" sz="1050" b="1" dirty="0">
                <a:solidFill>
                  <a:srgbClr val="C2A33B"/>
                </a:solidFill>
                <a:latin typeface="Calibri" pitchFamily="34" charset="0"/>
                <a:ea typeface="Calibri" pitchFamily="34" charset="-122"/>
                <a:cs typeface="Calibri" pitchFamily="34" charset="-120"/>
              </a:rPr>
              <a:t>76.8 ms</a:t>
            </a:r>
            <a:endParaRPr lang="en-US" sz="1050" dirty="0"/>
          </a:p>
        </p:txBody>
      </p:sp>
      <p:sp>
        <p:nvSpPr>
          <p:cNvPr id="17" name="Text 15"/>
          <p:cNvSpPr/>
          <p:nvPr/>
        </p:nvSpPr>
        <p:spPr>
          <a:xfrm>
            <a:off x="10104120" y="2103120"/>
            <a:ext cx="1554480" cy="365760"/>
          </a:xfrm>
          <a:prstGeom prst="rect">
            <a:avLst/>
          </a:prstGeom>
          <a:noFill/>
          <a:ln/>
        </p:spPr>
        <p:txBody>
          <a:bodyPr wrap="square" lIns="0" tIns="0" rIns="0" bIns="0" rtlCol="0" anchor="ctr"/>
          <a:lstStyle/>
          <a:p>
            <a:pPr marL="0" indent="0" algn="ctr">
              <a:buNone/>
            </a:pPr>
            <a:r>
              <a:rPr lang="en-US" sz="1050" b="1" dirty="0">
                <a:solidFill>
                  <a:srgbClr val="27374F"/>
                </a:solidFill>
                <a:latin typeface="Calibri" pitchFamily="34" charset="0"/>
                <a:ea typeface="Calibri" pitchFamily="34" charset="-122"/>
                <a:cs typeface="Calibri" pitchFamily="34" charset="-120"/>
              </a:rPr>
              <a:t>29.75 fps</a:t>
            </a:r>
            <a:endParaRPr lang="en-US" sz="1050" b="1" dirty="0"/>
          </a:p>
        </p:txBody>
      </p:sp>
      <p:sp>
        <p:nvSpPr>
          <p:cNvPr id="18" name="Shape 16"/>
          <p:cNvSpPr/>
          <p:nvPr/>
        </p:nvSpPr>
        <p:spPr>
          <a:xfrm>
            <a:off x="475488" y="2478024"/>
            <a:ext cx="11256264" cy="384048"/>
          </a:xfrm>
          <a:prstGeom prst="rect">
            <a:avLst/>
          </a:prstGeom>
          <a:solidFill>
            <a:srgbClr val="F2F5FA"/>
          </a:solidFill>
          <a:ln w="12700">
            <a:solidFill>
              <a:srgbClr val="333333"/>
            </a:solidFill>
            <a:prstDash val="solid"/>
          </a:ln>
        </p:spPr>
        <p:txBody>
          <a:bodyPr/>
          <a:lstStyle/>
          <a:p>
            <a:endParaRPr lang="en-US"/>
          </a:p>
        </p:txBody>
      </p:sp>
      <p:sp>
        <p:nvSpPr>
          <p:cNvPr id="19" name="Text 17"/>
          <p:cNvSpPr/>
          <p:nvPr/>
        </p:nvSpPr>
        <p:spPr>
          <a:xfrm>
            <a:off x="548640" y="2505456"/>
            <a:ext cx="2057400" cy="365760"/>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panorama</a:t>
            </a:r>
            <a:endParaRPr lang="en-US" sz="1050" dirty="0"/>
          </a:p>
        </p:txBody>
      </p:sp>
      <p:sp>
        <p:nvSpPr>
          <p:cNvPr id="20" name="Text 18"/>
          <p:cNvSpPr/>
          <p:nvPr/>
        </p:nvSpPr>
        <p:spPr>
          <a:xfrm>
            <a:off x="2606040" y="2505456"/>
            <a:ext cx="196596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~24.9 ms</a:t>
            </a:r>
            <a:endParaRPr lang="en-US" sz="1050" dirty="0"/>
          </a:p>
        </p:txBody>
      </p:sp>
      <p:sp>
        <p:nvSpPr>
          <p:cNvPr id="21" name="Text 19"/>
          <p:cNvSpPr/>
          <p:nvPr/>
        </p:nvSpPr>
        <p:spPr>
          <a:xfrm>
            <a:off x="4572000" y="2505456"/>
            <a:ext cx="214884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38.2 ms</a:t>
            </a:r>
            <a:endParaRPr lang="en-US" sz="1050" dirty="0"/>
          </a:p>
        </p:txBody>
      </p:sp>
      <p:sp>
        <p:nvSpPr>
          <p:cNvPr id="22" name="Text 20"/>
          <p:cNvSpPr/>
          <p:nvPr/>
        </p:nvSpPr>
        <p:spPr>
          <a:xfrm>
            <a:off x="6720840" y="2505456"/>
            <a:ext cx="1691640" cy="365760"/>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71.5 ms</a:t>
            </a:r>
            <a:endParaRPr lang="en-US" sz="1050" dirty="0"/>
          </a:p>
        </p:txBody>
      </p:sp>
      <p:sp>
        <p:nvSpPr>
          <p:cNvPr id="23" name="Text 21"/>
          <p:cNvSpPr/>
          <p:nvPr/>
        </p:nvSpPr>
        <p:spPr>
          <a:xfrm>
            <a:off x="8412480" y="2505456"/>
            <a:ext cx="1691640" cy="365760"/>
          </a:xfrm>
          <a:prstGeom prst="rect">
            <a:avLst/>
          </a:prstGeom>
          <a:noFill/>
          <a:ln/>
        </p:spPr>
        <p:txBody>
          <a:bodyPr wrap="square" lIns="0" tIns="0" rIns="0" bIns="0" rtlCol="0" anchor="ctr"/>
          <a:lstStyle/>
          <a:p>
            <a:pPr marL="0" indent="0" algn="ctr">
              <a:buNone/>
            </a:pPr>
            <a:r>
              <a:rPr lang="en-US" sz="1050" b="1" dirty="0">
                <a:solidFill>
                  <a:srgbClr val="C2A33B"/>
                </a:solidFill>
                <a:latin typeface="Calibri" pitchFamily="34" charset="0"/>
                <a:ea typeface="Calibri" pitchFamily="34" charset="-122"/>
                <a:cs typeface="Calibri" pitchFamily="34" charset="-120"/>
              </a:rPr>
              <a:t>104.9 ms</a:t>
            </a:r>
            <a:endParaRPr lang="en-US" sz="1050" dirty="0"/>
          </a:p>
        </p:txBody>
      </p:sp>
      <p:sp>
        <p:nvSpPr>
          <p:cNvPr id="24" name="Text 22"/>
          <p:cNvSpPr/>
          <p:nvPr/>
        </p:nvSpPr>
        <p:spPr>
          <a:xfrm>
            <a:off x="10104120" y="2505456"/>
            <a:ext cx="1554480" cy="365760"/>
          </a:xfrm>
          <a:prstGeom prst="rect">
            <a:avLst/>
          </a:prstGeom>
          <a:noFill/>
          <a:ln/>
        </p:spPr>
        <p:txBody>
          <a:bodyPr wrap="square" lIns="0" tIns="0" rIns="0" bIns="0" rtlCol="0" anchor="ctr"/>
          <a:lstStyle/>
          <a:p>
            <a:pPr marL="0" indent="0" algn="ctr">
              <a:buNone/>
            </a:pPr>
            <a:r>
              <a:rPr lang="en-US" sz="1050" b="1" dirty="0">
                <a:solidFill>
                  <a:schemeClr val="accent6">
                    <a:lumMod val="60000"/>
                    <a:lumOff val="40000"/>
                  </a:schemeClr>
                </a:solidFill>
                <a:latin typeface="Calibri" pitchFamily="34" charset="0"/>
                <a:ea typeface="Calibri" pitchFamily="34" charset="-122"/>
                <a:cs typeface="Calibri" pitchFamily="34" charset="-120"/>
              </a:rPr>
              <a:t>22.9 fps</a:t>
            </a:r>
            <a:endParaRPr lang="en-US" sz="1050" b="1" dirty="0">
              <a:solidFill>
                <a:schemeClr val="accent6">
                  <a:lumMod val="60000"/>
                  <a:lumOff val="40000"/>
                </a:schemeClr>
              </a:solidFill>
            </a:endParaRPr>
          </a:p>
        </p:txBody>
      </p:sp>
      <p:sp>
        <p:nvSpPr>
          <p:cNvPr id="25" name="Text 23"/>
          <p:cNvSpPr/>
          <p:nvPr/>
        </p:nvSpPr>
        <p:spPr>
          <a:xfrm>
            <a:off x="548640" y="2907792"/>
            <a:ext cx="2057400" cy="365760"/>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IR single</a:t>
            </a:r>
            <a:endParaRPr lang="en-US" sz="1050" dirty="0"/>
          </a:p>
        </p:txBody>
      </p:sp>
      <p:sp>
        <p:nvSpPr>
          <p:cNvPr id="26" name="Text 24"/>
          <p:cNvSpPr/>
          <p:nvPr/>
        </p:nvSpPr>
        <p:spPr>
          <a:xfrm>
            <a:off x="2606040" y="2907792"/>
            <a:ext cx="196596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not measured</a:t>
            </a:r>
            <a:endParaRPr lang="en-US" sz="1050" dirty="0"/>
          </a:p>
        </p:txBody>
      </p:sp>
      <p:sp>
        <p:nvSpPr>
          <p:cNvPr id="27" name="Text 25"/>
          <p:cNvSpPr/>
          <p:nvPr/>
        </p:nvSpPr>
        <p:spPr>
          <a:xfrm>
            <a:off x="4572000" y="2907792"/>
            <a:ext cx="214884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25.8 ms</a:t>
            </a:r>
            <a:endParaRPr lang="en-US" sz="1050" dirty="0"/>
          </a:p>
        </p:txBody>
      </p:sp>
      <p:sp>
        <p:nvSpPr>
          <p:cNvPr id="28" name="Text 26"/>
          <p:cNvSpPr/>
          <p:nvPr/>
        </p:nvSpPr>
        <p:spPr>
          <a:xfrm>
            <a:off x="6720840" y="2907792"/>
            <a:ext cx="1691640" cy="365760"/>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59.1 ms</a:t>
            </a:r>
            <a:endParaRPr lang="en-US" sz="1050" dirty="0"/>
          </a:p>
        </p:txBody>
      </p:sp>
      <p:sp>
        <p:nvSpPr>
          <p:cNvPr id="29" name="Text 27"/>
          <p:cNvSpPr/>
          <p:nvPr/>
        </p:nvSpPr>
        <p:spPr>
          <a:xfrm>
            <a:off x="8412480" y="2907792"/>
            <a:ext cx="1691640" cy="365760"/>
          </a:xfrm>
          <a:prstGeom prst="rect">
            <a:avLst/>
          </a:prstGeom>
          <a:noFill/>
          <a:ln/>
        </p:spPr>
        <p:txBody>
          <a:bodyPr wrap="square" lIns="0" tIns="0" rIns="0" bIns="0" rtlCol="0" anchor="ctr"/>
          <a:lstStyle/>
          <a:p>
            <a:pPr marL="0" indent="0" algn="ctr">
              <a:buNone/>
            </a:pPr>
            <a:r>
              <a:rPr lang="en-US" sz="1050" b="1" dirty="0">
                <a:solidFill>
                  <a:srgbClr val="C2A33B"/>
                </a:solidFill>
                <a:latin typeface="Calibri" pitchFamily="34" charset="0"/>
                <a:ea typeface="Calibri" pitchFamily="34" charset="-122"/>
                <a:cs typeface="Calibri" pitchFamily="34" charset="-120"/>
              </a:rPr>
              <a:t>92.5 ms</a:t>
            </a:r>
            <a:endParaRPr lang="en-US" sz="1050" dirty="0"/>
          </a:p>
        </p:txBody>
      </p:sp>
      <p:sp>
        <p:nvSpPr>
          <p:cNvPr id="30" name="Text 28"/>
          <p:cNvSpPr/>
          <p:nvPr/>
        </p:nvSpPr>
        <p:spPr>
          <a:xfrm>
            <a:off x="10104120" y="2907792"/>
            <a:ext cx="1554480" cy="365760"/>
          </a:xfrm>
          <a:prstGeom prst="rect">
            <a:avLst/>
          </a:prstGeom>
          <a:noFill/>
          <a:ln/>
        </p:spPr>
        <p:txBody>
          <a:bodyPr wrap="square" lIns="0" tIns="0" rIns="0" bIns="0" rtlCol="0" anchor="ctr"/>
          <a:lstStyle/>
          <a:p>
            <a:pPr marL="0" indent="0" algn="ctr">
              <a:buNone/>
            </a:pPr>
            <a:r>
              <a:rPr lang="en-US" sz="1050" b="1" dirty="0">
                <a:solidFill>
                  <a:srgbClr val="27374F"/>
                </a:solidFill>
                <a:latin typeface="Calibri" pitchFamily="34" charset="0"/>
                <a:ea typeface="Calibri" pitchFamily="34" charset="-122"/>
                <a:cs typeface="Calibri" pitchFamily="34" charset="-120"/>
              </a:rPr>
              <a:t>30.01 fps</a:t>
            </a:r>
            <a:endParaRPr lang="en-US" sz="1050" b="1" dirty="0"/>
          </a:p>
        </p:txBody>
      </p:sp>
      <p:sp>
        <p:nvSpPr>
          <p:cNvPr id="31" name="Shape 29"/>
          <p:cNvSpPr/>
          <p:nvPr/>
        </p:nvSpPr>
        <p:spPr>
          <a:xfrm>
            <a:off x="475488" y="3282696"/>
            <a:ext cx="11256264" cy="384048"/>
          </a:xfrm>
          <a:prstGeom prst="rect">
            <a:avLst/>
          </a:prstGeom>
          <a:solidFill>
            <a:srgbClr val="F2F5FA"/>
          </a:solidFill>
          <a:ln w="12700">
            <a:solidFill>
              <a:srgbClr val="333333"/>
            </a:solidFill>
            <a:prstDash val="solid"/>
          </a:ln>
        </p:spPr>
        <p:txBody>
          <a:bodyPr/>
          <a:lstStyle/>
          <a:p>
            <a:endParaRPr lang="en-US"/>
          </a:p>
        </p:txBody>
      </p:sp>
      <p:sp>
        <p:nvSpPr>
          <p:cNvPr id="32" name="Text 30"/>
          <p:cNvSpPr/>
          <p:nvPr/>
        </p:nvSpPr>
        <p:spPr>
          <a:xfrm>
            <a:off x="548640" y="3310128"/>
            <a:ext cx="2057400" cy="365760"/>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IR panorama</a:t>
            </a:r>
            <a:endParaRPr lang="en-US" sz="1050" dirty="0"/>
          </a:p>
        </p:txBody>
      </p:sp>
      <p:sp>
        <p:nvSpPr>
          <p:cNvPr id="33" name="Text 31"/>
          <p:cNvSpPr/>
          <p:nvPr/>
        </p:nvSpPr>
        <p:spPr>
          <a:xfrm>
            <a:off x="2606040" y="3310128"/>
            <a:ext cx="196596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~26.6 ms</a:t>
            </a:r>
            <a:endParaRPr lang="en-US" sz="1050" dirty="0"/>
          </a:p>
        </p:txBody>
      </p:sp>
      <p:sp>
        <p:nvSpPr>
          <p:cNvPr id="34" name="Text 32"/>
          <p:cNvSpPr/>
          <p:nvPr/>
        </p:nvSpPr>
        <p:spPr>
          <a:xfrm>
            <a:off x="4572000" y="3310128"/>
            <a:ext cx="2148840" cy="365760"/>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41.6 ms</a:t>
            </a:r>
            <a:endParaRPr lang="en-US" sz="1050" dirty="0"/>
          </a:p>
        </p:txBody>
      </p:sp>
      <p:sp>
        <p:nvSpPr>
          <p:cNvPr id="35" name="Text 33"/>
          <p:cNvSpPr/>
          <p:nvPr/>
        </p:nvSpPr>
        <p:spPr>
          <a:xfrm>
            <a:off x="6720840" y="3310128"/>
            <a:ext cx="1691640" cy="365760"/>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59.9 ms</a:t>
            </a:r>
            <a:endParaRPr lang="en-US" sz="1050" dirty="0"/>
          </a:p>
        </p:txBody>
      </p:sp>
      <p:sp>
        <p:nvSpPr>
          <p:cNvPr id="36" name="Text 34"/>
          <p:cNvSpPr/>
          <p:nvPr/>
        </p:nvSpPr>
        <p:spPr>
          <a:xfrm>
            <a:off x="8412480" y="3310128"/>
            <a:ext cx="1691640" cy="365760"/>
          </a:xfrm>
          <a:prstGeom prst="rect">
            <a:avLst/>
          </a:prstGeom>
          <a:noFill/>
          <a:ln/>
        </p:spPr>
        <p:txBody>
          <a:bodyPr wrap="square" lIns="0" tIns="0" rIns="0" bIns="0" rtlCol="0" anchor="ctr"/>
          <a:lstStyle/>
          <a:p>
            <a:pPr marL="0" indent="0" algn="ctr">
              <a:buNone/>
            </a:pPr>
            <a:r>
              <a:rPr lang="en-US" sz="1050" b="1" dirty="0">
                <a:solidFill>
                  <a:srgbClr val="C2A33B"/>
                </a:solidFill>
                <a:latin typeface="Calibri" pitchFamily="34" charset="0"/>
                <a:ea typeface="Calibri" pitchFamily="34" charset="-122"/>
                <a:cs typeface="Calibri" pitchFamily="34" charset="-120"/>
              </a:rPr>
              <a:t>93.3 ms</a:t>
            </a:r>
            <a:endParaRPr lang="en-US" sz="1050" dirty="0"/>
          </a:p>
        </p:txBody>
      </p:sp>
      <p:sp>
        <p:nvSpPr>
          <p:cNvPr id="37" name="Text 35"/>
          <p:cNvSpPr/>
          <p:nvPr/>
        </p:nvSpPr>
        <p:spPr>
          <a:xfrm>
            <a:off x="10104120" y="3310128"/>
            <a:ext cx="1554480" cy="365760"/>
          </a:xfrm>
          <a:prstGeom prst="rect">
            <a:avLst/>
          </a:prstGeom>
          <a:noFill/>
          <a:ln/>
        </p:spPr>
        <p:txBody>
          <a:bodyPr wrap="square" lIns="0" tIns="0" rIns="0" bIns="0" rtlCol="0" anchor="ctr"/>
          <a:lstStyle/>
          <a:p>
            <a:pPr marL="0" indent="0" algn="ctr">
              <a:buNone/>
            </a:pPr>
            <a:r>
              <a:rPr lang="en-US" sz="1050" b="1" dirty="0">
                <a:latin typeface="Calibri" pitchFamily="34" charset="0"/>
                <a:ea typeface="Calibri" pitchFamily="34" charset="-122"/>
                <a:cs typeface="Calibri" pitchFamily="34" charset="-120"/>
              </a:rPr>
              <a:t>29.97 fps</a:t>
            </a:r>
            <a:endParaRPr lang="en-US" sz="1050" b="1" dirty="0"/>
          </a:p>
        </p:txBody>
      </p:sp>
      <p:sp>
        <p:nvSpPr>
          <p:cNvPr id="38" name="Shape 36"/>
          <p:cNvSpPr/>
          <p:nvPr/>
        </p:nvSpPr>
        <p:spPr>
          <a:xfrm>
            <a:off x="548640" y="4013499"/>
            <a:ext cx="5532120" cy="1481328"/>
          </a:xfrm>
          <a:prstGeom prst="roundRect">
            <a:avLst>
              <a:gd name="adj" fmla="val 3704"/>
            </a:avLst>
          </a:prstGeom>
          <a:solidFill>
            <a:srgbClr val="DAF2EB"/>
          </a:solidFill>
          <a:ln w="15875">
            <a:solidFill>
              <a:srgbClr val="02A37A"/>
            </a:solidFill>
            <a:prstDash val="solid"/>
          </a:ln>
        </p:spPr>
        <p:txBody>
          <a:bodyPr/>
          <a:lstStyle/>
          <a:p>
            <a:endParaRPr lang="en-US"/>
          </a:p>
        </p:txBody>
      </p:sp>
      <p:sp>
        <p:nvSpPr>
          <p:cNvPr id="39" name="Text 37"/>
          <p:cNvSpPr/>
          <p:nvPr/>
        </p:nvSpPr>
        <p:spPr>
          <a:xfrm>
            <a:off x="777240" y="4114083"/>
            <a:ext cx="5074920" cy="274320"/>
          </a:xfrm>
          <a:prstGeom prst="rect">
            <a:avLst/>
          </a:prstGeom>
          <a:noFill/>
          <a:ln/>
        </p:spPr>
        <p:txBody>
          <a:bodyPr wrap="square" lIns="0" tIns="0" rIns="0" bIns="0" rtlCol="0" anchor="ctr"/>
          <a:lstStyle/>
          <a:p>
            <a:pPr marL="0" indent="0">
              <a:buNone/>
            </a:pPr>
            <a:r>
              <a:rPr lang="en-US" sz="1250" b="1" dirty="0">
                <a:solidFill>
                  <a:srgbClr val="0E1C36"/>
                </a:solidFill>
                <a:latin typeface="Calibri" pitchFamily="34" charset="0"/>
                <a:ea typeface="Calibri" pitchFamily="34" charset="-122"/>
                <a:cs typeface="Calibri" pitchFamily="34" charset="-120"/>
              </a:rPr>
              <a:t>Why 41.6 ms does not cap throughput at 24 fps</a:t>
            </a:r>
            <a:endParaRPr lang="en-US" sz="1250" dirty="0"/>
          </a:p>
        </p:txBody>
      </p:sp>
      <p:sp>
        <p:nvSpPr>
          <p:cNvPr id="40" name="Text 38"/>
          <p:cNvSpPr/>
          <p:nvPr/>
        </p:nvSpPr>
        <p:spPr>
          <a:xfrm>
            <a:off x="777240" y="4424979"/>
            <a:ext cx="5074920" cy="1005840"/>
          </a:xfrm>
          <a:prstGeom prst="rect">
            <a:avLst/>
          </a:prstGeom>
          <a:noFill/>
          <a:ln/>
        </p:spPr>
        <p:txBody>
          <a:bodyPr wrap="square" lIns="0" tIns="0" rIns="0" bIns="0" rtlCol="0" anchor="ctr"/>
          <a:lstStyle/>
          <a:p>
            <a:pPr marL="0" indent="0">
              <a:buNone/>
            </a:pPr>
            <a:r>
              <a:rPr lang="en-US" sz="1100" dirty="0">
                <a:solidFill>
                  <a:srgbClr val="27374F"/>
                </a:solidFill>
                <a:latin typeface="Calibri" pitchFamily="34" charset="0"/>
                <a:ea typeface="Calibri" pitchFamily="34" charset="-122"/>
                <a:cs typeface="Calibri" pitchFamily="34" charset="-120"/>
              </a:rPr>
              <a:t>The middle column is a latency, not an occupancy. It is a fixed phase wait plus the render, for IR panorama, about 15 ms of waiting for the row window to open, then a 26.6 ms render.</a:t>
            </a:r>
            <a:endParaRPr lang="en-US" sz="1100" dirty="0"/>
          </a:p>
          <a:p>
            <a:pPr marL="0" indent="0">
              <a:buNone/>
            </a:pPr>
            <a:r>
              <a:rPr lang="en-US" sz="1100" dirty="0">
                <a:solidFill>
                  <a:srgbClr val="27374F"/>
                </a:solidFill>
                <a:latin typeface="Calibri" pitchFamily="34" charset="0"/>
                <a:ea typeface="Calibri" pitchFamily="34" charset="-122"/>
                <a:cs typeface="Calibri" pitchFamily="34" charset="-120"/>
              </a:rPr>
              <a:t>Only the render occupies the engine, and 26.6 ms fits inside 33.3 ms. The wait is a constant offset: it delays every frame equally and costs nothing per frame. Renders never overlap, so throughput is set by the occupancy alone.</a:t>
            </a:r>
            <a:endParaRPr lang="en-US" sz="1100" dirty="0"/>
          </a:p>
        </p:txBody>
      </p:sp>
      <p:sp>
        <p:nvSpPr>
          <p:cNvPr id="41" name="Shape 39"/>
          <p:cNvSpPr/>
          <p:nvPr/>
        </p:nvSpPr>
        <p:spPr>
          <a:xfrm>
            <a:off x="6263640" y="4013499"/>
            <a:ext cx="5394960" cy="1481328"/>
          </a:xfrm>
          <a:prstGeom prst="roundRect">
            <a:avLst>
              <a:gd name="adj" fmla="val 3704"/>
            </a:avLst>
          </a:prstGeom>
          <a:solidFill>
            <a:srgbClr val="F7F0D8"/>
          </a:solidFill>
          <a:ln w="15875">
            <a:solidFill>
              <a:srgbClr val="C2A33B"/>
            </a:solidFill>
            <a:prstDash val="solid"/>
          </a:ln>
        </p:spPr>
        <p:txBody>
          <a:bodyPr/>
          <a:lstStyle/>
          <a:p>
            <a:endParaRPr lang="en-US"/>
          </a:p>
        </p:txBody>
      </p:sp>
      <p:sp>
        <p:nvSpPr>
          <p:cNvPr id="42" name="Text 40"/>
          <p:cNvSpPr/>
          <p:nvPr/>
        </p:nvSpPr>
        <p:spPr>
          <a:xfrm>
            <a:off x="6492240" y="4114083"/>
            <a:ext cx="4937760" cy="274320"/>
          </a:xfrm>
          <a:prstGeom prst="rect">
            <a:avLst/>
          </a:prstGeom>
          <a:noFill/>
          <a:ln/>
        </p:spPr>
        <p:txBody>
          <a:bodyPr wrap="square" lIns="0" tIns="0" rIns="0" bIns="0" rtlCol="0" anchor="ctr"/>
          <a:lstStyle/>
          <a:p>
            <a:pPr marL="0" indent="0">
              <a:buNone/>
            </a:pPr>
            <a:r>
              <a:rPr lang="en-US" sz="1250" b="1" dirty="0">
                <a:solidFill>
                  <a:srgbClr val="0E1C36"/>
                </a:solidFill>
                <a:latin typeface="Calibri" pitchFamily="34" charset="0"/>
                <a:ea typeface="Calibri" pitchFamily="34" charset="-122"/>
                <a:cs typeface="Calibri" pitchFamily="34" charset="-120"/>
              </a:rPr>
              <a:t>Why the worst case occurs</a:t>
            </a:r>
            <a:endParaRPr lang="en-US" sz="1250" dirty="0"/>
          </a:p>
        </p:txBody>
      </p:sp>
      <p:sp>
        <p:nvSpPr>
          <p:cNvPr id="43" name="Text 41"/>
          <p:cNvSpPr/>
          <p:nvPr/>
        </p:nvSpPr>
        <p:spPr>
          <a:xfrm>
            <a:off x="6492240" y="4424979"/>
            <a:ext cx="4937760" cy="1005840"/>
          </a:xfrm>
          <a:prstGeom prst="rect">
            <a:avLst/>
          </a:prstGeom>
          <a:noFill/>
          <a:ln/>
        </p:spPr>
        <p:txBody>
          <a:bodyPr wrap="square" lIns="0" tIns="0" rIns="0" bIns="0" rtlCol="0" anchor="ctr"/>
          <a:lstStyle/>
          <a:p>
            <a:pPr marL="0" indent="0">
              <a:buNone/>
            </a:pPr>
            <a:r>
              <a:rPr lang="en-US" sz="1100" dirty="0">
                <a:solidFill>
                  <a:srgbClr val="27374F"/>
                </a:solidFill>
                <a:latin typeface="Calibri" pitchFamily="34" charset="0"/>
                <a:ea typeface="Calibri" pitchFamily="34" charset="-122"/>
                <a:cs typeface="Calibri" pitchFamily="34" charset="-120"/>
              </a:rPr>
              <a:t>The render finishes at some moment inside the display's 33.3 ms cycle and cannot choose that moment. Finish just before an edge and the frame goes out at once; finish just after one and it is held a whole further period.</a:t>
            </a:r>
            <a:endParaRPr lang="en-US" sz="1100" dirty="0"/>
          </a:p>
          <a:p>
            <a:pPr marL="0" indent="0">
              <a:buNone/>
            </a:pPr>
            <a:r>
              <a:rPr lang="en-US" sz="1100" dirty="0">
                <a:solidFill>
                  <a:srgbClr val="27374F"/>
                </a:solidFill>
                <a:latin typeface="Calibri" pitchFamily="34" charset="0"/>
                <a:ea typeface="Calibri" pitchFamily="34" charset="-122"/>
                <a:cs typeface="Calibri" pitchFamily="34" charset="-120"/>
              </a:rPr>
              <a:t>This is a continuous drift, not an occasional fault, caused by fractional frequencies mismatches, which is why no single "typical" value is quoted. Shortening the render moves both columns down; locking the camera to the display raster would collapse them to one.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MECHANISM</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Best and worst, drawn on the same clock</a:t>
            </a:r>
            <a:endParaRPr lang="en-US" sz="3000" dirty="0"/>
          </a:p>
        </p:txBody>
      </p:sp>
      <p:sp>
        <p:nvSpPr>
          <p:cNvPr id="4" name="Text 2"/>
          <p:cNvSpPr/>
          <p:nvPr/>
        </p:nvSpPr>
        <p:spPr>
          <a:xfrm>
            <a:off x="548640" y="1133856"/>
            <a:ext cx="11109960" cy="310896"/>
          </a:xfrm>
          <a:prstGeom prst="rect">
            <a:avLst/>
          </a:prstGeom>
          <a:noFill/>
          <a:ln/>
        </p:spPr>
        <p:txBody>
          <a:bodyPr wrap="square" lIns="0" tIns="0" rIns="0" bIns="0" rtlCol="0" anchor="ctr"/>
          <a:lstStyle/>
          <a:p>
            <a:pPr marL="0" indent="0">
              <a:buNone/>
            </a:pPr>
            <a:r>
              <a:rPr lang="en-US" sz="1300" dirty="0">
                <a:solidFill>
                  <a:srgbClr val="27374F"/>
                </a:solidFill>
                <a:latin typeface="Calibri" pitchFamily="34" charset="0"/>
                <a:ea typeface="Calibri" pitchFamily="34" charset="-122"/>
                <a:cs typeface="Calibri" pitchFamily="34" charset="-120"/>
              </a:rPr>
              <a:t>Identical camera, identical render. The only difference is where the display's edge grid happens to fall — which nothing in the system controls.</a:t>
            </a:r>
            <a:endParaRPr lang="en-US" sz="1300" dirty="0"/>
          </a:p>
        </p:txBody>
      </p:sp>
      <p:sp>
        <p:nvSpPr>
          <p:cNvPr id="5" name="Text 3"/>
          <p:cNvSpPr/>
          <p:nvPr/>
        </p:nvSpPr>
        <p:spPr>
          <a:xfrm>
            <a:off x="548640" y="1572768"/>
            <a:ext cx="11109960" cy="256032"/>
          </a:xfrm>
          <a:prstGeom prst="rect">
            <a:avLst/>
          </a:prstGeom>
          <a:noFill/>
          <a:ln/>
        </p:spPr>
        <p:txBody>
          <a:bodyPr wrap="square" lIns="0" tIns="0" rIns="0" bIns="0" rtlCol="0" anchor="ctr"/>
          <a:lstStyle/>
          <a:p>
            <a:pPr marL="0" indent="0">
              <a:buNone/>
            </a:pPr>
            <a:r>
              <a:rPr lang="en-US" sz="1250" b="1" dirty="0">
                <a:solidFill>
                  <a:srgbClr val="02A37A"/>
                </a:solidFill>
                <a:latin typeface="Calibri" pitchFamily="34" charset="0"/>
                <a:ea typeface="Calibri" pitchFamily="34" charset="-122"/>
                <a:cs typeface="Calibri" pitchFamily="34" charset="-120"/>
              </a:rPr>
              <a:t>BEST CASE — the render lands just before an edge</a:t>
            </a:r>
            <a:endParaRPr lang="en-US" sz="1250" dirty="0"/>
          </a:p>
        </p:txBody>
      </p:sp>
      <p:sp>
        <p:nvSpPr>
          <p:cNvPr id="6" name="Text 4"/>
          <p:cNvSpPr/>
          <p:nvPr/>
        </p:nvSpPr>
        <p:spPr>
          <a:xfrm>
            <a:off x="896112" y="1938528"/>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Display edges</a:t>
            </a:r>
            <a:endParaRPr lang="en-US" sz="1050" dirty="0"/>
          </a:p>
        </p:txBody>
      </p:sp>
      <p:sp>
        <p:nvSpPr>
          <p:cNvPr id="7" name="Shape 5"/>
          <p:cNvSpPr/>
          <p:nvPr/>
        </p:nvSpPr>
        <p:spPr>
          <a:xfrm>
            <a:off x="3388523" y="1956816"/>
            <a:ext cx="64008" cy="292608"/>
          </a:xfrm>
          <a:prstGeom prst="rect">
            <a:avLst/>
          </a:prstGeom>
          <a:solidFill>
            <a:srgbClr val="16233A"/>
          </a:solidFill>
          <a:ln w="12700">
            <a:solidFill>
              <a:srgbClr val="333333"/>
            </a:solidFill>
            <a:prstDash val="solid"/>
          </a:ln>
        </p:spPr>
        <p:txBody>
          <a:bodyPr/>
          <a:lstStyle/>
          <a:p>
            <a:endParaRPr lang="en-US"/>
          </a:p>
        </p:txBody>
      </p:sp>
      <p:sp>
        <p:nvSpPr>
          <p:cNvPr id="8" name="Shape 6"/>
          <p:cNvSpPr/>
          <p:nvPr/>
        </p:nvSpPr>
        <p:spPr>
          <a:xfrm>
            <a:off x="5196984" y="1956816"/>
            <a:ext cx="64008" cy="292608"/>
          </a:xfrm>
          <a:prstGeom prst="rect">
            <a:avLst/>
          </a:prstGeom>
          <a:solidFill>
            <a:srgbClr val="16233A"/>
          </a:solidFill>
          <a:ln w="12700">
            <a:solidFill>
              <a:srgbClr val="333333"/>
            </a:solidFill>
            <a:prstDash val="solid"/>
          </a:ln>
        </p:spPr>
        <p:txBody>
          <a:bodyPr/>
          <a:lstStyle/>
          <a:p>
            <a:endParaRPr lang="en-US"/>
          </a:p>
        </p:txBody>
      </p:sp>
      <p:sp>
        <p:nvSpPr>
          <p:cNvPr id="9" name="Shape 7"/>
          <p:cNvSpPr/>
          <p:nvPr/>
        </p:nvSpPr>
        <p:spPr>
          <a:xfrm>
            <a:off x="7005446" y="1956816"/>
            <a:ext cx="64008" cy="292608"/>
          </a:xfrm>
          <a:prstGeom prst="rect">
            <a:avLst/>
          </a:prstGeom>
          <a:solidFill>
            <a:srgbClr val="16233A"/>
          </a:solidFill>
          <a:ln w="12700">
            <a:solidFill>
              <a:srgbClr val="333333"/>
            </a:solidFill>
            <a:prstDash val="solid"/>
          </a:ln>
        </p:spPr>
        <p:txBody>
          <a:bodyPr/>
          <a:lstStyle/>
          <a:p>
            <a:endParaRPr lang="en-US"/>
          </a:p>
        </p:txBody>
      </p:sp>
      <p:sp>
        <p:nvSpPr>
          <p:cNvPr id="10" name="Shape 8"/>
          <p:cNvSpPr/>
          <p:nvPr/>
        </p:nvSpPr>
        <p:spPr>
          <a:xfrm>
            <a:off x="8813908" y="1956816"/>
            <a:ext cx="64008" cy="292608"/>
          </a:xfrm>
          <a:prstGeom prst="rect">
            <a:avLst/>
          </a:prstGeom>
          <a:solidFill>
            <a:srgbClr val="16233A"/>
          </a:solidFill>
          <a:ln w="12700">
            <a:solidFill>
              <a:srgbClr val="333333"/>
            </a:solidFill>
            <a:prstDash val="solid"/>
          </a:ln>
        </p:spPr>
        <p:txBody>
          <a:bodyPr/>
          <a:lstStyle/>
          <a:p>
            <a:endParaRPr lang="en-US"/>
          </a:p>
        </p:txBody>
      </p:sp>
      <p:sp>
        <p:nvSpPr>
          <p:cNvPr id="11" name="Shape 9"/>
          <p:cNvSpPr/>
          <p:nvPr/>
        </p:nvSpPr>
        <p:spPr>
          <a:xfrm>
            <a:off x="10622370" y="1956816"/>
            <a:ext cx="64008" cy="292608"/>
          </a:xfrm>
          <a:prstGeom prst="rect">
            <a:avLst/>
          </a:prstGeom>
          <a:solidFill>
            <a:srgbClr val="16233A"/>
          </a:solidFill>
          <a:ln w="12700">
            <a:solidFill>
              <a:srgbClr val="333333"/>
            </a:solidFill>
            <a:prstDash val="solid"/>
          </a:ln>
        </p:spPr>
        <p:txBody>
          <a:bodyPr/>
          <a:lstStyle/>
          <a:p>
            <a:endParaRPr lang="en-US"/>
          </a:p>
        </p:txBody>
      </p:sp>
      <p:sp>
        <p:nvSpPr>
          <p:cNvPr id="12" name="Shape 10"/>
          <p:cNvSpPr/>
          <p:nvPr/>
        </p:nvSpPr>
        <p:spPr>
          <a:xfrm>
            <a:off x="3154680" y="2103120"/>
            <a:ext cx="8138160" cy="0"/>
          </a:xfrm>
          <a:prstGeom prst="line">
            <a:avLst/>
          </a:prstGeom>
          <a:noFill/>
          <a:ln w="12700">
            <a:solidFill>
              <a:srgbClr val="D3DCEA"/>
            </a:solidFill>
            <a:prstDash val="sysDot"/>
          </a:ln>
        </p:spPr>
        <p:txBody>
          <a:bodyPr/>
          <a:lstStyle/>
          <a:p>
            <a:endParaRPr lang="en-US"/>
          </a:p>
        </p:txBody>
      </p:sp>
      <p:sp>
        <p:nvSpPr>
          <p:cNvPr id="13" name="Text 11"/>
          <p:cNvSpPr/>
          <p:nvPr/>
        </p:nvSpPr>
        <p:spPr>
          <a:xfrm>
            <a:off x="896112" y="2304288"/>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Camera frame N</a:t>
            </a:r>
            <a:endParaRPr lang="en-US" sz="1050" dirty="0"/>
          </a:p>
        </p:txBody>
      </p:sp>
      <p:sp>
        <p:nvSpPr>
          <p:cNvPr id="14" name="Shape 12"/>
          <p:cNvSpPr/>
          <p:nvPr/>
        </p:nvSpPr>
        <p:spPr>
          <a:xfrm>
            <a:off x="3154680" y="2322576"/>
            <a:ext cx="1808462" cy="292608"/>
          </a:xfrm>
          <a:prstGeom prst="roundRect">
            <a:avLst>
              <a:gd name="adj" fmla="val 9375"/>
            </a:avLst>
          </a:prstGeom>
          <a:solidFill>
            <a:srgbClr val="1C7293"/>
          </a:solidFill>
          <a:ln w="12700">
            <a:solidFill>
              <a:srgbClr val="1C7293"/>
            </a:solidFill>
            <a:prstDash val="solid"/>
          </a:ln>
        </p:spPr>
        <p:txBody>
          <a:bodyPr/>
          <a:lstStyle/>
          <a:p>
            <a:endParaRPr lang="en-US"/>
          </a:p>
        </p:txBody>
      </p:sp>
      <p:sp>
        <p:nvSpPr>
          <p:cNvPr id="15" name="Text 13"/>
          <p:cNvSpPr/>
          <p:nvPr/>
        </p:nvSpPr>
        <p:spPr>
          <a:xfrm>
            <a:off x="896112" y="2670048"/>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Align + render</a:t>
            </a:r>
            <a:endParaRPr lang="en-US" sz="1050" dirty="0"/>
          </a:p>
        </p:txBody>
      </p:sp>
      <p:sp>
        <p:nvSpPr>
          <p:cNvPr id="16" name="Shape 14"/>
          <p:cNvSpPr/>
          <p:nvPr/>
        </p:nvSpPr>
        <p:spPr>
          <a:xfrm>
            <a:off x="4963142" y="2688336"/>
            <a:ext cx="2072518" cy="292608"/>
          </a:xfrm>
          <a:prstGeom prst="roundRect">
            <a:avLst>
              <a:gd name="adj" fmla="val 9375"/>
            </a:avLst>
          </a:prstGeom>
          <a:solidFill>
            <a:srgbClr val="C1663A"/>
          </a:solidFill>
          <a:ln w="12700">
            <a:solidFill>
              <a:srgbClr val="C1663A"/>
            </a:solidFill>
            <a:prstDash val="solid"/>
          </a:ln>
        </p:spPr>
        <p:txBody>
          <a:bodyPr/>
          <a:lstStyle/>
          <a:p>
            <a:endParaRPr lang="en-US"/>
          </a:p>
        </p:txBody>
      </p:sp>
      <p:sp>
        <p:nvSpPr>
          <p:cNvPr id="17" name="Text 15"/>
          <p:cNvSpPr/>
          <p:nvPr/>
        </p:nvSpPr>
        <p:spPr>
          <a:xfrm>
            <a:off x="4963142" y="2688336"/>
            <a:ext cx="207251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38.2 ms</a:t>
            </a:r>
            <a:endParaRPr lang="en-US" sz="900" dirty="0"/>
          </a:p>
        </p:txBody>
      </p:sp>
      <p:sp>
        <p:nvSpPr>
          <p:cNvPr id="18" name="Text 16"/>
          <p:cNvSpPr/>
          <p:nvPr/>
        </p:nvSpPr>
        <p:spPr>
          <a:xfrm>
            <a:off x="896112" y="3035808"/>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On screen</a:t>
            </a:r>
            <a:endParaRPr lang="en-US" sz="1050" dirty="0"/>
          </a:p>
        </p:txBody>
      </p:sp>
      <p:sp>
        <p:nvSpPr>
          <p:cNvPr id="19" name="Shape 17"/>
          <p:cNvSpPr/>
          <p:nvPr/>
        </p:nvSpPr>
        <p:spPr>
          <a:xfrm>
            <a:off x="7035497" y="3054096"/>
            <a:ext cx="1808462" cy="292608"/>
          </a:xfrm>
          <a:prstGeom prst="roundRect">
            <a:avLst>
              <a:gd name="adj" fmla="val 9375"/>
            </a:avLst>
          </a:prstGeom>
          <a:solidFill>
            <a:srgbClr val="02A37A"/>
          </a:solidFill>
          <a:ln w="12700">
            <a:solidFill>
              <a:srgbClr val="02A37A"/>
            </a:solidFill>
            <a:prstDash val="solid"/>
          </a:ln>
        </p:spPr>
        <p:txBody>
          <a:bodyPr/>
          <a:lstStyle/>
          <a:p>
            <a:endParaRPr lang="en-US"/>
          </a:p>
        </p:txBody>
      </p:sp>
      <p:sp>
        <p:nvSpPr>
          <p:cNvPr id="20" name="Text 18"/>
          <p:cNvSpPr/>
          <p:nvPr/>
        </p:nvSpPr>
        <p:spPr>
          <a:xfrm>
            <a:off x="7035497" y="3054096"/>
            <a:ext cx="180846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71.5 ms after capture</a:t>
            </a:r>
            <a:endParaRPr lang="en-US" sz="900" dirty="0"/>
          </a:p>
        </p:txBody>
      </p:sp>
      <p:sp>
        <p:nvSpPr>
          <p:cNvPr id="21" name="Shape 19"/>
          <p:cNvSpPr/>
          <p:nvPr/>
        </p:nvSpPr>
        <p:spPr>
          <a:xfrm>
            <a:off x="7035497" y="1865376"/>
            <a:ext cx="0" cy="1517904"/>
          </a:xfrm>
          <a:prstGeom prst="line">
            <a:avLst/>
          </a:prstGeom>
          <a:noFill/>
          <a:ln w="15875">
            <a:solidFill>
              <a:srgbClr val="02A37A"/>
            </a:solidFill>
            <a:prstDash val="dash"/>
          </a:ln>
        </p:spPr>
        <p:txBody>
          <a:bodyPr/>
          <a:lstStyle/>
          <a:p>
            <a:endParaRPr lang="en-US"/>
          </a:p>
        </p:txBody>
      </p:sp>
      <p:sp>
        <p:nvSpPr>
          <p:cNvPr id="22" name="Text 20"/>
          <p:cNvSpPr/>
          <p:nvPr/>
        </p:nvSpPr>
        <p:spPr>
          <a:xfrm>
            <a:off x="6121097" y="1591056"/>
            <a:ext cx="1828800" cy="237744"/>
          </a:xfrm>
          <a:prstGeom prst="rect">
            <a:avLst/>
          </a:prstGeom>
          <a:noFill/>
          <a:ln/>
        </p:spPr>
        <p:txBody>
          <a:bodyPr wrap="square" lIns="0" tIns="0" rIns="0" bIns="0" rtlCol="0" anchor="ctr"/>
          <a:lstStyle/>
          <a:p>
            <a:pPr marL="0" indent="0" algn="ctr">
              <a:buNone/>
            </a:pPr>
            <a:r>
              <a:rPr lang="en-US" sz="900" b="1" dirty="0">
                <a:solidFill>
                  <a:srgbClr val="02A37A"/>
                </a:solidFill>
                <a:latin typeface="Calibri" pitchFamily="34" charset="0"/>
                <a:ea typeface="Calibri" pitchFamily="34" charset="-122"/>
                <a:cs typeface="Calibri" pitchFamily="34" charset="-120"/>
              </a:rPr>
              <a:t>published</a:t>
            </a:r>
            <a:endParaRPr lang="en-US" sz="900" dirty="0"/>
          </a:p>
        </p:txBody>
      </p:sp>
      <p:sp>
        <p:nvSpPr>
          <p:cNvPr id="23" name="Text 21"/>
          <p:cNvSpPr/>
          <p:nvPr/>
        </p:nvSpPr>
        <p:spPr>
          <a:xfrm>
            <a:off x="548640" y="3657600"/>
            <a:ext cx="11109960" cy="256032"/>
          </a:xfrm>
          <a:prstGeom prst="rect">
            <a:avLst/>
          </a:prstGeom>
          <a:noFill/>
          <a:ln/>
        </p:spPr>
        <p:txBody>
          <a:bodyPr wrap="square" lIns="0" tIns="0" rIns="0" bIns="0" rtlCol="0" anchor="ctr"/>
          <a:lstStyle/>
          <a:p>
            <a:pPr marL="0" indent="0">
              <a:buNone/>
            </a:pPr>
            <a:r>
              <a:rPr lang="en-US" sz="1250" b="1" dirty="0">
                <a:solidFill>
                  <a:srgbClr val="B4443A"/>
                </a:solidFill>
                <a:latin typeface="Calibri" pitchFamily="34" charset="0"/>
                <a:ea typeface="Calibri" pitchFamily="34" charset="-122"/>
                <a:cs typeface="Calibri" pitchFamily="34" charset="-120"/>
              </a:rPr>
              <a:t>WORST CASE — the same render lands just after one</a:t>
            </a:r>
            <a:endParaRPr lang="en-US" sz="1250" dirty="0"/>
          </a:p>
        </p:txBody>
      </p:sp>
      <p:sp>
        <p:nvSpPr>
          <p:cNvPr id="24" name="Text 22"/>
          <p:cNvSpPr/>
          <p:nvPr/>
        </p:nvSpPr>
        <p:spPr>
          <a:xfrm>
            <a:off x="896112" y="4023360"/>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Display edges</a:t>
            </a:r>
            <a:endParaRPr lang="en-US" sz="1050" dirty="0"/>
          </a:p>
        </p:txBody>
      </p:sp>
      <p:sp>
        <p:nvSpPr>
          <p:cNvPr id="25" name="Shape 23"/>
          <p:cNvSpPr/>
          <p:nvPr/>
        </p:nvSpPr>
        <p:spPr>
          <a:xfrm>
            <a:off x="5177995" y="4041648"/>
            <a:ext cx="64008" cy="292608"/>
          </a:xfrm>
          <a:prstGeom prst="rect">
            <a:avLst/>
          </a:prstGeom>
          <a:solidFill>
            <a:srgbClr val="16233A"/>
          </a:solidFill>
          <a:ln w="12700">
            <a:solidFill>
              <a:srgbClr val="333333"/>
            </a:solidFill>
            <a:prstDash val="solid"/>
          </a:ln>
        </p:spPr>
        <p:txBody>
          <a:bodyPr/>
          <a:lstStyle/>
          <a:p>
            <a:endParaRPr lang="en-US"/>
          </a:p>
        </p:txBody>
      </p:sp>
      <p:sp>
        <p:nvSpPr>
          <p:cNvPr id="26" name="Shape 24"/>
          <p:cNvSpPr/>
          <p:nvPr/>
        </p:nvSpPr>
        <p:spPr>
          <a:xfrm>
            <a:off x="6986457" y="4041648"/>
            <a:ext cx="64008" cy="292608"/>
          </a:xfrm>
          <a:prstGeom prst="rect">
            <a:avLst/>
          </a:prstGeom>
          <a:solidFill>
            <a:srgbClr val="16233A"/>
          </a:solidFill>
          <a:ln w="12700">
            <a:solidFill>
              <a:srgbClr val="333333"/>
            </a:solidFill>
            <a:prstDash val="solid"/>
          </a:ln>
        </p:spPr>
        <p:txBody>
          <a:bodyPr/>
          <a:lstStyle/>
          <a:p>
            <a:endParaRPr lang="en-US"/>
          </a:p>
        </p:txBody>
      </p:sp>
      <p:sp>
        <p:nvSpPr>
          <p:cNvPr id="27" name="Shape 25"/>
          <p:cNvSpPr/>
          <p:nvPr/>
        </p:nvSpPr>
        <p:spPr>
          <a:xfrm>
            <a:off x="8794919" y="4041648"/>
            <a:ext cx="64008" cy="292608"/>
          </a:xfrm>
          <a:prstGeom prst="rect">
            <a:avLst/>
          </a:prstGeom>
          <a:solidFill>
            <a:srgbClr val="16233A"/>
          </a:solidFill>
          <a:ln w="12700">
            <a:solidFill>
              <a:srgbClr val="333333"/>
            </a:solidFill>
            <a:prstDash val="solid"/>
          </a:ln>
        </p:spPr>
        <p:txBody>
          <a:bodyPr/>
          <a:lstStyle/>
          <a:p>
            <a:endParaRPr lang="en-US"/>
          </a:p>
        </p:txBody>
      </p:sp>
      <p:sp>
        <p:nvSpPr>
          <p:cNvPr id="28" name="Shape 26"/>
          <p:cNvSpPr/>
          <p:nvPr/>
        </p:nvSpPr>
        <p:spPr>
          <a:xfrm>
            <a:off x="10603381" y="4041648"/>
            <a:ext cx="64008" cy="292608"/>
          </a:xfrm>
          <a:prstGeom prst="rect">
            <a:avLst/>
          </a:prstGeom>
          <a:solidFill>
            <a:srgbClr val="16233A"/>
          </a:solidFill>
          <a:ln w="12700">
            <a:solidFill>
              <a:srgbClr val="333333"/>
            </a:solidFill>
            <a:prstDash val="solid"/>
          </a:ln>
        </p:spPr>
        <p:txBody>
          <a:bodyPr/>
          <a:lstStyle/>
          <a:p>
            <a:endParaRPr lang="en-US"/>
          </a:p>
        </p:txBody>
      </p:sp>
      <p:sp>
        <p:nvSpPr>
          <p:cNvPr id="29" name="Shape 27"/>
          <p:cNvSpPr/>
          <p:nvPr/>
        </p:nvSpPr>
        <p:spPr>
          <a:xfrm>
            <a:off x="3154680" y="4187952"/>
            <a:ext cx="8138160" cy="0"/>
          </a:xfrm>
          <a:prstGeom prst="line">
            <a:avLst/>
          </a:prstGeom>
          <a:noFill/>
          <a:ln w="12700">
            <a:solidFill>
              <a:srgbClr val="D3DCEA"/>
            </a:solidFill>
            <a:prstDash val="sysDot"/>
          </a:ln>
        </p:spPr>
        <p:txBody>
          <a:bodyPr/>
          <a:lstStyle/>
          <a:p>
            <a:endParaRPr lang="en-US"/>
          </a:p>
        </p:txBody>
      </p:sp>
      <p:sp>
        <p:nvSpPr>
          <p:cNvPr id="30" name="Text 28"/>
          <p:cNvSpPr/>
          <p:nvPr/>
        </p:nvSpPr>
        <p:spPr>
          <a:xfrm>
            <a:off x="896112" y="4389120"/>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Camera frame N</a:t>
            </a:r>
            <a:endParaRPr lang="en-US" sz="1050" dirty="0"/>
          </a:p>
        </p:txBody>
      </p:sp>
      <p:sp>
        <p:nvSpPr>
          <p:cNvPr id="31" name="Shape 29"/>
          <p:cNvSpPr/>
          <p:nvPr/>
        </p:nvSpPr>
        <p:spPr>
          <a:xfrm>
            <a:off x="3154680" y="4407408"/>
            <a:ext cx="1808462" cy="292608"/>
          </a:xfrm>
          <a:prstGeom prst="roundRect">
            <a:avLst>
              <a:gd name="adj" fmla="val 9375"/>
            </a:avLst>
          </a:prstGeom>
          <a:solidFill>
            <a:srgbClr val="1C7293"/>
          </a:solidFill>
          <a:ln w="12700">
            <a:solidFill>
              <a:srgbClr val="1C7293"/>
            </a:solidFill>
            <a:prstDash val="solid"/>
          </a:ln>
        </p:spPr>
        <p:txBody>
          <a:bodyPr/>
          <a:lstStyle/>
          <a:p>
            <a:endParaRPr lang="en-US"/>
          </a:p>
        </p:txBody>
      </p:sp>
      <p:sp>
        <p:nvSpPr>
          <p:cNvPr id="32" name="Text 30"/>
          <p:cNvSpPr/>
          <p:nvPr/>
        </p:nvSpPr>
        <p:spPr>
          <a:xfrm>
            <a:off x="896112" y="4754880"/>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Align + render</a:t>
            </a:r>
            <a:endParaRPr lang="en-US" sz="1050" dirty="0"/>
          </a:p>
        </p:txBody>
      </p:sp>
      <p:sp>
        <p:nvSpPr>
          <p:cNvPr id="33" name="Shape 31"/>
          <p:cNvSpPr/>
          <p:nvPr/>
        </p:nvSpPr>
        <p:spPr>
          <a:xfrm>
            <a:off x="4963142" y="4773168"/>
            <a:ext cx="2072518" cy="292608"/>
          </a:xfrm>
          <a:prstGeom prst="roundRect">
            <a:avLst>
              <a:gd name="adj" fmla="val 9375"/>
            </a:avLst>
          </a:prstGeom>
          <a:solidFill>
            <a:srgbClr val="C1663A"/>
          </a:solidFill>
          <a:ln w="12700">
            <a:solidFill>
              <a:srgbClr val="C1663A"/>
            </a:solidFill>
            <a:prstDash val="solid"/>
          </a:ln>
        </p:spPr>
        <p:txBody>
          <a:bodyPr/>
          <a:lstStyle/>
          <a:p>
            <a:endParaRPr lang="en-US"/>
          </a:p>
        </p:txBody>
      </p:sp>
      <p:sp>
        <p:nvSpPr>
          <p:cNvPr id="34" name="Text 32"/>
          <p:cNvSpPr/>
          <p:nvPr/>
        </p:nvSpPr>
        <p:spPr>
          <a:xfrm>
            <a:off x="4963142" y="4773168"/>
            <a:ext cx="207251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38.2 ms — the same</a:t>
            </a:r>
            <a:endParaRPr lang="en-US" sz="900" dirty="0"/>
          </a:p>
        </p:txBody>
      </p:sp>
      <p:sp>
        <p:nvSpPr>
          <p:cNvPr id="35" name="Text 33"/>
          <p:cNvSpPr/>
          <p:nvPr/>
        </p:nvSpPr>
        <p:spPr>
          <a:xfrm>
            <a:off x="896112" y="5120640"/>
            <a:ext cx="2148840" cy="310896"/>
          </a:xfrm>
          <a:prstGeom prst="rect">
            <a:avLst/>
          </a:prstGeom>
          <a:noFill/>
          <a:ln/>
        </p:spPr>
        <p:txBody>
          <a:bodyPr wrap="square" lIns="0" tIns="0" rIns="0" bIns="0" rtlCol="0" anchor="ctr"/>
          <a:lstStyle/>
          <a:p>
            <a:pPr marL="0" indent="0" algn="r">
              <a:buNone/>
            </a:pPr>
            <a:r>
              <a:rPr lang="en-US" sz="1050" dirty="0">
                <a:solidFill>
                  <a:srgbClr val="27374F"/>
                </a:solidFill>
                <a:latin typeface="Calibri" pitchFamily="34" charset="0"/>
                <a:ea typeface="Calibri" pitchFamily="34" charset="-122"/>
                <a:cs typeface="Calibri" pitchFamily="34" charset="-120"/>
              </a:rPr>
              <a:t>Held, then on screen</a:t>
            </a:r>
            <a:endParaRPr lang="en-US" sz="1050" dirty="0"/>
          </a:p>
        </p:txBody>
      </p:sp>
      <p:sp>
        <p:nvSpPr>
          <p:cNvPr id="36" name="Shape 34"/>
          <p:cNvSpPr/>
          <p:nvPr/>
        </p:nvSpPr>
        <p:spPr>
          <a:xfrm>
            <a:off x="7035497" y="5138928"/>
            <a:ext cx="1808299" cy="292608"/>
          </a:xfrm>
          <a:prstGeom prst="roundRect">
            <a:avLst>
              <a:gd name="adj" fmla="val 9375"/>
            </a:avLst>
          </a:prstGeom>
          <a:solidFill>
            <a:srgbClr val="F6E2E0"/>
          </a:solidFill>
          <a:ln w="12700">
            <a:solidFill>
              <a:srgbClr val="B4443A"/>
            </a:solidFill>
            <a:prstDash val="solid"/>
          </a:ln>
        </p:spPr>
        <p:txBody>
          <a:bodyPr/>
          <a:lstStyle/>
          <a:p>
            <a:endParaRPr lang="en-US"/>
          </a:p>
        </p:txBody>
      </p:sp>
      <p:sp>
        <p:nvSpPr>
          <p:cNvPr id="37" name="Text 35"/>
          <p:cNvSpPr/>
          <p:nvPr/>
        </p:nvSpPr>
        <p:spPr>
          <a:xfrm>
            <a:off x="7035497" y="5138928"/>
            <a:ext cx="1808299" cy="292608"/>
          </a:xfrm>
          <a:prstGeom prst="rect">
            <a:avLst/>
          </a:prstGeom>
          <a:noFill/>
          <a:ln/>
        </p:spPr>
        <p:txBody>
          <a:bodyPr wrap="square" lIns="0" tIns="0" rIns="0" bIns="0" rtlCol="0" anchor="ctr"/>
          <a:lstStyle/>
          <a:p>
            <a:pPr marL="0" indent="0" algn="ctr">
              <a:buNone/>
            </a:pPr>
            <a:r>
              <a:rPr lang="en-US" sz="900" b="1" dirty="0">
                <a:solidFill>
                  <a:srgbClr val="B4443A"/>
                </a:solidFill>
                <a:latin typeface="Calibri" pitchFamily="34" charset="0"/>
                <a:ea typeface="Calibri" pitchFamily="34" charset="-122"/>
                <a:cs typeface="Calibri" pitchFamily="34" charset="-120"/>
              </a:rPr>
              <a:t>held a whole frame period</a:t>
            </a:r>
            <a:endParaRPr lang="en-US" sz="900" dirty="0"/>
          </a:p>
        </p:txBody>
      </p:sp>
      <p:sp>
        <p:nvSpPr>
          <p:cNvPr id="38" name="Shape 36"/>
          <p:cNvSpPr/>
          <p:nvPr/>
        </p:nvSpPr>
        <p:spPr>
          <a:xfrm>
            <a:off x="8843796" y="5138928"/>
            <a:ext cx="1808462" cy="292608"/>
          </a:xfrm>
          <a:prstGeom prst="roundRect">
            <a:avLst>
              <a:gd name="adj" fmla="val 9375"/>
            </a:avLst>
          </a:prstGeom>
          <a:solidFill>
            <a:srgbClr val="C2A33B"/>
          </a:solidFill>
          <a:ln w="12700">
            <a:solidFill>
              <a:srgbClr val="C2A33B"/>
            </a:solidFill>
            <a:prstDash val="solid"/>
          </a:ln>
        </p:spPr>
        <p:txBody>
          <a:bodyPr/>
          <a:lstStyle/>
          <a:p>
            <a:endParaRPr lang="en-US"/>
          </a:p>
        </p:txBody>
      </p:sp>
      <p:sp>
        <p:nvSpPr>
          <p:cNvPr id="39" name="Text 37"/>
          <p:cNvSpPr/>
          <p:nvPr/>
        </p:nvSpPr>
        <p:spPr>
          <a:xfrm>
            <a:off x="8843796" y="5138928"/>
            <a:ext cx="180846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104.9 ms after capture</a:t>
            </a:r>
            <a:endParaRPr lang="en-US" sz="900" dirty="0"/>
          </a:p>
        </p:txBody>
      </p:sp>
      <p:sp>
        <p:nvSpPr>
          <p:cNvPr id="40" name="Shape 38"/>
          <p:cNvSpPr/>
          <p:nvPr/>
        </p:nvSpPr>
        <p:spPr>
          <a:xfrm>
            <a:off x="7016508" y="3950208"/>
            <a:ext cx="0" cy="1517904"/>
          </a:xfrm>
          <a:prstGeom prst="line">
            <a:avLst/>
          </a:prstGeom>
          <a:noFill/>
          <a:ln w="15875">
            <a:solidFill>
              <a:srgbClr val="B4443A"/>
            </a:solidFill>
            <a:prstDash val="dash"/>
          </a:ln>
        </p:spPr>
        <p:txBody>
          <a:bodyPr/>
          <a:lstStyle/>
          <a:p>
            <a:endParaRPr lang="en-US"/>
          </a:p>
        </p:txBody>
      </p:sp>
      <p:sp>
        <p:nvSpPr>
          <p:cNvPr id="41" name="Text 39"/>
          <p:cNvSpPr/>
          <p:nvPr/>
        </p:nvSpPr>
        <p:spPr>
          <a:xfrm>
            <a:off x="6102108" y="3675888"/>
            <a:ext cx="1828800" cy="237744"/>
          </a:xfrm>
          <a:prstGeom prst="rect">
            <a:avLst/>
          </a:prstGeom>
          <a:noFill/>
          <a:ln/>
        </p:spPr>
        <p:txBody>
          <a:bodyPr wrap="square" lIns="0" tIns="0" rIns="0" bIns="0" rtlCol="0" anchor="ctr"/>
          <a:lstStyle/>
          <a:p>
            <a:pPr marL="0" indent="0" algn="ctr">
              <a:buNone/>
            </a:pPr>
            <a:r>
              <a:rPr lang="en-US" sz="900" b="1" dirty="0">
                <a:solidFill>
                  <a:srgbClr val="B4443A"/>
                </a:solidFill>
                <a:latin typeface="Calibri" pitchFamily="34" charset="0"/>
                <a:ea typeface="Calibri" pitchFamily="34" charset="-122"/>
                <a:cs typeface="Calibri" pitchFamily="34" charset="-120"/>
              </a:rPr>
              <a:t>edge missed by 0.35 ms</a:t>
            </a:r>
            <a:endParaRPr lang="en-US" sz="900" dirty="0"/>
          </a:p>
        </p:txBody>
      </p:sp>
      <p:sp>
        <p:nvSpPr>
          <p:cNvPr id="42" name="Shape 40"/>
          <p:cNvSpPr/>
          <p:nvPr/>
        </p:nvSpPr>
        <p:spPr>
          <a:xfrm>
            <a:off x="8843796" y="3950208"/>
            <a:ext cx="0" cy="1517904"/>
          </a:xfrm>
          <a:prstGeom prst="line">
            <a:avLst/>
          </a:prstGeom>
          <a:noFill/>
          <a:ln w="15875">
            <a:solidFill>
              <a:srgbClr val="C2A33B"/>
            </a:solidFill>
            <a:prstDash val="dash"/>
          </a:ln>
        </p:spPr>
        <p:txBody>
          <a:bodyPr/>
          <a:lstStyle/>
          <a:p>
            <a:endParaRPr lang="en-US"/>
          </a:p>
        </p:txBody>
      </p:sp>
      <p:sp>
        <p:nvSpPr>
          <p:cNvPr id="43" name="Text 41"/>
          <p:cNvSpPr/>
          <p:nvPr/>
        </p:nvSpPr>
        <p:spPr>
          <a:xfrm>
            <a:off x="7929396" y="3675888"/>
            <a:ext cx="1828800" cy="237744"/>
          </a:xfrm>
          <a:prstGeom prst="rect">
            <a:avLst/>
          </a:prstGeom>
          <a:noFill/>
          <a:ln/>
        </p:spPr>
        <p:txBody>
          <a:bodyPr wrap="square" lIns="0" tIns="0" rIns="0" bIns="0" rtlCol="0" anchor="ctr"/>
          <a:lstStyle/>
          <a:p>
            <a:pPr marL="0" indent="0" algn="ctr">
              <a:buNone/>
            </a:pPr>
            <a:r>
              <a:rPr lang="en-US" sz="900" b="1" dirty="0">
                <a:solidFill>
                  <a:srgbClr val="C2A33B"/>
                </a:solidFill>
                <a:latin typeface="Calibri" pitchFamily="34" charset="0"/>
                <a:ea typeface="Calibri" pitchFamily="34" charset="-122"/>
                <a:cs typeface="Calibri" pitchFamily="34" charset="-120"/>
              </a:rPr>
              <a:t>next edge</a:t>
            </a:r>
            <a:endParaRPr lang="en-US" sz="900" dirty="0"/>
          </a:p>
        </p:txBody>
      </p:sp>
      <p:sp>
        <p:nvSpPr>
          <p:cNvPr id="44" name="Shape 42"/>
          <p:cNvSpPr/>
          <p:nvPr/>
        </p:nvSpPr>
        <p:spPr>
          <a:xfrm>
            <a:off x="3154680" y="5815584"/>
            <a:ext cx="8138160" cy="0"/>
          </a:xfrm>
          <a:prstGeom prst="line">
            <a:avLst/>
          </a:prstGeom>
          <a:noFill/>
          <a:ln w="12700">
            <a:solidFill>
              <a:srgbClr val="6B7C97"/>
            </a:solidFill>
            <a:prstDash val="solid"/>
          </a:ln>
        </p:spPr>
        <p:txBody>
          <a:bodyPr/>
          <a:lstStyle/>
          <a:p>
            <a:endParaRPr lang="en-US"/>
          </a:p>
        </p:txBody>
      </p:sp>
      <p:sp>
        <p:nvSpPr>
          <p:cNvPr id="45" name="Shape 43"/>
          <p:cNvSpPr/>
          <p:nvPr/>
        </p:nvSpPr>
        <p:spPr>
          <a:xfrm>
            <a:off x="3154680" y="5733288"/>
            <a:ext cx="0" cy="82296"/>
          </a:xfrm>
          <a:prstGeom prst="line">
            <a:avLst/>
          </a:prstGeom>
          <a:noFill/>
          <a:ln w="12700">
            <a:solidFill>
              <a:srgbClr val="6B7C97"/>
            </a:solidFill>
            <a:prstDash val="solid"/>
          </a:ln>
        </p:spPr>
        <p:txBody>
          <a:bodyPr/>
          <a:lstStyle/>
          <a:p>
            <a:endParaRPr lang="en-US"/>
          </a:p>
        </p:txBody>
      </p:sp>
      <p:sp>
        <p:nvSpPr>
          <p:cNvPr id="46" name="Text 44"/>
          <p:cNvSpPr/>
          <p:nvPr/>
        </p:nvSpPr>
        <p:spPr>
          <a:xfrm>
            <a:off x="2770632" y="5504688"/>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0.0</a:t>
            </a:r>
            <a:endParaRPr lang="en-US" sz="850" dirty="0"/>
          </a:p>
        </p:txBody>
      </p:sp>
      <p:sp>
        <p:nvSpPr>
          <p:cNvPr id="47" name="Shape 45"/>
          <p:cNvSpPr/>
          <p:nvPr/>
        </p:nvSpPr>
        <p:spPr>
          <a:xfrm>
            <a:off x="4963142" y="5733288"/>
            <a:ext cx="0" cy="82296"/>
          </a:xfrm>
          <a:prstGeom prst="line">
            <a:avLst/>
          </a:prstGeom>
          <a:noFill/>
          <a:ln w="12700">
            <a:solidFill>
              <a:srgbClr val="6B7C97"/>
            </a:solidFill>
            <a:prstDash val="solid"/>
          </a:ln>
        </p:spPr>
        <p:txBody>
          <a:bodyPr/>
          <a:lstStyle/>
          <a:p>
            <a:endParaRPr lang="en-US"/>
          </a:p>
        </p:txBody>
      </p:sp>
      <p:sp>
        <p:nvSpPr>
          <p:cNvPr id="48" name="Text 46"/>
          <p:cNvSpPr/>
          <p:nvPr/>
        </p:nvSpPr>
        <p:spPr>
          <a:xfrm>
            <a:off x="4579094" y="5504688"/>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33.3</a:t>
            </a:r>
            <a:endParaRPr lang="en-US" sz="850" dirty="0"/>
          </a:p>
        </p:txBody>
      </p:sp>
      <p:sp>
        <p:nvSpPr>
          <p:cNvPr id="49" name="Shape 47"/>
          <p:cNvSpPr/>
          <p:nvPr/>
        </p:nvSpPr>
        <p:spPr>
          <a:xfrm>
            <a:off x="6771604" y="5733288"/>
            <a:ext cx="0" cy="82296"/>
          </a:xfrm>
          <a:prstGeom prst="line">
            <a:avLst/>
          </a:prstGeom>
          <a:noFill/>
          <a:ln w="12700">
            <a:solidFill>
              <a:srgbClr val="6B7C97"/>
            </a:solidFill>
            <a:prstDash val="solid"/>
          </a:ln>
        </p:spPr>
        <p:txBody>
          <a:bodyPr/>
          <a:lstStyle/>
          <a:p>
            <a:endParaRPr lang="en-US"/>
          </a:p>
        </p:txBody>
      </p:sp>
      <p:sp>
        <p:nvSpPr>
          <p:cNvPr id="50" name="Text 48"/>
          <p:cNvSpPr/>
          <p:nvPr/>
        </p:nvSpPr>
        <p:spPr>
          <a:xfrm>
            <a:off x="6387556" y="5504688"/>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66.7</a:t>
            </a:r>
            <a:endParaRPr lang="en-US" sz="850" dirty="0"/>
          </a:p>
        </p:txBody>
      </p:sp>
      <p:sp>
        <p:nvSpPr>
          <p:cNvPr id="51" name="Shape 49"/>
          <p:cNvSpPr/>
          <p:nvPr/>
        </p:nvSpPr>
        <p:spPr>
          <a:xfrm>
            <a:off x="8580066" y="5733288"/>
            <a:ext cx="0" cy="82296"/>
          </a:xfrm>
          <a:prstGeom prst="line">
            <a:avLst/>
          </a:prstGeom>
          <a:noFill/>
          <a:ln w="12700">
            <a:solidFill>
              <a:srgbClr val="6B7C97"/>
            </a:solidFill>
            <a:prstDash val="solid"/>
          </a:ln>
        </p:spPr>
        <p:txBody>
          <a:bodyPr/>
          <a:lstStyle/>
          <a:p>
            <a:endParaRPr lang="en-US"/>
          </a:p>
        </p:txBody>
      </p:sp>
      <p:sp>
        <p:nvSpPr>
          <p:cNvPr id="52" name="Text 50"/>
          <p:cNvSpPr/>
          <p:nvPr/>
        </p:nvSpPr>
        <p:spPr>
          <a:xfrm>
            <a:off x="8196018" y="5504688"/>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100.0</a:t>
            </a:r>
            <a:endParaRPr lang="en-US" sz="850" dirty="0"/>
          </a:p>
        </p:txBody>
      </p:sp>
      <p:sp>
        <p:nvSpPr>
          <p:cNvPr id="53" name="Shape 51"/>
          <p:cNvSpPr/>
          <p:nvPr/>
        </p:nvSpPr>
        <p:spPr>
          <a:xfrm>
            <a:off x="10388528" y="5733288"/>
            <a:ext cx="0" cy="82296"/>
          </a:xfrm>
          <a:prstGeom prst="line">
            <a:avLst/>
          </a:prstGeom>
          <a:noFill/>
          <a:ln w="12700">
            <a:solidFill>
              <a:srgbClr val="6B7C97"/>
            </a:solidFill>
            <a:prstDash val="solid"/>
          </a:ln>
        </p:spPr>
        <p:txBody>
          <a:bodyPr/>
          <a:lstStyle/>
          <a:p>
            <a:endParaRPr lang="en-US"/>
          </a:p>
        </p:txBody>
      </p:sp>
      <p:sp>
        <p:nvSpPr>
          <p:cNvPr id="54" name="Text 52"/>
          <p:cNvSpPr/>
          <p:nvPr/>
        </p:nvSpPr>
        <p:spPr>
          <a:xfrm>
            <a:off x="10004480" y="5504688"/>
            <a:ext cx="768096" cy="219456"/>
          </a:xfrm>
          <a:prstGeom prst="rect">
            <a:avLst/>
          </a:prstGeom>
          <a:noFill/>
          <a:ln/>
        </p:spPr>
        <p:txBody>
          <a:bodyPr wrap="square" lIns="0" tIns="0" rIns="0" bIns="0" rtlCol="0" anchor="ctr"/>
          <a:lstStyle/>
          <a:p>
            <a:pPr marL="0" indent="0" algn="ctr">
              <a:buNone/>
            </a:pPr>
            <a:r>
              <a:rPr lang="en-US" sz="850" dirty="0">
                <a:solidFill>
                  <a:srgbClr val="6B7C97"/>
                </a:solidFill>
                <a:latin typeface="Calibri" pitchFamily="34" charset="0"/>
                <a:ea typeface="Calibri" pitchFamily="34" charset="-122"/>
                <a:cs typeface="Calibri" pitchFamily="34" charset="-120"/>
              </a:rPr>
              <a:t>133.3</a:t>
            </a:r>
            <a:endParaRPr lang="en-US" sz="850" dirty="0"/>
          </a:p>
        </p:txBody>
      </p:sp>
      <p:sp>
        <p:nvSpPr>
          <p:cNvPr id="55" name="Text 53"/>
          <p:cNvSpPr/>
          <p:nvPr/>
        </p:nvSpPr>
        <p:spPr>
          <a:xfrm>
            <a:off x="548640" y="5943600"/>
            <a:ext cx="11109960" cy="457200"/>
          </a:xfrm>
          <a:prstGeom prst="rect">
            <a:avLst/>
          </a:prstGeom>
          <a:noFill/>
          <a:ln/>
        </p:spPr>
        <p:txBody>
          <a:bodyPr wrap="square" lIns="0" tIns="0" rIns="0" bIns="0" rtlCol="0" anchor="t"/>
          <a:lstStyle/>
          <a:p>
            <a:pPr marL="0" indent="0">
              <a:buNone/>
            </a:pPr>
            <a:r>
              <a:rPr lang="en-US" sz="1150" i="1" dirty="0">
                <a:solidFill>
                  <a:srgbClr val="6B7C97"/>
                </a:solidFill>
                <a:latin typeface="Calibri" pitchFamily="34" charset="0"/>
                <a:ea typeface="Calibri" pitchFamily="34" charset="-122"/>
                <a:cs typeface="Calibri" pitchFamily="34" charset="-120"/>
              </a:rPr>
              <a:t>With the earlier two-bank output framebuffer a missed edge cost more than a late frame: the frame waiting to be published also blocked the NEXT render from starting, so one miss threw away a whole camera frame and the mode settled at half rate. The third output bank removes that blocking - the render behind it now proceeds regardless.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OPTICAL EVIDENCE</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Frame rate, measured off the SDI output</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marL="0" indent="0">
              <a:buNone/>
            </a:pPr>
            <a:r>
              <a:rPr lang="en-US" sz="1300" dirty="0">
                <a:solidFill>
                  <a:srgbClr val="27374F"/>
                </a:solidFill>
                <a:latin typeface="Calibri" pitchFamily="34" charset="0"/>
                <a:ea typeface="Calibri" pitchFamily="34" charset="-122"/>
                <a:cs typeface="Calibri" pitchFamily="34" charset="-120"/>
              </a:rPr>
              <a:t>Grab the output at 60 fps, hash each frame, and count how often the picture changes. Repeat runs of 2 mean 30 fps; runs of 4 mean 15.</a:t>
            </a:r>
            <a:endParaRPr lang="en-US" sz="1300" dirty="0"/>
          </a:p>
        </p:txBody>
      </p:sp>
      <p:sp>
        <p:nvSpPr>
          <p:cNvPr id="5" name="Text 3"/>
          <p:cNvSpPr/>
          <p:nvPr/>
        </p:nvSpPr>
        <p:spPr>
          <a:xfrm>
            <a:off x="548640" y="1572768"/>
            <a:ext cx="2468880" cy="310896"/>
          </a:xfrm>
          <a:prstGeom prst="rect">
            <a:avLst/>
          </a:prstGeom>
          <a:noFill/>
          <a:ln/>
        </p:spPr>
        <p:txBody>
          <a:bodyPr wrap="square" lIns="0" tIns="0" rIns="0" bIns="0" rtlCol="0" anchor="ctr"/>
          <a:lstStyle/>
          <a:p>
            <a:pPr marL="0" indent="0" algn="l">
              <a:buNone/>
            </a:pPr>
            <a:r>
              <a:rPr lang="en-US" sz="1050" b="1" dirty="0">
                <a:solidFill>
                  <a:srgbClr val="6B7C97"/>
                </a:solidFill>
                <a:latin typeface="Calibri" pitchFamily="34" charset="0"/>
                <a:ea typeface="Calibri" pitchFamily="34" charset="-122"/>
                <a:cs typeface="Calibri" pitchFamily="34" charset="-120"/>
              </a:rPr>
              <a:t>Mode</a:t>
            </a:r>
            <a:endParaRPr lang="en-US" sz="1050" dirty="0"/>
          </a:p>
        </p:txBody>
      </p:sp>
      <p:sp>
        <p:nvSpPr>
          <p:cNvPr id="6" name="Text 4"/>
          <p:cNvSpPr/>
          <p:nvPr/>
        </p:nvSpPr>
        <p:spPr>
          <a:xfrm>
            <a:off x="3017520" y="1572768"/>
            <a:ext cx="169164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Camera delivers</a:t>
            </a:r>
            <a:endParaRPr lang="en-US" sz="1050" dirty="0"/>
          </a:p>
        </p:txBody>
      </p:sp>
      <p:sp>
        <p:nvSpPr>
          <p:cNvPr id="7" name="Text 5"/>
          <p:cNvSpPr/>
          <p:nvPr/>
        </p:nvSpPr>
        <p:spPr>
          <a:xfrm>
            <a:off x="4709160" y="1572768"/>
            <a:ext cx="214884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New frames/s on screen</a:t>
            </a:r>
            <a:endParaRPr lang="en-US" sz="1050" dirty="0"/>
          </a:p>
        </p:txBody>
      </p:sp>
      <p:sp>
        <p:nvSpPr>
          <p:cNvPr id="8" name="Text 6"/>
          <p:cNvSpPr/>
          <p:nvPr/>
        </p:nvSpPr>
        <p:spPr>
          <a:xfrm>
            <a:off x="6858000" y="1572768"/>
            <a:ext cx="306324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Repeat-run distribution</a:t>
            </a:r>
            <a:endParaRPr lang="en-US" sz="1050" dirty="0"/>
          </a:p>
        </p:txBody>
      </p:sp>
      <p:sp>
        <p:nvSpPr>
          <p:cNvPr id="9" name="Text 7"/>
          <p:cNvSpPr/>
          <p:nvPr/>
        </p:nvSpPr>
        <p:spPr>
          <a:xfrm>
            <a:off x="9921240" y="1572768"/>
            <a:ext cx="173736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Verdict</a:t>
            </a:r>
            <a:endParaRPr lang="en-US" sz="1050" dirty="0"/>
          </a:p>
        </p:txBody>
      </p:sp>
      <p:sp>
        <p:nvSpPr>
          <p:cNvPr id="10" name="Shape 8"/>
          <p:cNvSpPr/>
          <p:nvPr/>
        </p:nvSpPr>
        <p:spPr>
          <a:xfrm>
            <a:off x="548640" y="1901952"/>
            <a:ext cx="11109960" cy="0"/>
          </a:xfrm>
          <a:prstGeom prst="line">
            <a:avLst/>
          </a:prstGeom>
          <a:noFill/>
          <a:ln w="12700">
            <a:solidFill>
              <a:srgbClr val="D3DCEA"/>
            </a:solidFill>
            <a:prstDash val="solid"/>
          </a:ln>
        </p:spPr>
        <p:txBody>
          <a:bodyPr/>
          <a:lstStyle/>
          <a:p>
            <a:endParaRPr lang="en-US"/>
          </a:p>
        </p:txBody>
      </p:sp>
      <p:sp>
        <p:nvSpPr>
          <p:cNvPr id="11" name="Text 9"/>
          <p:cNvSpPr/>
          <p:nvPr/>
        </p:nvSpPr>
        <p:spPr>
          <a:xfrm>
            <a:off x="548640" y="19751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IR single</a:t>
            </a:r>
            <a:endParaRPr lang="en-US" sz="1050" dirty="0"/>
          </a:p>
        </p:txBody>
      </p:sp>
      <p:sp>
        <p:nvSpPr>
          <p:cNvPr id="12" name="Text 10"/>
          <p:cNvSpPr/>
          <p:nvPr/>
        </p:nvSpPr>
        <p:spPr>
          <a:xfrm>
            <a:off x="3017520" y="19751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13" name="Text 11"/>
          <p:cNvSpPr/>
          <p:nvPr/>
        </p:nvSpPr>
        <p:spPr>
          <a:xfrm>
            <a:off x="4709160" y="19751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29.81</a:t>
            </a:r>
            <a:endParaRPr lang="en-US" sz="1050" dirty="0"/>
          </a:p>
        </p:txBody>
      </p:sp>
      <p:sp>
        <p:nvSpPr>
          <p:cNvPr id="14" name="Text 12"/>
          <p:cNvSpPr/>
          <p:nvPr/>
        </p:nvSpPr>
        <p:spPr>
          <a:xfrm>
            <a:off x="6858000" y="19751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352</a:t>
            </a:r>
            <a:endParaRPr lang="en-US" sz="1050" dirty="0"/>
          </a:p>
        </p:txBody>
      </p:sp>
      <p:sp>
        <p:nvSpPr>
          <p:cNvPr id="15" name="Text 13"/>
          <p:cNvSpPr/>
          <p:nvPr/>
        </p:nvSpPr>
        <p:spPr>
          <a:xfrm>
            <a:off x="9921240" y="19751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16" name="Shape 14"/>
          <p:cNvSpPr/>
          <p:nvPr/>
        </p:nvSpPr>
        <p:spPr>
          <a:xfrm>
            <a:off x="475488" y="2290572"/>
            <a:ext cx="11256264" cy="324612"/>
          </a:xfrm>
          <a:prstGeom prst="rect">
            <a:avLst/>
          </a:prstGeom>
          <a:solidFill>
            <a:srgbClr val="F2F5FA"/>
          </a:solidFill>
          <a:ln w="12700">
            <a:solidFill>
              <a:srgbClr val="333333"/>
            </a:solidFill>
            <a:prstDash val="solid"/>
          </a:ln>
        </p:spPr>
        <p:txBody>
          <a:bodyPr/>
          <a:lstStyle/>
          <a:p>
            <a:endParaRPr lang="en-US"/>
          </a:p>
        </p:txBody>
      </p:sp>
      <p:sp>
        <p:nvSpPr>
          <p:cNvPr id="17" name="Text 15"/>
          <p:cNvSpPr/>
          <p:nvPr/>
        </p:nvSpPr>
        <p:spPr>
          <a:xfrm>
            <a:off x="548640" y="23180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IR panorama</a:t>
            </a:r>
            <a:endParaRPr lang="en-US" sz="1050" dirty="0"/>
          </a:p>
        </p:txBody>
      </p:sp>
      <p:sp>
        <p:nvSpPr>
          <p:cNvPr id="18" name="Text 16"/>
          <p:cNvSpPr/>
          <p:nvPr/>
        </p:nvSpPr>
        <p:spPr>
          <a:xfrm>
            <a:off x="3017520" y="23180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19" name="Text 17"/>
          <p:cNvSpPr/>
          <p:nvPr/>
        </p:nvSpPr>
        <p:spPr>
          <a:xfrm>
            <a:off x="4709160" y="23180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29.97</a:t>
            </a:r>
            <a:endParaRPr lang="en-US" sz="1050" dirty="0"/>
          </a:p>
        </p:txBody>
      </p:sp>
      <p:sp>
        <p:nvSpPr>
          <p:cNvPr id="20" name="Text 18"/>
          <p:cNvSpPr/>
          <p:nvPr/>
        </p:nvSpPr>
        <p:spPr>
          <a:xfrm>
            <a:off x="6858000" y="23180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359</a:t>
            </a:r>
            <a:endParaRPr lang="en-US" sz="1050" dirty="0"/>
          </a:p>
        </p:txBody>
      </p:sp>
      <p:sp>
        <p:nvSpPr>
          <p:cNvPr id="21" name="Text 19"/>
          <p:cNvSpPr/>
          <p:nvPr/>
        </p:nvSpPr>
        <p:spPr>
          <a:xfrm>
            <a:off x="9921240" y="23180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22" name="Text 20"/>
          <p:cNvSpPr/>
          <p:nvPr/>
        </p:nvSpPr>
        <p:spPr>
          <a:xfrm>
            <a:off x="548640" y="26609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  cam 1</a:t>
            </a:r>
            <a:endParaRPr lang="en-US" sz="1050" dirty="0"/>
          </a:p>
        </p:txBody>
      </p:sp>
      <p:sp>
        <p:nvSpPr>
          <p:cNvPr id="23" name="Text 21"/>
          <p:cNvSpPr/>
          <p:nvPr/>
        </p:nvSpPr>
        <p:spPr>
          <a:xfrm>
            <a:off x="3017520" y="26609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24" name="Text 22"/>
          <p:cNvSpPr/>
          <p:nvPr/>
        </p:nvSpPr>
        <p:spPr>
          <a:xfrm>
            <a:off x="4709160" y="26609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29.89</a:t>
            </a:r>
            <a:endParaRPr lang="en-US" sz="1050" dirty="0"/>
          </a:p>
        </p:txBody>
      </p:sp>
      <p:sp>
        <p:nvSpPr>
          <p:cNvPr id="25" name="Text 23"/>
          <p:cNvSpPr/>
          <p:nvPr/>
        </p:nvSpPr>
        <p:spPr>
          <a:xfrm>
            <a:off x="6858000" y="26609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357</a:t>
            </a:r>
            <a:endParaRPr lang="en-US" sz="1050" dirty="0"/>
          </a:p>
        </p:txBody>
      </p:sp>
      <p:sp>
        <p:nvSpPr>
          <p:cNvPr id="26" name="Text 24"/>
          <p:cNvSpPr/>
          <p:nvPr/>
        </p:nvSpPr>
        <p:spPr>
          <a:xfrm>
            <a:off x="9921240" y="26609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27" name="Shape 25"/>
          <p:cNvSpPr/>
          <p:nvPr/>
        </p:nvSpPr>
        <p:spPr>
          <a:xfrm>
            <a:off x="475488" y="2976372"/>
            <a:ext cx="11256264" cy="324612"/>
          </a:xfrm>
          <a:prstGeom prst="rect">
            <a:avLst/>
          </a:prstGeom>
          <a:solidFill>
            <a:srgbClr val="F2F5FA"/>
          </a:solidFill>
          <a:ln w="12700">
            <a:solidFill>
              <a:srgbClr val="333333"/>
            </a:solidFill>
            <a:prstDash val="solid"/>
          </a:ln>
        </p:spPr>
        <p:txBody>
          <a:bodyPr/>
          <a:lstStyle/>
          <a:p>
            <a:endParaRPr lang="en-US"/>
          </a:p>
        </p:txBody>
      </p:sp>
      <p:sp>
        <p:nvSpPr>
          <p:cNvPr id="28" name="Text 26"/>
          <p:cNvSpPr/>
          <p:nvPr/>
        </p:nvSpPr>
        <p:spPr>
          <a:xfrm>
            <a:off x="548640" y="30038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  cam 2</a:t>
            </a:r>
            <a:endParaRPr lang="en-US" sz="1050" dirty="0"/>
          </a:p>
        </p:txBody>
      </p:sp>
      <p:sp>
        <p:nvSpPr>
          <p:cNvPr id="29" name="Text 27"/>
          <p:cNvSpPr/>
          <p:nvPr/>
        </p:nvSpPr>
        <p:spPr>
          <a:xfrm>
            <a:off x="3017520" y="30038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30" name="Text 28"/>
          <p:cNvSpPr/>
          <p:nvPr/>
        </p:nvSpPr>
        <p:spPr>
          <a:xfrm>
            <a:off x="4709160" y="30038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29.06</a:t>
            </a:r>
            <a:endParaRPr lang="en-US" sz="1050" dirty="0"/>
          </a:p>
        </p:txBody>
      </p:sp>
      <p:sp>
        <p:nvSpPr>
          <p:cNvPr id="31" name="Text 29"/>
          <p:cNvSpPr/>
          <p:nvPr/>
        </p:nvSpPr>
        <p:spPr>
          <a:xfrm>
            <a:off x="6858000" y="30038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337,  4 × 11</a:t>
            </a:r>
            <a:endParaRPr lang="en-US" sz="1050" dirty="0"/>
          </a:p>
        </p:txBody>
      </p:sp>
      <p:sp>
        <p:nvSpPr>
          <p:cNvPr id="32" name="Text 30"/>
          <p:cNvSpPr/>
          <p:nvPr/>
        </p:nvSpPr>
        <p:spPr>
          <a:xfrm>
            <a:off x="9921240" y="30038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33" name="Text 31"/>
          <p:cNvSpPr/>
          <p:nvPr/>
        </p:nvSpPr>
        <p:spPr>
          <a:xfrm>
            <a:off x="548640" y="33467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  cam 3</a:t>
            </a:r>
            <a:endParaRPr lang="en-US" sz="1050" dirty="0"/>
          </a:p>
        </p:txBody>
      </p:sp>
      <p:sp>
        <p:nvSpPr>
          <p:cNvPr id="34" name="Text 32"/>
          <p:cNvSpPr/>
          <p:nvPr/>
        </p:nvSpPr>
        <p:spPr>
          <a:xfrm>
            <a:off x="3017520" y="33467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35" name="Text 33"/>
          <p:cNvSpPr/>
          <p:nvPr/>
        </p:nvSpPr>
        <p:spPr>
          <a:xfrm>
            <a:off x="4709160" y="33467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29.23</a:t>
            </a:r>
            <a:endParaRPr lang="en-US" sz="1050" dirty="0"/>
          </a:p>
        </p:txBody>
      </p:sp>
      <p:sp>
        <p:nvSpPr>
          <p:cNvPr id="36" name="Text 34"/>
          <p:cNvSpPr/>
          <p:nvPr/>
        </p:nvSpPr>
        <p:spPr>
          <a:xfrm>
            <a:off x="6858000" y="33467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344,  4 × 5</a:t>
            </a:r>
            <a:endParaRPr lang="en-US" sz="1050" dirty="0"/>
          </a:p>
        </p:txBody>
      </p:sp>
      <p:sp>
        <p:nvSpPr>
          <p:cNvPr id="37" name="Text 35"/>
          <p:cNvSpPr/>
          <p:nvPr/>
        </p:nvSpPr>
        <p:spPr>
          <a:xfrm>
            <a:off x="9921240" y="33467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38" name="Shape 36"/>
          <p:cNvSpPr/>
          <p:nvPr/>
        </p:nvSpPr>
        <p:spPr>
          <a:xfrm>
            <a:off x="475488" y="3662172"/>
            <a:ext cx="11256264" cy="324612"/>
          </a:xfrm>
          <a:prstGeom prst="rect">
            <a:avLst/>
          </a:prstGeom>
          <a:solidFill>
            <a:srgbClr val="F2F5FA"/>
          </a:solidFill>
          <a:ln w="12700">
            <a:solidFill>
              <a:srgbClr val="333333"/>
            </a:solidFill>
            <a:prstDash val="solid"/>
          </a:ln>
        </p:spPr>
        <p:txBody>
          <a:bodyPr/>
          <a:lstStyle/>
          <a:p>
            <a:endParaRPr lang="en-US"/>
          </a:p>
        </p:txBody>
      </p:sp>
      <p:sp>
        <p:nvSpPr>
          <p:cNvPr id="39" name="Text 37"/>
          <p:cNvSpPr/>
          <p:nvPr/>
        </p:nvSpPr>
        <p:spPr>
          <a:xfrm>
            <a:off x="548640" y="36896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  cam 4</a:t>
            </a:r>
            <a:endParaRPr lang="en-US" sz="1050" dirty="0"/>
          </a:p>
        </p:txBody>
      </p:sp>
      <p:sp>
        <p:nvSpPr>
          <p:cNvPr id="40" name="Text 38"/>
          <p:cNvSpPr/>
          <p:nvPr/>
        </p:nvSpPr>
        <p:spPr>
          <a:xfrm>
            <a:off x="3017520" y="36896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41" name="Text 39"/>
          <p:cNvSpPr/>
          <p:nvPr/>
        </p:nvSpPr>
        <p:spPr>
          <a:xfrm>
            <a:off x="4709160" y="36896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29.56</a:t>
            </a:r>
            <a:endParaRPr lang="en-US" sz="1050" dirty="0"/>
          </a:p>
        </p:txBody>
      </p:sp>
      <p:sp>
        <p:nvSpPr>
          <p:cNvPr id="42" name="Text 40"/>
          <p:cNvSpPr/>
          <p:nvPr/>
        </p:nvSpPr>
        <p:spPr>
          <a:xfrm>
            <a:off x="6858000" y="36896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349,  4 × 5</a:t>
            </a:r>
            <a:endParaRPr lang="en-US" sz="1050" dirty="0"/>
          </a:p>
        </p:txBody>
      </p:sp>
      <p:sp>
        <p:nvSpPr>
          <p:cNvPr id="43" name="Text 41"/>
          <p:cNvSpPr/>
          <p:nvPr/>
        </p:nvSpPr>
        <p:spPr>
          <a:xfrm>
            <a:off x="9921240" y="36896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44" name="Text 42"/>
          <p:cNvSpPr/>
          <p:nvPr/>
        </p:nvSpPr>
        <p:spPr>
          <a:xfrm>
            <a:off x="548640" y="40325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  cam 5</a:t>
            </a:r>
            <a:endParaRPr lang="en-US" sz="1050" dirty="0"/>
          </a:p>
        </p:txBody>
      </p:sp>
      <p:sp>
        <p:nvSpPr>
          <p:cNvPr id="45" name="Text 43"/>
          <p:cNvSpPr/>
          <p:nvPr/>
        </p:nvSpPr>
        <p:spPr>
          <a:xfrm>
            <a:off x="3017520" y="40325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46" name="Text 44"/>
          <p:cNvSpPr/>
          <p:nvPr/>
        </p:nvSpPr>
        <p:spPr>
          <a:xfrm>
            <a:off x="4709160" y="40325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29.73</a:t>
            </a:r>
            <a:endParaRPr lang="en-US" sz="1050" dirty="0"/>
          </a:p>
        </p:txBody>
      </p:sp>
      <p:sp>
        <p:nvSpPr>
          <p:cNvPr id="47" name="Text 45"/>
          <p:cNvSpPr/>
          <p:nvPr/>
        </p:nvSpPr>
        <p:spPr>
          <a:xfrm>
            <a:off x="6858000" y="40325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356,  4 × 2</a:t>
            </a:r>
            <a:endParaRPr lang="en-US" sz="1050" dirty="0"/>
          </a:p>
        </p:txBody>
      </p:sp>
      <p:sp>
        <p:nvSpPr>
          <p:cNvPr id="48" name="Text 46"/>
          <p:cNvSpPr/>
          <p:nvPr/>
        </p:nvSpPr>
        <p:spPr>
          <a:xfrm>
            <a:off x="9921240" y="40325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49" name="Shape 47"/>
          <p:cNvSpPr/>
          <p:nvPr/>
        </p:nvSpPr>
        <p:spPr>
          <a:xfrm>
            <a:off x="475488" y="4347972"/>
            <a:ext cx="11256264" cy="324612"/>
          </a:xfrm>
          <a:prstGeom prst="rect">
            <a:avLst/>
          </a:prstGeom>
          <a:solidFill>
            <a:srgbClr val="F2F5FA"/>
          </a:solidFill>
          <a:ln w="12700">
            <a:solidFill>
              <a:srgbClr val="333333"/>
            </a:solidFill>
            <a:prstDash val="solid"/>
          </a:ln>
        </p:spPr>
        <p:txBody>
          <a:bodyPr/>
          <a:lstStyle/>
          <a:p>
            <a:endParaRPr lang="en-US"/>
          </a:p>
        </p:txBody>
      </p:sp>
      <p:sp>
        <p:nvSpPr>
          <p:cNvPr id="50" name="Text 48"/>
          <p:cNvSpPr/>
          <p:nvPr/>
        </p:nvSpPr>
        <p:spPr>
          <a:xfrm>
            <a:off x="548640" y="43754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  cam 6</a:t>
            </a:r>
            <a:endParaRPr lang="en-US" sz="1050" dirty="0"/>
          </a:p>
        </p:txBody>
      </p:sp>
      <p:sp>
        <p:nvSpPr>
          <p:cNvPr id="51" name="Text 49"/>
          <p:cNvSpPr/>
          <p:nvPr/>
        </p:nvSpPr>
        <p:spPr>
          <a:xfrm>
            <a:off x="3017520" y="43754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52" name="Text 50"/>
          <p:cNvSpPr/>
          <p:nvPr/>
        </p:nvSpPr>
        <p:spPr>
          <a:xfrm>
            <a:off x="4709160" y="4375404"/>
            <a:ext cx="2148840" cy="306324"/>
          </a:xfrm>
          <a:prstGeom prst="rect">
            <a:avLst/>
          </a:prstGeom>
          <a:noFill/>
          <a:ln/>
        </p:spPr>
        <p:txBody>
          <a:bodyPr wrap="square" lIns="0" tIns="0" rIns="0" bIns="0" rtlCol="0" anchor="ctr"/>
          <a:lstStyle/>
          <a:p>
            <a:pPr marL="0" indent="0" algn="ctr">
              <a:buNone/>
            </a:pPr>
            <a:r>
              <a:rPr lang="en-US" sz="1050" b="1" dirty="0">
                <a:solidFill>
                  <a:srgbClr val="02A37A"/>
                </a:solidFill>
                <a:latin typeface="Calibri" pitchFamily="34" charset="0"/>
                <a:ea typeface="Calibri" pitchFamily="34" charset="-122"/>
                <a:cs typeface="Calibri" pitchFamily="34" charset="-120"/>
              </a:rPr>
              <a:t>29.56</a:t>
            </a:r>
            <a:endParaRPr lang="en-US" sz="1050" dirty="0"/>
          </a:p>
        </p:txBody>
      </p:sp>
      <p:sp>
        <p:nvSpPr>
          <p:cNvPr id="53" name="Text 51"/>
          <p:cNvSpPr/>
          <p:nvPr/>
        </p:nvSpPr>
        <p:spPr>
          <a:xfrm>
            <a:off x="6858000" y="43754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351,  4 × 4</a:t>
            </a:r>
            <a:endParaRPr lang="en-US" sz="1050" dirty="0"/>
          </a:p>
        </p:txBody>
      </p:sp>
      <p:sp>
        <p:nvSpPr>
          <p:cNvPr id="54" name="Text 52"/>
          <p:cNvSpPr/>
          <p:nvPr/>
        </p:nvSpPr>
        <p:spPr>
          <a:xfrm>
            <a:off x="9921240" y="4375404"/>
            <a:ext cx="1737360" cy="306324"/>
          </a:xfrm>
          <a:prstGeom prst="rect">
            <a:avLst/>
          </a:prstGeom>
          <a:noFill/>
          <a:ln/>
        </p:spPr>
        <p:txBody>
          <a:bodyPr wrap="square" lIns="0" tIns="0" rIns="0" bIns="0" rtlCol="0" anchor="ctr"/>
          <a:lstStyle/>
          <a:p>
            <a:pPr marL="0" indent="0" algn="ctr">
              <a:buNone/>
            </a:pPr>
            <a:r>
              <a:rPr lang="en-US" sz="1050" dirty="0">
                <a:solidFill>
                  <a:srgbClr val="02A37A"/>
                </a:solidFill>
                <a:latin typeface="Calibri" pitchFamily="34" charset="0"/>
                <a:ea typeface="Calibri" pitchFamily="34" charset="-122"/>
                <a:cs typeface="Calibri" pitchFamily="34" charset="-120"/>
              </a:rPr>
              <a:t>at source rate</a:t>
            </a:r>
            <a:endParaRPr lang="en-US" sz="1050" dirty="0"/>
          </a:p>
        </p:txBody>
      </p:sp>
      <p:sp>
        <p:nvSpPr>
          <p:cNvPr id="55" name="Text 53"/>
          <p:cNvSpPr/>
          <p:nvPr/>
        </p:nvSpPr>
        <p:spPr>
          <a:xfrm>
            <a:off x="548640" y="4718304"/>
            <a:ext cx="2468880" cy="306324"/>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panorama</a:t>
            </a:r>
            <a:endParaRPr lang="en-US" sz="1050" dirty="0"/>
          </a:p>
        </p:txBody>
      </p:sp>
      <p:sp>
        <p:nvSpPr>
          <p:cNvPr id="56" name="Text 54"/>
          <p:cNvSpPr/>
          <p:nvPr/>
        </p:nvSpPr>
        <p:spPr>
          <a:xfrm>
            <a:off x="3017520" y="4718304"/>
            <a:ext cx="16916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30</a:t>
            </a:r>
            <a:endParaRPr lang="en-US" sz="1050" dirty="0"/>
          </a:p>
        </p:txBody>
      </p:sp>
      <p:sp>
        <p:nvSpPr>
          <p:cNvPr id="57" name="Text 55"/>
          <p:cNvSpPr/>
          <p:nvPr/>
        </p:nvSpPr>
        <p:spPr>
          <a:xfrm>
            <a:off x="4709160" y="4718304"/>
            <a:ext cx="2148840" cy="306324"/>
          </a:xfrm>
          <a:prstGeom prst="rect">
            <a:avLst/>
          </a:prstGeom>
          <a:noFill/>
          <a:ln/>
        </p:spPr>
        <p:txBody>
          <a:bodyPr wrap="square" lIns="0" tIns="0" rIns="0" bIns="0" rtlCol="0" anchor="ctr"/>
          <a:lstStyle/>
          <a:p>
            <a:pPr marL="0" indent="0" algn="ctr">
              <a:buNone/>
            </a:pPr>
            <a:r>
              <a:rPr lang="en-US" sz="1050" b="1" dirty="0">
                <a:solidFill>
                  <a:srgbClr val="C2A33B"/>
                </a:solidFill>
                <a:latin typeface="Calibri" pitchFamily="34" charset="0"/>
                <a:ea typeface="Calibri" pitchFamily="34" charset="-122"/>
                <a:cs typeface="Calibri" pitchFamily="34" charset="-120"/>
              </a:rPr>
              <a:t>22.90</a:t>
            </a:r>
            <a:endParaRPr lang="en-US" sz="1050" dirty="0"/>
          </a:p>
        </p:txBody>
      </p:sp>
      <p:sp>
        <p:nvSpPr>
          <p:cNvPr id="58" name="Text 56"/>
          <p:cNvSpPr/>
          <p:nvPr/>
        </p:nvSpPr>
        <p:spPr>
          <a:xfrm>
            <a:off x="6858000" y="4718304"/>
            <a:ext cx="3063240" cy="306324"/>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 × 274,  4 × 55,  6 × 22</a:t>
            </a:r>
            <a:endParaRPr lang="en-US" sz="1050" dirty="0"/>
          </a:p>
        </p:txBody>
      </p:sp>
      <p:sp>
        <p:nvSpPr>
          <p:cNvPr id="59" name="Text 57"/>
          <p:cNvSpPr/>
          <p:nvPr/>
        </p:nvSpPr>
        <p:spPr>
          <a:xfrm>
            <a:off x="9921240" y="4718304"/>
            <a:ext cx="1737360" cy="306324"/>
          </a:xfrm>
          <a:prstGeom prst="rect">
            <a:avLst/>
          </a:prstGeom>
          <a:noFill/>
          <a:ln/>
        </p:spPr>
        <p:txBody>
          <a:bodyPr wrap="square" lIns="0" tIns="0" rIns="0" bIns="0" rtlCol="0" anchor="ctr"/>
          <a:lstStyle/>
          <a:p>
            <a:pPr marL="0" indent="0" algn="ctr">
              <a:buNone/>
            </a:pPr>
            <a:r>
              <a:rPr lang="en-US" sz="1050" b="1" dirty="0">
                <a:solidFill>
                  <a:srgbClr val="B4443A"/>
                </a:solidFill>
                <a:latin typeface="Calibri" pitchFamily="34" charset="0"/>
                <a:ea typeface="Calibri" pitchFamily="34" charset="-122"/>
                <a:cs typeface="Calibri" pitchFamily="34" charset="-120"/>
              </a:rPr>
              <a:t>22% of frames slip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WHERE THE LIMIT WAS WRITTEN</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Evidence 1 — the RTL</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marL="0" indent="0">
              <a:buNone/>
            </a:pPr>
            <a:r>
              <a:rPr lang="en-US" sz="1300" dirty="0">
                <a:solidFill>
                  <a:srgbClr val="27374F"/>
                </a:solidFill>
                <a:latin typeface="Calibri" pitchFamily="34" charset="0"/>
                <a:ea typeface="Calibri" pitchFamily="34" charset="-122"/>
                <a:cs typeface="Calibri" pitchFamily="34" charset="-120"/>
              </a:rPr>
              <a:t>The output framebuffer held two banks. A finished frame occupied one until it was displayed, and the rule below refused to start another render until then.</a:t>
            </a:r>
            <a:endParaRPr lang="en-US" sz="1300" dirty="0"/>
          </a:p>
        </p:txBody>
      </p:sp>
      <p:sp>
        <p:nvSpPr>
          <p:cNvPr id="9" name="Shape 7"/>
          <p:cNvSpPr/>
          <p:nvPr/>
        </p:nvSpPr>
        <p:spPr>
          <a:xfrm>
            <a:off x="548640" y="1661220"/>
            <a:ext cx="5394960" cy="1417320"/>
          </a:xfrm>
          <a:prstGeom prst="roundRect">
            <a:avLst>
              <a:gd name="adj" fmla="val 3226"/>
            </a:avLst>
          </a:prstGeom>
          <a:solidFill>
            <a:srgbClr val="1B2A45"/>
          </a:solidFill>
          <a:ln w="15875">
            <a:solidFill>
              <a:srgbClr val="02A37A"/>
            </a:solidFill>
            <a:prstDash val="solid"/>
          </a:ln>
        </p:spPr>
        <p:txBody>
          <a:bodyPr/>
          <a:lstStyle/>
          <a:p>
            <a:endParaRPr lang="en-US"/>
          </a:p>
        </p:txBody>
      </p:sp>
      <p:sp>
        <p:nvSpPr>
          <p:cNvPr id="10" name="Text 8"/>
          <p:cNvSpPr/>
          <p:nvPr/>
        </p:nvSpPr>
        <p:spPr>
          <a:xfrm>
            <a:off x="694944" y="1909602"/>
            <a:ext cx="5102352" cy="1197864"/>
          </a:xfrm>
          <a:prstGeom prst="rect">
            <a:avLst/>
          </a:prstGeom>
          <a:noFill/>
          <a:ln/>
        </p:spPr>
        <p:txBody>
          <a:bodyPr wrap="square" lIns="0" tIns="0" rIns="0" bIns="0" rtlCol="0" anchor="t"/>
          <a:lstStyle/>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wire [2:0] out_bank_busy =</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(1 &lt;&lt; rd_bank) |</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(pending_valid ? (1 &lt;&lt; pending_bank) : 0);</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a:t>
            </a:r>
            <a:endParaRPr lang="en-US" sz="1000" dirty="0"/>
          </a:p>
          <a:p>
            <a:pPr marL="0" indent="0">
              <a:lnSpc>
                <a:spcPct val="106000"/>
              </a:lnSpc>
              <a:buNone/>
            </a:pPr>
            <a:r>
              <a:rPr lang="en-US" sz="1000" dirty="0">
                <a:solidFill>
                  <a:srgbClr val="7E93B5"/>
                </a:solidFill>
                <a:latin typeface="Consolas" pitchFamily="34" charset="0"/>
                <a:ea typeface="Consolas" pitchFamily="34" charset="-122"/>
                <a:cs typeface="Consolas" pitchFamily="34" charset="-120"/>
              </a:rPr>
              <a:t>// three banks, so a free one always exists</a:t>
            </a:r>
            <a:endParaRPr lang="en-US" sz="1000" dirty="0"/>
          </a:p>
        </p:txBody>
      </p:sp>
      <p:sp>
        <p:nvSpPr>
          <p:cNvPr id="11" name="Text 9"/>
          <p:cNvSpPr/>
          <p:nvPr/>
        </p:nvSpPr>
        <p:spPr>
          <a:xfrm>
            <a:off x="548640" y="3456432"/>
            <a:ext cx="11109960" cy="274320"/>
          </a:xfrm>
          <a:prstGeom prst="rect">
            <a:avLst/>
          </a:prstGeom>
          <a:noFill/>
          <a:ln/>
        </p:spPr>
        <p:txBody>
          <a:bodyPr wrap="square" lIns="0" tIns="0" rIns="0" bIns="0" rtlCol="0" anchor="ctr"/>
          <a:lstStyle/>
          <a:p>
            <a:pPr marL="0" indent="0">
              <a:buNone/>
            </a:pPr>
            <a:r>
              <a:rPr lang="en-US" sz="1400" b="1" dirty="0">
                <a:solidFill>
                  <a:srgbClr val="0E1C36"/>
                </a:solidFill>
                <a:latin typeface="Calibri" pitchFamily="34" charset="0"/>
                <a:ea typeface="Calibri" pitchFamily="34" charset="-122"/>
                <a:cs typeface="Calibri" pitchFamily="34" charset="-120"/>
              </a:rPr>
              <a:t>Why that rule cost a whole frame rather than a few milliseconds</a:t>
            </a:r>
            <a:endParaRPr lang="en-US" sz="1400" dirty="0"/>
          </a:p>
        </p:txBody>
      </p:sp>
      <p:sp>
        <p:nvSpPr>
          <p:cNvPr id="12" name="Text 10"/>
          <p:cNvSpPr/>
          <p:nvPr/>
        </p:nvSpPr>
        <p:spPr>
          <a:xfrm>
            <a:off x="548640" y="3767328"/>
            <a:ext cx="11109960" cy="365760"/>
          </a:xfrm>
          <a:prstGeom prst="rect">
            <a:avLst/>
          </a:prstGeom>
          <a:noFill/>
          <a:ln/>
        </p:spPr>
        <p:txBody>
          <a:bodyPr wrap="square" lIns="0" tIns="0" rIns="0" bIns="0" rtlCol="0" anchor="ctr"/>
          <a:lstStyle/>
          <a:p>
            <a:pPr marL="0" indent="0">
              <a:buNone/>
            </a:pPr>
            <a:r>
              <a:rPr lang="en-US" sz="1200" dirty="0">
                <a:solidFill>
                  <a:srgbClr val="27374F"/>
                </a:solidFill>
                <a:latin typeface="Calibri" pitchFamily="34" charset="0"/>
                <a:ea typeface="Calibri" pitchFamily="34" charset="-122"/>
                <a:cs typeface="Calibri" pitchFamily="34" charset="-120"/>
              </a:rPr>
              <a:t>A render cannot be started whenever convenient — its start is locked to the source. For IR panorama the renderer reads the live camera line caches, so it may only begin while the row gate is satisfied:</a:t>
            </a:r>
            <a:endParaRPr lang="en-US" sz="1200" dirty="0"/>
          </a:p>
        </p:txBody>
      </p:sp>
      <p:sp>
        <p:nvSpPr>
          <p:cNvPr id="13" name="Shape 11"/>
          <p:cNvSpPr/>
          <p:nvPr/>
        </p:nvSpPr>
        <p:spPr>
          <a:xfrm>
            <a:off x="548640" y="4169664"/>
            <a:ext cx="6675120" cy="960120"/>
          </a:xfrm>
          <a:prstGeom prst="roundRect">
            <a:avLst>
              <a:gd name="adj" fmla="val 4762"/>
            </a:avLst>
          </a:prstGeom>
          <a:solidFill>
            <a:srgbClr val="1B2A45"/>
          </a:solidFill>
          <a:ln w="15875">
            <a:solidFill>
              <a:srgbClr val="16233A"/>
            </a:solidFill>
            <a:prstDash val="solid"/>
          </a:ln>
        </p:spPr>
        <p:txBody>
          <a:bodyPr/>
          <a:lstStyle/>
          <a:p>
            <a:endParaRPr lang="en-US"/>
          </a:p>
        </p:txBody>
      </p:sp>
      <p:sp>
        <p:nvSpPr>
          <p:cNvPr id="14" name="Text 12"/>
          <p:cNvSpPr/>
          <p:nvPr/>
        </p:nvSpPr>
        <p:spPr>
          <a:xfrm>
            <a:off x="694944" y="4279392"/>
            <a:ext cx="6382512" cy="740664"/>
          </a:xfrm>
          <a:prstGeom prst="rect">
            <a:avLst/>
          </a:prstGeom>
          <a:noFill/>
          <a:ln/>
        </p:spPr>
        <p:txBody>
          <a:bodyPr wrap="square" lIns="0" tIns="0" rIns="0" bIns="0" rtlCol="0" anchor="t"/>
          <a:lstStyle/>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wire row_window_ok = (rows_max &lt;= gate_min_row + 30);</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wire row_ready_now = (rows_min &gt;= need_row) &amp;&amp; row_window_ok;</a:t>
            </a:r>
            <a:endParaRPr lang="en-US" sz="1000" dirty="0"/>
          </a:p>
          <a:p>
            <a:pPr marL="0" indent="0">
              <a:lnSpc>
                <a:spcPct val="106000"/>
              </a:lnSpc>
              <a:buNone/>
            </a:pPr>
            <a:r>
              <a:rPr lang="en-US" sz="1000" dirty="0">
                <a:solidFill>
                  <a:srgbClr val="7E93B5"/>
                </a:solidFill>
                <a:latin typeface="Consolas" pitchFamily="34" charset="0"/>
                <a:ea typeface="Consolas" pitchFamily="34" charset="-122"/>
                <a:cs typeface="Consolas" pitchFamily="34" charset="-120"/>
              </a:rPr>
              <a:t>// rows 34..64 of 512  -&gt;  1.95 ms, once per 33.3 ms camera frame</a:t>
            </a:r>
            <a:endParaRPr lang="en-US" sz="1000" dirty="0"/>
          </a:p>
        </p:txBody>
      </p:sp>
      <p:sp>
        <p:nvSpPr>
          <p:cNvPr id="15" name="Shape 13"/>
          <p:cNvSpPr/>
          <p:nvPr/>
        </p:nvSpPr>
        <p:spPr>
          <a:xfrm>
            <a:off x="7452360" y="4169664"/>
            <a:ext cx="4206240" cy="960120"/>
          </a:xfrm>
          <a:prstGeom prst="roundRect">
            <a:avLst>
              <a:gd name="adj" fmla="val 5714"/>
            </a:avLst>
          </a:prstGeom>
          <a:solidFill>
            <a:srgbClr val="F6E2E0"/>
          </a:solidFill>
          <a:ln w="15875">
            <a:solidFill>
              <a:srgbClr val="B4443A"/>
            </a:solidFill>
            <a:prstDash val="solid"/>
          </a:ln>
        </p:spPr>
        <p:txBody>
          <a:bodyPr/>
          <a:lstStyle/>
          <a:p>
            <a:endParaRPr lang="en-US"/>
          </a:p>
        </p:txBody>
      </p:sp>
      <p:sp>
        <p:nvSpPr>
          <p:cNvPr id="16" name="Text 14"/>
          <p:cNvSpPr/>
          <p:nvPr/>
        </p:nvSpPr>
        <p:spPr>
          <a:xfrm>
            <a:off x="7680960" y="4261104"/>
            <a:ext cx="3749040" cy="777240"/>
          </a:xfrm>
          <a:prstGeom prst="rect">
            <a:avLst/>
          </a:prstGeom>
          <a:noFill/>
          <a:ln/>
        </p:spPr>
        <p:txBody>
          <a:bodyPr wrap="square" lIns="0" tIns="0" rIns="0" bIns="0" rtlCol="0" anchor="ctr"/>
          <a:lstStyle/>
          <a:p>
            <a:pPr marL="0" indent="0">
              <a:buNone/>
            </a:pPr>
            <a:r>
              <a:rPr lang="en-US" sz="1050" b="1" dirty="0">
                <a:solidFill>
                  <a:srgbClr val="0E1C36"/>
                </a:solidFill>
                <a:latin typeface="Calibri" pitchFamily="34" charset="0"/>
                <a:ea typeface="Calibri" pitchFamily="34" charset="-122"/>
                <a:cs typeface="Calibri" pitchFamily="34" charset="-120"/>
              </a:rPr>
              <a:t>Miss that 1.95 ms window and the next chance is a full camera frame away. </a:t>
            </a:r>
            <a:r>
              <a:rPr lang="en-US" sz="1050" dirty="0">
                <a:solidFill>
                  <a:srgbClr val="27374F"/>
                </a:solidFill>
                <a:latin typeface="Calibri" pitchFamily="34" charset="0"/>
                <a:ea typeface="Calibri" pitchFamily="34" charset="-122"/>
                <a:cs typeface="Calibri" pitchFamily="34" charset="-120"/>
              </a:rPr>
              <a:t>That is how a few milliseconds of commit delay turned into exactly half rate.</a:t>
            </a:r>
            <a:endParaRPr lang="en-US" sz="1050" dirty="0"/>
          </a:p>
        </p:txBody>
      </p:sp>
      <p:sp>
        <p:nvSpPr>
          <p:cNvPr id="17" name="Text 15"/>
          <p:cNvSpPr/>
          <p:nvPr/>
        </p:nvSpPr>
        <p:spPr>
          <a:xfrm>
            <a:off x="548640" y="5349240"/>
            <a:ext cx="11109960" cy="457200"/>
          </a:xfrm>
          <a:prstGeom prst="rect">
            <a:avLst/>
          </a:prstGeom>
          <a:noFill/>
          <a:ln/>
        </p:spPr>
        <p:txBody>
          <a:bodyPr wrap="square" lIns="0" tIns="0" rIns="0" bIns="0" rtlCol="0" anchor="t"/>
          <a:lstStyle/>
          <a:p>
            <a:pPr marL="0" indent="0">
              <a:buNone/>
            </a:pPr>
            <a:r>
              <a:rPr lang="en-US" sz="1150" i="1" dirty="0">
                <a:solidFill>
                  <a:srgbClr val="6B7C97"/>
                </a:solidFill>
                <a:latin typeface="Calibri" pitchFamily="34" charset="0"/>
                <a:ea typeface="Calibri" pitchFamily="34" charset="-122"/>
                <a:cs typeface="Calibri" pitchFamily="34" charset="-120"/>
              </a:rPr>
              <a:t>src/PanoramaBase_DdrBlackFrame.v and src/IrV19StreamingRenderer.v. The third bank required moving one address region; it was moved by exactly 8100 × 128 addresses so every camera keeps its DRAM bank assignment.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ILA</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Evidence 2 — the in-fabric timing probe</a:t>
            </a:r>
            <a:endParaRPr lang="en-US" sz="3000" dirty="0"/>
          </a:p>
        </p:txBody>
      </p:sp>
      <p:sp>
        <p:nvSpPr>
          <p:cNvPr id="4" name="Text 2"/>
          <p:cNvSpPr/>
          <p:nvPr/>
        </p:nvSpPr>
        <p:spPr>
          <a:xfrm>
            <a:off x="548640" y="1152144"/>
            <a:ext cx="11109960" cy="457200"/>
          </a:xfrm>
          <a:prstGeom prst="rect">
            <a:avLst/>
          </a:prstGeom>
          <a:noFill/>
          <a:ln/>
        </p:spPr>
        <p:txBody>
          <a:bodyPr wrap="square" lIns="0" tIns="0" rIns="0" bIns="0" rtlCol="0" anchor="ctr"/>
          <a:lstStyle/>
          <a:p>
            <a:pPr marL="0" indent="0">
              <a:buNone/>
            </a:pPr>
            <a:r>
              <a:rPr lang="en-US" sz="1300" dirty="0">
                <a:solidFill>
                  <a:srgbClr val="27374F"/>
                </a:solidFill>
                <a:latin typeface="Calibri" pitchFamily="34" charset="0"/>
                <a:ea typeface="Calibri" pitchFamily="34" charset="-122"/>
                <a:cs typeface="Calibri" pitchFamily="34" charset="-120"/>
              </a:rPr>
              <a:t>An ILA window is 8.8 µs and carries no timestamps, so a 33 ms interval cannot be recovered from a capture however it is triggered. The intervals are therefore measured in the FPGA and only the results are read out.</a:t>
            </a:r>
            <a:endParaRPr lang="en-US" sz="1300" dirty="0"/>
          </a:p>
        </p:txBody>
      </p:sp>
      <p:sp>
        <p:nvSpPr>
          <p:cNvPr id="5" name="Shape 3"/>
          <p:cNvSpPr/>
          <p:nvPr/>
        </p:nvSpPr>
        <p:spPr>
          <a:xfrm>
            <a:off x="548640" y="1755648"/>
            <a:ext cx="5577840" cy="1783080"/>
          </a:xfrm>
          <a:prstGeom prst="roundRect">
            <a:avLst>
              <a:gd name="adj" fmla="val 2564"/>
            </a:avLst>
          </a:prstGeom>
          <a:solidFill>
            <a:srgbClr val="1B2A45"/>
          </a:solidFill>
          <a:ln w="15875">
            <a:solidFill>
              <a:srgbClr val="16233A"/>
            </a:solidFill>
            <a:prstDash val="solid"/>
          </a:ln>
        </p:spPr>
        <p:txBody>
          <a:bodyPr/>
          <a:lstStyle/>
          <a:p>
            <a:endParaRPr lang="en-US"/>
          </a:p>
        </p:txBody>
      </p:sp>
      <p:sp>
        <p:nvSpPr>
          <p:cNvPr id="6" name="Text 4"/>
          <p:cNvSpPr/>
          <p:nvPr/>
        </p:nvSpPr>
        <p:spPr>
          <a:xfrm>
            <a:off x="694944" y="1865376"/>
            <a:ext cx="5285232" cy="1563624"/>
          </a:xfrm>
          <a:prstGeom prst="rect">
            <a:avLst/>
          </a:prstGeom>
          <a:noFill/>
          <a:ln/>
        </p:spPr>
        <p:txBody>
          <a:bodyPr wrap="square" lIns="0" tIns="0" rIns="0" bIns="0" rtlCol="0" anchor="t"/>
          <a:lstStyle/>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V19TimingProbe  u_v19_timing (</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.in_frame_ev  (camera frame available),</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.copy_start_ev(render begins),</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.copy_done_ev (render complete),</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.commit_ev    (published to the display),</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.out_edge_ev  (output raster boundary));</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a:t>
            </a:r>
            <a:endParaRPr lang="en-US" sz="1000" dirty="0"/>
          </a:p>
          <a:p>
            <a:pPr marL="0" indent="0">
              <a:lnSpc>
                <a:spcPct val="106000"/>
              </a:lnSpc>
              <a:buNone/>
            </a:pPr>
            <a:r>
              <a:rPr lang="en-US" sz="1000" dirty="0">
                <a:solidFill>
                  <a:srgbClr val="7E93B5"/>
                </a:solidFill>
                <a:latin typeface="Consolas" pitchFamily="34" charset="0"/>
                <a:ea typeface="Consolas" pitchFamily="34" charset="-122"/>
                <a:cs typeface="Consolas" pitchFamily="34" charset="-120"/>
              </a:rPr>
              <a:t>// tick = ui_clk / 64 = 274.2 ns, 24 bits = 4.6 s</a:t>
            </a:r>
            <a:endParaRPr lang="en-US" sz="1000" dirty="0"/>
          </a:p>
        </p:txBody>
      </p:sp>
      <p:sp>
        <p:nvSpPr>
          <p:cNvPr id="7" name="Text 5"/>
          <p:cNvSpPr/>
          <p:nvPr/>
        </p:nvSpPr>
        <p:spPr>
          <a:xfrm>
            <a:off x="6400800" y="1755648"/>
            <a:ext cx="5257800" cy="274320"/>
          </a:xfrm>
          <a:prstGeom prst="rect">
            <a:avLst/>
          </a:prstGeom>
          <a:noFill/>
          <a:ln/>
        </p:spPr>
        <p:txBody>
          <a:bodyPr wrap="square" lIns="0" tIns="0" rIns="0" bIns="0" rtlCol="0" anchor="ctr"/>
          <a:lstStyle/>
          <a:p>
            <a:pPr marL="0" indent="0">
              <a:buNone/>
            </a:pPr>
            <a:r>
              <a:rPr lang="en-US" sz="1300" b="1" dirty="0">
                <a:solidFill>
                  <a:srgbClr val="0E1C36"/>
                </a:solidFill>
                <a:latin typeface="Calibri" pitchFamily="34" charset="0"/>
                <a:ea typeface="Calibri" pitchFamily="34" charset="-122"/>
                <a:cs typeface="Calibri" pitchFamily="34" charset="-120"/>
              </a:rPr>
              <a:t>Measured intervals</a:t>
            </a:r>
            <a:endParaRPr lang="en-US" sz="1300" dirty="0"/>
          </a:p>
        </p:txBody>
      </p:sp>
      <p:sp>
        <p:nvSpPr>
          <p:cNvPr id="8" name="Text 6"/>
          <p:cNvSpPr/>
          <p:nvPr/>
        </p:nvSpPr>
        <p:spPr>
          <a:xfrm>
            <a:off x="6400800" y="2048256"/>
            <a:ext cx="1874520" cy="310896"/>
          </a:xfrm>
          <a:prstGeom prst="rect">
            <a:avLst/>
          </a:prstGeom>
          <a:noFill/>
          <a:ln/>
        </p:spPr>
        <p:txBody>
          <a:bodyPr wrap="square" lIns="0" tIns="0" rIns="0" bIns="0" rtlCol="0" anchor="ctr"/>
          <a:lstStyle/>
          <a:p>
            <a:pPr marL="0" indent="0" algn="l">
              <a:buNone/>
            </a:pPr>
            <a:r>
              <a:rPr lang="en-US" sz="1050" b="1" dirty="0">
                <a:solidFill>
                  <a:srgbClr val="6B7C97"/>
                </a:solidFill>
                <a:latin typeface="Calibri" pitchFamily="34" charset="0"/>
                <a:ea typeface="Calibri" pitchFamily="34" charset="-122"/>
                <a:cs typeface="Calibri" pitchFamily="34" charset="-120"/>
              </a:rPr>
              <a:t>Mode</a:t>
            </a:r>
            <a:endParaRPr lang="en-US" sz="1050" dirty="0"/>
          </a:p>
        </p:txBody>
      </p:sp>
      <p:sp>
        <p:nvSpPr>
          <p:cNvPr id="9" name="Text 7"/>
          <p:cNvSpPr/>
          <p:nvPr/>
        </p:nvSpPr>
        <p:spPr>
          <a:xfrm>
            <a:off x="8275320" y="2048256"/>
            <a:ext cx="173736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frame → render done</a:t>
            </a:r>
            <a:endParaRPr lang="en-US" sz="1050" dirty="0"/>
          </a:p>
          <a:p>
            <a:pPr marL="0" indent="0" algn="ctr">
              <a:buNone/>
            </a:pPr>
            <a:r>
              <a:rPr lang="en-US" sz="1050" b="1" dirty="0">
                <a:solidFill>
                  <a:srgbClr val="6B7C97"/>
                </a:solidFill>
                <a:latin typeface="Calibri" pitchFamily="34" charset="0"/>
                <a:ea typeface="Calibri" pitchFamily="34" charset="-122"/>
                <a:cs typeface="Calibri" pitchFamily="34" charset="-120"/>
              </a:rPr>
              <a:t>(wait + render)</a:t>
            </a:r>
            <a:endParaRPr lang="en-US" sz="1050" dirty="0"/>
          </a:p>
        </p:txBody>
      </p:sp>
      <p:sp>
        <p:nvSpPr>
          <p:cNvPr id="10" name="Text 8"/>
          <p:cNvSpPr/>
          <p:nvPr/>
        </p:nvSpPr>
        <p:spPr>
          <a:xfrm>
            <a:off x="10012680" y="2048256"/>
            <a:ext cx="1645920" cy="310896"/>
          </a:xfrm>
          <a:prstGeom prst="rect">
            <a:avLst/>
          </a:prstGeom>
          <a:noFill/>
          <a:ln/>
        </p:spPr>
        <p:txBody>
          <a:bodyPr wrap="square" lIns="0" tIns="0" rIns="0" bIns="0" rtlCol="0" anchor="ctr"/>
          <a:lstStyle/>
          <a:p>
            <a:pPr marL="0" indent="0" algn="ctr">
              <a:buNone/>
            </a:pPr>
            <a:r>
              <a:rPr lang="en-US" sz="1050" b="1" dirty="0">
                <a:solidFill>
                  <a:srgbClr val="6B7C97"/>
                </a:solidFill>
                <a:latin typeface="Calibri" pitchFamily="34" charset="0"/>
                <a:ea typeface="Calibri" pitchFamily="34" charset="-122"/>
                <a:cs typeface="Calibri" pitchFamily="34" charset="-120"/>
              </a:rPr>
              <a:t>frame → on screen</a:t>
            </a:r>
            <a:endParaRPr lang="en-US" sz="1050" dirty="0"/>
          </a:p>
        </p:txBody>
      </p:sp>
      <p:sp>
        <p:nvSpPr>
          <p:cNvPr id="11" name="Shape 9"/>
          <p:cNvSpPr/>
          <p:nvPr/>
        </p:nvSpPr>
        <p:spPr>
          <a:xfrm>
            <a:off x="6400800" y="2377440"/>
            <a:ext cx="5257800" cy="0"/>
          </a:xfrm>
          <a:prstGeom prst="line">
            <a:avLst/>
          </a:prstGeom>
          <a:noFill/>
          <a:ln w="12700">
            <a:solidFill>
              <a:srgbClr val="D3DCEA"/>
            </a:solidFill>
            <a:prstDash val="solid"/>
          </a:ln>
        </p:spPr>
        <p:txBody>
          <a:bodyPr/>
          <a:lstStyle/>
          <a:p>
            <a:endParaRPr lang="en-US"/>
          </a:p>
        </p:txBody>
      </p:sp>
      <p:sp>
        <p:nvSpPr>
          <p:cNvPr id="12" name="Text 10"/>
          <p:cNvSpPr/>
          <p:nvPr/>
        </p:nvSpPr>
        <p:spPr>
          <a:xfrm>
            <a:off x="6400800" y="2450592"/>
            <a:ext cx="1874520" cy="292608"/>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single</a:t>
            </a:r>
            <a:endParaRPr lang="en-US" sz="1050" dirty="0"/>
          </a:p>
        </p:txBody>
      </p:sp>
      <p:sp>
        <p:nvSpPr>
          <p:cNvPr id="13" name="Text 11"/>
          <p:cNvSpPr/>
          <p:nvPr/>
        </p:nvSpPr>
        <p:spPr>
          <a:xfrm>
            <a:off x="8275320" y="2450592"/>
            <a:ext cx="1737360" cy="292608"/>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10.1 ms</a:t>
            </a:r>
            <a:endParaRPr lang="en-US" sz="1050" dirty="0"/>
          </a:p>
        </p:txBody>
      </p:sp>
      <p:sp>
        <p:nvSpPr>
          <p:cNvPr id="14" name="Text 12"/>
          <p:cNvSpPr/>
          <p:nvPr/>
        </p:nvSpPr>
        <p:spPr>
          <a:xfrm>
            <a:off x="10012680" y="2450592"/>
            <a:ext cx="1645920" cy="292608"/>
          </a:xfrm>
          <a:prstGeom prst="rect">
            <a:avLst/>
          </a:prstGeom>
          <a:noFill/>
          <a:ln/>
        </p:spPr>
        <p:txBody>
          <a:bodyPr wrap="square" lIns="0" tIns="0" rIns="0" bIns="0" rtlCol="0" anchor="ctr"/>
          <a:lstStyle/>
          <a:p>
            <a:pPr marL="0" indent="0" algn="ctr">
              <a:buNone/>
            </a:pPr>
            <a:r>
              <a:rPr lang="en-US" sz="1050" b="1" dirty="0">
                <a:solidFill>
                  <a:srgbClr val="27374F"/>
                </a:solidFill>
                <a:latin typeface="Calibri" pitchFamily="34" charset="0"/>
                <a:ea typeface="Calibri" pitchFamily="34" charset="-122"/>
                <a:cs typeface="Calibri" pitchFamily="34" charset="-120"/>
              </a:rPr>
              <a:t>16.4 ms</a:t>
            </a:r>
            <a:endParaRPr lang="en-US" sz="1050" dirty="0"/>
          </a:p>
        </p:txBody>
      </p:sp>
      <p:sp>
        <p:nvSpPr>
          <p:cNvPr id="15" name="Shape 13"/>
          <p:cNvSpPr/>
          <p:nvPr/>
        </p:nvSpPr>
        <p:spPr>
          <a:xfrm>
            <a:off x="6327648" y="2752344"/>
            <a:ext cx="5404104" cy="310896"/>
          </a:xfrm>
          <a:prstGeom prst="rect">
            <a:avLst/>
          </a:prstGeom>
          <a:solidFill>
            <a:srgbClr val="F2F5FA"/>
          </a:solidFill>
          <a:ln w="12700">
            <a:solidFill>
              <a:srgbClr val="333333"/>
            </a:solidFill>
            <a:prstDash val="solid"/>
          </a:ln>
        </p:spPr>
        <p:txBody>
          <a:bodyPr/>
          <a:lstStyle/>
          <a:p>
            <a:endParaRPr lang="en-US"/>
          </a:p>
        </p:txBody>
      </p:sp>
      <p:sp>
        <p:nvSpPr>
          <p:cNvPr id="16" name="Text 14"/>
          <p:cNvSpPr/>
          <p:nvPr/>
        </p:nvSpPr>
        <p:spPr>
          <a:xfrm>
            <a:off x="6400800" y="2779776"/>
            <a:ext cx="1874520" cy="292608"/>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EO panorama</a:t>
            </a:r>
            <a:endParaRPr lang="en-US" sz="1050" dirty="0"/>
          </a:p>
        </p:txBody>
      </p:sp>
      <p:sp>
        <p:nvSpPr>
          <p:cNvPr id="17" name="Text 15"/>
          <p:cNvSpPr/>
          <p:nvPr/>
        </p:nvSpPr>
        <p:spPr>
          <a:xfrm>
            <a:off x="8275320" y="2779776"/>
            <a:ext cx="1737360" cy="292608"/>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38.2 ms</a:t>
            </a:r>
            <a:endParaRPr lang="en-US" sz="1050" dirty="0"/>
          </a:p>
        </p:txBody>
      </p:sp>
      <p:sp>
        <p:nvSpPr>
          <p:cNvPr id="18" name="Text 16"/>
          <p:cNvSpPr/>
          <p:nvPr/>
        </p:nvSpPr>
        <p:spPr>
          <a:xfrm>
            <a:off x="10012680" y="2779776"/>
            <a:ext cx="1645920" cy="292608"/>
          </a:xfrm>
          <a:prstGeom prst="rect">
            <a:avLst/>
          </a:prstGeom>
          <a:noFill/>
          <a:ln/>
        </p:spPr>
        <p:txBody>
          <a:bodyPr wrap="square" lIns="0" tIns="0" rIns="0" bIns="0" rtlCol="0" anchor="ctr"/>
          <a:lstStyle/>
          <a:p>
            <a:pPr marL="0" indent="0" algn="ctr">
              <a:buNone/>
            </a:pPr>
            <a:r>
              <a:rPr lang="en-US" sz="1050" b="1" dirty="0">
                <a:solidFill>
                  <a:srgbClr val="27374F"/>
                </a:solidFill>
                <a:latin typeface="Calibri" pitchFamily="34" charset="0"/>
                <a:ea typeface="Calibri" pitchFamily="34" charset="-122"/>
                <a:cs typeface="Calibri" pitchFamily="34" charset="-120"/>
              </a:rPr>
              <a:t>41.1 ms</a:t>
            </a:r>
            <a:endParaRPr lang="en-US" sz="1050" dirty="0"/>
          </a:p>
        </p:txBody>
      </p:sp>
      <p:sp>
        <p:nvSpPr>
          <p:cNvPr id="19" name="Text 17"/>
          <p:cNvSpPr/>
          <p:nvPr/>
        </p:nvSpPr>
        <p:spPr>
          <a:xfrm>
            <a:off x="6400800" y="3108960"/>
            <a:ext cx="1874520" cy="292608"/>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IR single</a:t>
            </a:r>
            <a:endParaRPr lang="en-US" sz="1050" dirty="0"/>
          </a:p>
        </p:txBody>
      </p:sp>
      <p:sp>
        <p:nvSpPr>
          <p:cNvPr id="20" name="Text 18"/>
          <p:cNvSpPr/>
          <p:nvPr/>
        </p:nvSpPr>
        <p:spPr>
          <a:xfrm>
            <a:off x="8275320" y="3108960"/>
            <a:ext cx="1737360" cy="292608"/>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25.8 ms</a:t>
            </a:r>
            <a:endParaRPr lang="en-US" sz="1050" dirty="0"/>
          </a:p>
        </p:txBody>
      </p:sp>
      <p:sp>
        <p:nvSpPr>
          <p:cNvPr id="21" name="Text 19"/>
          <p:cNvSpPr/>
          <p:nvPr/>
        </p:nvSpPr>
        <p:spPr>
          <a:xfrm>
            <a:off x="10012680" y="3108960"/>
            <a:ext cx="1645920" cy="292608"/>
          </a:xfrm>
          <a:prstGeom prst="rect">
            <a:avLst/>
          </a:prstGeom>
          <a:noFill/>
          <a:ln/>
        </p:spPr>
        <p:txBody>
          <a:bodyPr wrap="square" lIns="0" tIns="0" rIns="0" bIns="0" rtlCol="0" anchor="ctr"/>
          <a:lstStyle/>
          <a:p>
            <a:pPr marL="0" indent="0" algn="ctr">
              <a:buNone/>
            </a:pPr>
            <a:r>
              <a:rPr lang="en-US" sz="1050" b="1" dirty="0">
                <a:solidFill>
                  <a:srgbClr val="27374F"/>
                </a:solidFill>
                <a:latin typeface="Calibri" pitchFamily="34" charset="0"/>
                <a:ea typeface="Calibri" pitchFamily="34" charset="-122"/>
                <a:cs typeface="Calibri" pitchFamily="34" charset="-120"/>
              </a:rPr>
              <a:t>50.1 ms</a:t>
            </a:r>
            <a:endParaRPr lang="en-US" sz="1050" dirty="0"/>
          </a:p>
        </p:txBody>
      </p:sp>
      <p:sp>
        <p:nvSpPr>
          <p:cNvPr id="22" name="Shape 20"/>
          <p:cNvSpPr/>
          <p:nvPr/>
        </p:nvSpPr>
        <p:spPr>
          <a:xfrm>
            <a:off x="6327648" y="3410712"/>
            <a:ext cx="5404104" cy="310896"/>
          </a:xfrm>
          <a:prstGeom prst="rect">
            <a:avLst/>
          </a:prstGeom>
          <a:solidFill>
            <a:srgbClr val="F2F5FA"/>
          </a:solidFill>
          <a:ln w="12700">
            <a:solidFill>
              <a:srgbClr val="333333"/>
            </a:solidFill>
            <a:prstDash val="solid"/>
          </a:ln>
        </p:spPr>
        <p:txBody>
          <a:bodyPr/>
          <a:lstStyle/>
          <a:p>
            <a:endParaRPr lang="en-US"/>
          </a:p>
        </p:txBody>
      </p:sp>
      <p:sp>
        <p:nvSpPr>
          <p:cNvPr id="23" name="Text 21"/>
          <p:cNvSpPr/>
          <p:nvPr/>
        </p:nvSpPr>
        <p:spPr>
          <a:xfrm>
            <a:off x="6400800" y="3438144"/>
            <a:ext cx="1874520" cy="292608"/>
          </a:xfrm>
          <a:prstGeom prst="rect">
            <a:avLst/>
          </a:prstGeom>
          <a:noFill/>
          <a:ln/>
        </p:spPr>
        <p:txBody>
          <a:bodyPr wrap="square" lIns="0" tIns="0" rIns="0" bIns="0" rtlCol="0" anchor="ctr"/>
          <a:lstStyle/>
          <a:p>
            <a:pPr marL="0" indent="0" algn="l">
              <a:buNone/>
            </a:pPr>
            <a:r>
              <a:rPr lang="en-US" sz="1050" dirty="0">
                <a:solidFill>
                  <a:srgbClr val="27374F"/>
                </a:solidFill>
                <a:latin typeface="Calibri" pitchFamily="34" charset="0"/>
                <a:ea typeface="Calibri" pitchFamily="34" charset="-122"/>
                <a:cs typeface="Calibri" pitchFamily="34" charset="-120"/>
              </a:rPr>
              <a:t>IR panorama</a:t>
            </a:r>
            <a:endParaRPr lang="en-US" sz="1050" dirty="0"/>
          </a:p>
        </p:txBody>
      </p:sp>
      <p:sp>
        <p:nvSpPr>
          <p:cNvPr id="24" name="Text 22"/>
          <p:cNvSpPr/>
          <p:nvPr/>
        </p:nvSpPr>
        <p:spPr>
          <a:xfrm>
            <a:off x="8275320" y="3438144"/>
            <a:ext cx="1737360" cy="292608"/>
          </a:xfrm>
          <a:prstGeom prst="rect">
            <a:avLst/>
          </a:prstGeom>
          <a:noFill/>
          <a:ln/>
        </p:spPr>
        <p:txBody>
          <a:bodyPr wrap="square" lIns="0" tIns="0" rIns="0" bIns="0" rtlCol="0" anchor="ctr"/>
          <a:lstStyle/>
          <a:p>
            <a:pPr marL="0" indent="0" algn="ctr">
              <a:buNone/>
            </a:pPr>
            <a:r>
              <a:rPr lang="en-US" sz="1050" dirty="0">
                <a:solidFill>
                  <a:srgbClr val="27374F"/>
                </a:solidFill>
                <a:latin typeface="Calibri" pitchFamily="34" charset="0"/>
                <a:ea typeface="Calibri" pitchFamily="34" charset="-122"/>
                <a:cs typeface="Calibri" pitchFamily="34" charset="-120"/>
              </a:rPr>
              <a:t>41.6 ms</a:t>
            </a:r>
            <a:endParaRPr lang="en-US" sz="1050" dirty="0"/>
          </a:p>
        </p:txBody>
      </p:sp>
      <p:sp>
        <p:nvSpPr>
          <p:cNvPr id="25" name="Text 23"/>
          <p:cNvSpPr/>
          <p:nvPr/>
        </p:nvSpPr>
        <p:spPr>
          <a:xfrm>
            <a:off x="10012680" y="3438144"/>
            <a:ext cx="1645920" cy="292608"/>
          </a:xfrm>
          <a:prstGeom prst="rect">
            <a:avLst/>
          </a:prstGeom>
          <a:noFill/>
          <a:ln/>
        </p:spPr>
        <p:txBody>
          <a:bodyPr wrap="square" lIns="0" tIns="0" rIns="0" bIns="0" rtlCol="0" anchor="ctr"/>
          <a:lstStyle/>
          <a:p>
            <a:pPr marL="0" indent="0" algn="ctr">
              <a:buNone/>
            </a:pPr>
            <a:r>
              <a:rPr lang="en-US" sz="1050" b="1" dirty="0">
                <a:solidFill>
                  <a:srgbClr val="27374F"/>
                </a:solidFill>
                <a:latin typeface="Calibri" pitchFamily="34" charset="0"/>
                <a:ea typeface="Calibri" pitchFamily="34" charset="-122"/>
                <a:cs typeface="Calibri" pitchFamily="34" charset="-120"/>
              </a:rPr>
              <a:t>45.0 ms</a:t>
            </a:r>
            <a:endParaRPr lang="en-US" sz="1050" dirty="0"/>
          </a:p>
        </p:txBody>
      </p:sp>
      <p:sp>
        <p:nvSpPr>
          <p:cNvPr id="26" name="Text 24"/>
          <p:cNvSpPr/>
          <p:nvPr/>
        </p:nvSpPr>
        <p:spPr>
          <a:xfrm>
            <a:off x="548640" y="3794760"/>
            <a:ext cx="11109960" cy="274320"/>
          </a:xfrm>
          <a:prstGeom prst="rect">
            <a:avLst/>
          </a:prstGeom>
          <a:noFill/>
          <a:ln/>
        </p:spPr>
        <p:txBody>
          <a:bodyPr wrap="square" lIns="0" tIns="0" rIns="0" bIns="0" rtlCol="0" anchor="ctr"/>
          <a:lstStyle/>
          <a:p>
            <a:pPr marL="0" indent="0">
              <a:buNone/>
            </a:pPr>
            <a:r>
              <a:rPr lang="en-US" sz="1400" b="1" dirty="0">
                <a:solidFill>
                  <a:srgbClr val="0E1C36"/>
                </a:solidFill>
                <a:latin typeface="Calibri" pitchFamily="34" charset="0"/>
                <a:ea typeface="Calibri" pitchFamily="34" charset="-122"/>
                <a:cs typeface="Calibri" pitchFamily="34" charset="-120"/>
              </a:rPr>
              <a:t>Two ways this measurement lied before it was trusted</a:t>
            </a:r>
            <a:endParaRPr lang="en-US" sz="1400" dirty="0"/>
          </a:p>
        </p:txBody>
      </p:sp>
      <p:sp>
        <p:nvSpPr>
          <p:cNvPr id="27" name="Shape 25"/>
          <p:cNvSpPr/>
          <p:nvPr/>
        </p:nvSpPr>
        <p:spPr>
          <a:xfrm>
            <a:off x="548640" y="4114800"/>
            <a:ext cx="5394960" cy="1371600"/>
          </a:xfrm>
          <a:prstGeom prst="roundRect">
            <a:avLst>
              <a:gd name="adj" fmla="val 4000"/>
            </a:avLst>
          </a:prstGeom>
          <a:solidFill>
            <a:srgbClr val="F7F0D8"/>
          </a:solidFill>
          <a:ln w="15875">
            <a:solidFill>
              <a:srgbClr val="C2A33B"/>
            </a:solidFill>
            <a:prstDash val="solid"/>
          </a:ln>
        </p:spPr>
        <p:txBody>
          <a:bodyPr/>
          <a:lstStyle/>
          <a:p>
            <a:endParaRPr lang="en-US"/>
          </a:p>
        </p:txBody>
      </p:sp>
      <p:sp>
        <p:nvSpPr>
          <p:cNvPr id="28" name="Text 26"/>
          <p:cNvSpPr/>
          <p:nvPr/>
        </p:nvSpPr>
        <p:spPr>
          <a:xfrm>
            <a:off x="749808" y="4224528"/>
            <a:ext cx="5029200" cy="457200"/>
          </a:xfrm>
          <a:prstGeom prst="rect">
            <a:avLst/>
          </a:prstGeom>
          <a:noFill/>
          <a:ln/>
        </p:spPr>
        <p:txBody>
          <a:bodyPr wrap="square" lIns="0" tIns="0" rIns="0" bIns="0" rtlCol="0" anchor="ctr"/>
          <a:lstStyle/>
          <a:p>
            <a:pPr marL="0" indent="0">
              <a:buNone/>
            </a:pPr>
            <a:r>
              <a:rPr lang="en-US" sz="1150" b="1" dirty="0">
                <a:solidFill>
                  <a:srgbClr val="0E1C36"/>
                </a:solidFill>
                <a:latin typeface="Calibri" pitchFamily="34" charset="0"/>
                <a:ea typeface="Calibri" pitchFamily="34" charset="-122"/>
                <a:cs typeface="Calibri" pitchFamily="34" charset="-120"/>
              </a:rPr>
              <a:t>A capture triggered on activity cannot see idleness</a:t>
            </a:r>
            <a:endParaRPr lang="en-US" sz="1150" dirty="0"/>
          </a:p>
        </p:txBody>
      </p:sp>
      <p:sp>
        <p:nvSpPr>
          <p:cNvPr id="29" name="Text 27"/>
          <p:cNvSpPr/>
          <p:nvPr/>
        </p:nvSpPr>
        <p:spPr>
          <a:xfrm>
            <a:off x="749808" y="4663440"/>
            <a:ext cx="5029200" cy="749808"/>
          </a:xfrm>
          <a:prstGeom prst="rect">
            <a:avLst/>
          </a:prstGeom>
          <a:noFill/>
          <a:ln/>
        </p:spPr>
        <p:txBody>
          <a:bodyPr wrap="square" lIns="0" tIns="0" rIns="0" bIns="0" rtlCol="0" anchor="ctr"/>
          <a:lstStyle/>
          <a:p>
            <a:pPr marL="0" indent="0">
              <a:buNone/>
            </a:pPr>
            <a:r>
              <a:rPr lang="en-US" sz="1050" dirty="0">
                <a:solidFill>
                  <a:srgbClr val="27374F"/>
                </a:solidFill>
                <a:latin typeface="Calibri" pitchFamily="34" charset="0"/>
                <a:ea typeface="Calibri" pitchFamily="34" charset="-122"/>
                <a:cs typeface="Calibri" pitchFamily="34" charset="-120"/>
              </a:rPr>
              <a:t>Arming the ILA on "render active" reported the render occupying 84% of every frame. Sampling with no trigger condition at all gave 25-40%. Every duty figure in this deck is from an untriggered capture.</a:t>
            </a:r>
            <a:endParaRPr lang="en-US" sz="1050" dirty="0"/>
          </a:p>
        </p:txBody>
      </p:sp>
      <p:sp>
        <p:nvSpPr>
          <p:cNvPr id="30" name="Shape 28"/>
          <p:cNvSpPr/>
          <p:nvPr/>
        </p:nvSpPr>
        <p:spPr>
          <a:xfrm>
            <a:off x="6263640" y="4114800"/>
            <a:ext cx="5394960" cy="1371600"/>
          </a:xfrm>
          <a:prstGeom prst="roundRect">
            <a:avLst>
              <a:gd name="adj" fmla="val 4000"/>
            </a:avLst>
          </a:prstGeom>
          <a:solidFill>
            <a:srgbClr val="F7F0D8"/>
          </a:solidFill>
          <a:ln w="15875">
            <a:solidFill>
              <a:srgbClr val="C2A33B"/>
            </a:solidFill>
            <a:prstDash val="solid"/>
          </a:ln>
        </p:spPr>
        <p:txBody>
          <a:bodyPr/>
          <a:lstStyle/>
          <a:p>
            <a:endParaRPr lang="en-US"/>
          </a:p>
        </p:txBody>
      </p:sp>
      <p:sp>
        <p:nvSpPr>
          <p:cNvPr id="31" name="Text 29"/>
          <p:cNvSpPr/>
          <p:nvPr/>
        </p:nvSpPr>
        <p:spPr>
          <a:xfrm>
            <a:off x="6464808" y="4224528"/>
            <a:ext cx="5029200" cy="457200"/>
          </a:xfrm>
          <a:prstGeom prst="rect">
            <a:avLst/>
          </a:prstGeom>
          <a:noFill/>
          <a:ln/>
        </p:spPr>
        <p:txBody>
          <a:bodyPr wrap="square" lIns="0" tIns="0" rIns="0" bIns="0" rtlCol="0" anchor="ctr"/>
          <a:lstStyle/>
          <a:p>
            <a:pPr marL="0" indent="0">
              <a:buNone/>
            </a:pPr>
            <a:r>
              <a:rPr lang="en-US" sz="1150" b="1" dirty="0">
                <a:solidFill>
                  <a:srgbClr val="0E1C36"/>
                </a:solidFill>
                <a:latin typeface="Calibri" pitchFamily="34" charset="0"/>
                <a:ea typeface="Calibri" pitchFamily="34" charset="-122"/>
                <a:cs typeface="Calibri" pitchFamily="34" charset="-120"/>
              </a:rPr>
              <a:t>An interval register reports the LAST interval, not a rate</a:t>
            </a:r>
            <a:endParaRPr lang="en-US" sz="1150" dirty="0"/>
          </a:p>
        </p:txBody>
      </p:sp>
      <p:sp>
        <p:nvSpPr>
          <p:cNvPr id="32" name="Text 30"/>
          <p:cNvSpPr/>
          <p:nvPr/>
        </p:nvSpPr>
        <p:spPr>
          <a:xfrm>
            <a:off x="6464808" y="4663440"/>
            <a:ext cx="5029200" cy="749808"/>
          </a:xfrm>
          <a:prstGeom prst="rect">
            <a:avLst/>
          </a:prstGeom>
          <a:noFill/>
          <a:ln/>
        </p:spPr>
        <p:txBody>
          <a:bodyPr wrap="square" lIns="0" tIns="0" rIns="0" bIns="0" rtlCol="0" anchor="ctr"/>
          <a:lstStyle/>
          <a:p>
            <a:pPr marL="0" indent="0">
              <a:buNone/>
            </a:pPr>
            <a:r>
              <a:rPr lang="en-US" sz="1050" dirty="0">
                <a:solidFill>
                  <a:srgbClr val="27374F"/>
                </a:solidFill>
                <a:latin typeface="Calibri" pitchFamily="34" charset="0"/>
                <a:ea typeface="Calibri" pitchFamily="34" charset="-122"/>
                <a:cs typeface="Calibri" pitchFamily="34" charset="-120"/>
              </a:rPr>
              <a:t>A pipeline that has stopped keeps reporting whatever it last managed - one stalled mode read as a healthy 33.3 ms while publishing nothing. Rates here are counted over a wall-clock gap, or measured optically, never read from an interval.</a:t>
            </a:r>
            <a:endParaRPr lang="en-US" sz="1050" dirty="0"/>
          </a:p>
        </p:txBody>
      </p:sp>
      <p:sp>
        <p:nvSpPr>
          <p:cNvPr id="33" name="Text 31"/>
          <p:cNvSpPr/>
          <p:nvPr/>
        </p:nvSpPr>
        <p:spPr>
          <a:xfrm>
            <a:off x="548640" y="5669280"/>
            <a:ext cx="11109960" cy="457200"/>
          </a:xfrm>
          <a:prstGeom prst="rect">
            <a:avLst/>
          </a:prstGeom>
          <a:noFill/>
          <a:ln/>
        </p:spPr>
        <p:txBody>
          <a:bodyPr wrap="square" lIns="0" tIns="0" rIns="0" bIns="0" rtlCol="0" anchor="t"/>
          <a:lstStyle/>
          <a:p>
            <a:pPr marL="0" indent="0">
              <a:buNone/>
            </a:pPr>
            <a:r>
              <a:rPr lang="en-US" sz="1150" i="1" dirty="0">
                <a:solidFill>
                  <a:srgbClr val="6B7C97"/>
                </a:solidFill>
                <a:latin typeface="Calibri" pitchFamily="34" charset="0"/>
                <a:ea typeface="Calibri" pitchFamily="34" charset="-122"/>
                <a:cs typeface="Calibri" pitchFamily="34" charset="-120"/>
              </a:rPr>
              <a:t>src/V19TimingProbe.v, calibrated against known intervals in sim/tb_V19TimingProbe.v — 10 of 10 checks pass. Captures via scripts/capture_v19_untriggered.tcl.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0058400" cy="237744"/>
          </a:xfrm>
          <a:prstGeom prst="rect">
            <a:avLst/>
          </a:prstGeom>
          <a:noFill/>
          <a:ln/>
        </p:spPr>
        <p:txBody>
          <a:bodyPr wrap="square" lIns="0" tIns="0" rIns="0" bIns="0" rtlCol="0" anchor="ctr"/>
          <a:lstStyle/>
          <a:p>
            <a:pPr marL="0" indent="0">
              <a:buNone/>
            </a:pPr>
            <a:r>
              <a:rPr lang="en-US" sz="1100" b="1" kern="0" spc="200" dirty="0">
                <a:solidFill>
                  <a:srgbClr val="6B7C97"/>
                </a:solidFill>
                <a:latin typeface="Calibri" pitchFamily="34" charset="0"/>
                <a:ea typeface="Calibri" pitchFamily="34" charset="-122"/>
                <a:cs typeface="Calibri" pitchFamily="34" charset="-120"/>
              </a:rPr>
              <a:t>PYTHON / OPTICAL</a:t>
            </a:r>
            <a:endParaRPr lang="en-US" sz="1100" dirty="0"/>
          </a:p>
        </p:txBody>
      </p:sp>
      <p:sp>
        <p:nvSpPr>
          <p:cNvPr id="3" name="Text 1"/>
          <p:cNvSpPr/>
          <p:nvPr/>
        </p:nvSpPr>
        <p:spPr>
          <a:xfrm>
            <a:off x="548640" y="548640"/>
            <a:ext cx="11155680" cy="548640"/>
          </a:xfrm>
          <a:prstGeom prst="rect">
            <a:avLst/>
          </a:prstGeom>
          <a:noFill/>
          <a:ln/>
        </p:spPr>
        <p:txBody>
          <a:bodyPr wrap="square" lIns="0" tIns="0" rIns="0" bIns="0" rtlCol="0" anchor="ctr"/>
          <a:lstStyle/>
          <a:p>
            <a:pPr marL="0" indent="0">
              <a:buNone/>
            </a:pPr>
            <a:r>
              <a:rPr lang="en-US" sz="3000" b="1" dirty="0">
                <a:solidFill>
                  <a:srgbClr val="0E1C36"/>
                </a:solidFill>
                <a:latin typeface="Cambria" pitchFamily="34" charset="0"/>
                <a:ea typeface="Cambria" pitchFamily="34" charset="-122"/>
                <a:cs typeface="Cambria" pitchFamily="34" charset="-120"/>
              </a:rPr>
              <a:t>Evidence 3 — the output, analysed frame by frame</a:t>
            </a:r>
            <a:endParaRPr lang="en-US" sz="3000" dirty="0"/>
          </a:p>
        </p:txBody>
      </p:sp>
      <p:sp>
        <p:nvSpPr>
          <p:cNvPr id="4" name="Text 2"/>
          <p:cNvSpPr/>
          <p:nvPr/>
        </p:nvSpPr>
        <p:spPr>
          <a:xfrm>
            <a:off x="548640" y="1152144"/>
            <a:ext cx="11109960" cy="310896"/>
          </a:xfrm>
          <a:prstGeom prst="rect">
            <a:avLst/>
          </a:prstGeom>
          <a:noFill/>
          <a:ln/>
        </p:spPr>
        <p:txBody>
          <a:bodyPr wrap="square" lIns="0" tIns="0" rIns="0" bIns="0" rtlCol="0" anchor="ctr"/>
          <a:lstStyle/>
          <a:p>
            <a:pPr marL="0" indent="0">
              <a:buNone/>
            </a:pPr>
            <a:r>
              <a:rPr lang="en-US" sz="1300" dirty="0">
                <a:solidFill>
                  <a:srgbClr val="27374F"/>
                </a:solidFill>
                <a:latin typeface="Calibri" pitchFamily="34" charset="0"/>
                <a:ea typeface="Calibri" pitchFamily="34" charset="-122"/>
                <a:cs typeface="Calibri" pitchFamily="34" charset="-120"/>
              </a:rPr>
              <a:t>A python script analyze the frames on the input and counts the distinct/unique frames per second. The results are included The FPGA counter says a frame was published. Only this says the picture actually changed — and on one occasion the two disagreed, correctly.</a:t>
            </a:r>
            <a:endParaRPr lang="en-US" sz="1300" dirty="0"/>
          </a:p>
        </p:txBody>
      </p:sp>
      <p:sp>
        <p:nvSpPr>
          <p:cNvPr id="5" name="Shape 3"/>
          <p:cNvSpPr/>
          <p:nvPr/>
        </p:nvSpPr>
        <p:spPr>
          <a:xfrm>
            <a:off x="548640" y="1627631"/>
            <a:ext cx="5486400" cy="1737359"/>
          </a:xfrm>
          <a:prstGeom prst="roundRect">
            <a:avLst>
              <a:gd name="adj" fmla="val 2857"/>
            </a:avLst>
          </a:prstGeom>
          <a:solidFill>
            <a:srgbClr val="1B2A45"/>
          </a:solidFill>
          <a:ln w="15875">
            <a:solidFill>
              <a:srgbClr val="16233A"/>
            </a:solidFill>
            <a:prstDash val="solid"/>
          </a:ln>
        </p:spPr>
        <p:txBody>
          <a:bodyPr/>
          <a:lstStyle/>
          <a:p>
            <a:endParaRPr lang="en-US"/>
          </a:p>
        </p:txBody>
      </p:sp>
      <p:sp>
        <p:nvSpPr>
          <p:cNvPr id="6" name="Text 4"/>
          <p:cNvSpPr/>
          <p:nvPr/>
        </p:nvSpPr>
        <p:spPr>
          <a:xfrm>
            <a:off x="694944" y="1737360"/>
            <a:ext cx="5193792" cy="1380744"/>
          </a:xfrm>
          <a:prstGeom prst="rect">
            <a:avLst/>
          </a:prstGeom>
          <a:noFill/>
          <a:ln/>
        </p:spPr>
        <p:txBody>
          <a:bodyPr wrap="square" lIns="0" tIns="0" rIns="0" bIns="0" rtlCol="0" anchor="t"/>
          <a:lstStyle/>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cap.set(cv2.CAP_PROP_FOURCC, YUY2)   # 1920x1080</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h = blake2b(frame.tobytes()).digest()</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two reads of one output frame are bit-identical</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two different frames differ by sensor noise alone</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(~1.35 LSB/px over 2.07 M px) - no threshold,</a:t>
            </a:r>
            <a:endParaRPr lang="en-US" sz="1000" dirty="0"/>
          </a:p>
          <a:p>
            <a:pPr marL="0" indent="0">
              <a:lnSpc>
                <a:spcPct val="106000"/>
              </a:lnSpc>
              <a:buNone/>
            </a:pPr>
            <a:r>
              <a:rPr lang="en-US" sz="1000" dirty="0">
                <a:solidFill>
                  <a:srgbClr val="D8E4F5"/>
                </a:solidFill>
                <a:latin typeface="Consolas" pitchFamily="34" charset="0"/>
                <a:ea typeface="Consolas" pitchFamily="34" charset="-122"/>
                <a:cs typeface="Consolas" pitchFamily="34" charset="-120"/>
              </a:rPr>
              <a:t>#  no moving target needed</a:t>
            </a:r>
            <a:endParaRPr lang="en-US" sz="1000" dirty="0"/>
          </a:p>
        </p:txBody>
      </p:sp>
      <p:sp>
        <p:nvSpPr>
          <p:cNvPr id="7" name="Text 5"/>
          <p:cNvSpPr/>
          <p:nvPr/>
        </p:nvSpPr>
        <p:spPr>
          <a:xfrm>
            <a:off x="548640" y="3332073"/>
            <a:ext cx="5486400" cy="219456"/>
          </a:xfrm>
          <a:prstGeom prst="rect">
            <a:avLst/>
          </a:prstGeom>
          <a:noFill/>
          <a:ln/>
        </p:spPr>
        <p:txBody>
          <a:bodyPr wrap="square" lIns="0" tIns="0" rIns="0" bIns="0" rtlCol="0" anchor="ctr"/>
          <a:lstStyle/>
          <a:p>
            <a:pPr marL="0" indent="0">
              <a:buNone/>
            </a:pPr>
            <a:r>
              <a:rPr lang="en-US" sz="950" dirty="0">
                <a:solidFill>
                  <a:srgbClr val="6B7C97"/>
                </a:solidFill>
                <a:latin typeface="Consolas" pitchFamily="34" charset="0"/>
                <a:ea typeface="Consolas" pitchFamily="34" charset="-122"/>
                <a:cs typeface="Consolas" pitchFamily="34" charset="-120"/>
              </a:rPr>
              <a:t>scripts/measure_output_rate.py</a:t>
            </a:r>
            <a:endParaRPr lang="en-US" sz="950" dirty="0"/>
          </a:p>
        </p:txBody>
      </p:sp>
      <p:grpSp>
        <p:nvGrpSpPr>
          <p:cNvPr id="63" name="Group 62">
            <a:extLst>
              <a:ext uri="{FF2B5EF4-FFF2-40B4-BE49-F238E27FC236}">
                <a16:creationId xmlns:a16="http://schemas.microsoft.com/office/drawing/2014/main" id="{F0218621-576A-7374-6434-B142BD44F980}"/>
              </a:ext>
            </a:extLst>
          </p:cNvPr>
          <p:cNvGrpSpPr/>
          <p:nvPr/>
        </p:nvGrpSpPr>
        <p:grpSpPr>
          <a:xfrm>
            <a:off x="562625" y="3593592"/>
            <a:ext cx="2606040" cy="1709928"/>
            <a:chOff x="9144000" y="1627632"/>
            <a:chExt cx="2606040" cy="1709928"/>
          </a:xfrm>
        </p:grpSpPr>
        <p:sp>
          <p:nvSpPr>
            <p:cNvPr id="37" name="Text 35"/>
            <p:cNvSpPr/>
            <p:nvPr/>
          </p:nvSpPr>
          <p:spPr>
            <a:xfrm>
              <a:off x="9144000" y="3112618"/>
              <a:ext cx="1051560" cy="224942"/>
            </a:xfrm>
            <a:prstGeom prst="rect">
              <a:avLst/>
            </a:prstGeom>
            <a:noFill/>
            <a:ln/>
          </p:spPr>
          <p:txBody>
            <a:bodyPr wrap="square" lIns="0" tIns="0" rIns="0" bIns="0" rtlCol="0" anchor="ctr"/>
            <a:lstStyle/>
            <a:p>
              <a:pPr marL="0" indent="0" algn="r">
                <a:buNone/>
              </a:pPr>
              <a:r>
                <a:rPr lang="en-US" sz="950" dirty="0">
                  <a:solidFill>
                    <a:srgbClr val="27374F"/>
                  </a:solidFill>
                  <a:latin typeface="Calibri" pitchFamily="34" charset="0"/>
                  <a:ea typeface="Calibri" pitchFamily="34" charset="-122"/>
                  <a:cs typeface="Calibri" pitchFamily="34" charset="-120"/>
                </a:rPr>
                <a:t>200 ms</a:t>
              </a:r>
              <a:endParaRPr lang="en-US" sz="950" dirty="0"/>
            </a:p>
          </p:txBody>
        </p:sp>
        <p:grpSp>
          <p:nvGrpSpPr>
            <p:cNvPr id="62" name="Group 61">
              <a:extLst>
                <a:ext uri="{FF2B5EF4-FFF2-40B4-BE49-F238E27FC236}">
                  <a16:creationId xmlns:a16="http://schemas.microsoft.com/office/drawing/2014/main" id="{9D06CFDC-0329-9C5B-D286-1E479337917A}"/>
                </a:ext>
              </a:extLst>
            </p:cNvPr>
            <p:cNvGrpSpPr/>
            <p:nvPr/>
          </p:nvGrpSpPr>
          <p:grpSpPr>
            <a:xfrm>
              <a:off x="9144000" y="1627632"/>
              <a:ext cx="2606040" cy="1664208"/>
              <a:chOff x="9144000" y="1627632"/>
              <a:chExt cx="2606040" cy="1664208"/>
            </a:xfrm>
          </p:grpSpPr>
          <p:sp>
            <p:nvSpPr>
              <p:cNvPr id="27" name="Text 25"/>
              <p:cNvSpPr/>
              <p:nvPr/>
            </p:nvSpPr>
            <p:spPr>
              <a:xfrm>
                <a:off x="11201400" y="1993392"/>
                <a:ext cx="548640" cy="224942"/>
              </a:xfrm>
              <a:prstGeom prst="rect">
                <a:avLst/>
              </a:prstGeom>
              <a:noFill/>
              <a:ln/>
            </p:spPr>
            <p:txBody>
              <a:bodyPr wrap="square" lIns="0" tIns="0" rIns="0" bIns="0" rtlCol="0" anchor="ctr"/>
              <a:lstStyle/>
              <a:p>
                <a:pPr marL="0" indent="0">
                  <a:buNone/>
                </a:pPr>
                <a:r>
                  <a:rPr lang="en-US" sz="900" dirty="0">
                    <a:solidFill>
                      <a:srgbClr val="6B7C97"/>
                    </a:solidFill>
                    <a:latin typeface="Calibri" pitchFamily="34" charset="0"/>
                    <a:ea typeface="Calibri" pitchFamily="34" charset="-122"/>
                    <a:cs typeface="Calibri" pitchFamily="34" charset="-120"/>
                  </a:rPr>
                  <a:t>274</a:t>
                </a:r>
                <a:endParaRPr lang="en-US" sz="900" dirty="0"/>
              </a:p>
            </p:txBody>
          </p:sp>
          <p:grpSp>
            <p:nvGrpSpPr>
              <p:cNvPr id="61" name="Group 60">
                <a:extLst>
                  <a:ext uri="{FF2B5EF4-FFF2-40B4-BE49-F238E27FC236}">
                    <a16:creationId xmlns:a16="http://schemas.microsoft.com/office/drawing/2014/main" id="{4E74FB43-98D5-994C-23C5-12DE876F544C}"/>
                  </a:ext>
                </a:extLst>
              </p:cNvPr>
              <p:cNvGrpSpPr/>
              <p:nvPr/>
            </p:nvGrpSpPr>
            <p:grpSpPr>
              <a:xfrm>
                <a:off x="9144000" y="1627632"/>
                <a:ext cx="2606040" cy="1664208"/>
                <a:chOff x="9144000" y="1627632"/>
                <a:chExt cx="2606040" cy="1664208"/>
              </a:xfrm>
            </p:grpSpPr>
            <p:sp>
              <p:nvSpPr>
                <p:cNvPr id="24" name="Text 22"/>
                <p:cNvSpPr/>
                <p:nvPr/>
              </p:nvSpPr>
              <p:spPr>
                <a:xfrm>
                  <a:off x="9144000" y="1627632"/>
                  <a:ext cx="2606040" cy="274320"/>
                </a:xfrm>
                <a:prstGeom prst="rect">
                  <a:avLst/>
                </a:prstGeom>
                <a:noFill/>
                <a:ln/>
              </p:spPr>
              <p:txBody>
                <a:bodyPr wrap="square" lIns="0" tIns="0" rIns="0" bIns="0" rtlCol="0" anchor="ctr"/>
                <a:lstStyle/>
                <a:p>
                  <a:pPr marL="0" indent="0">
                    <a:buNone/>
                  </a:pPr>
                  <a:r>
                    <a:rPr lang="en-US" sz="1200" b="1" dirty="0">
                      <a:solidFill>
                        <a:srgbClr val="0E1C36"/>
                      </a:solidFill>
                      <a:latin typeface="Calibri" pitchFamily="34" charset="0"/>
                      <a:ea typeface="Calibri" pitchFamily="34" charset="-122"/>
                      <a:cs typeface="Calibri" pitchFamily="34" charset="-120"/>
                    </a:rPr>
                    <a:t>EO panorama</a:t>
                  </a:r>
                  <a:endParaRPr lang="en-US" sz="1200" dirty="0"/>
                </a:p>
              </p:txBody>
            </p:sp>
            <p:sp>
              <p:nvSpPr>
                <p:cNvPr id="25" name="Text 23"/>
                <p:cNvSpPr/>
                <p:nvPr/>
              </p:nvSpPr>
              <p:spPr>
                <a:xfrm>
                  <a:off x="9144000" y="1993392"/>
                  <a:ext cx="1051560" cy="224942"/>
                </a:xfrm>
                <a:prstGeom prst="rect">
                  <a:avLst/>
                </a:prstGeom>
                <a:noFill/>
                <a:ln/>
              </p:spPr>
              <p:txBody>
                <a:bodyPr wrap="square" lIns="0" tIns="0" rIns="0" bIns="0" rtlCol="0" anchor="ctr"/>
                <a:lstStyle/>
                <a:p>
                  <a:pPr marL="0" indent="0" algn="r">
                    <a:buNone/>
                  </a:pPr>
                  <a:r>
                    <a:rPr lang="en-US" sz="950" dirty="0">
                      <a:solidFill>
                        <a:srgbClr val="27374F"/>
                      </a:solidFill>
                      <a:latin typeface="Calibri" pitchFamily="34" charset="0"/>
                      <a:ea typeface="Calibri" pitchFamily="34" charset="-122"/>
                      <a:cs typeface="Calibri" pitchFamily="34" charset="-120"/>
                    </a:rPr>
                    <a:t>33 ms</a:t>
                  </a:r>
                  <a:endParaRPr lang="en-US" sz="950" dirty="0"/>
                </a:p>
              </p:txBody>
            </p:sp>
            <p:sp>
              <p:nvSpPr>
                <p:cNvPr id="26" name="Shape 24"/>
                <p:cNvSpPr/>
                <p:nvPr/>
              </p:nvSpPr>
              <p:spPr>
                <a:xfrm>
                  <a:off x="10287000" y="2020824"/>
                  <a:ext cx="868680" cy="151790"/>
                </a:xfrm>
                <a:prstGeom prst="rect">
                  <a:avLst/>
                </a:prstGeom>
                <a:solidFill>
                  <a:srgbClr val="02A37A"/>
                </a:solidFill>
                <a:ln w="12700">
                  <a:solidFill>
                    <a:srgbClr val="02A37A"/>
                  </a:solidFill>
                  <a:prstDash val="solid"/>
                </a:ln>
              </p:spPr>
              <p:txBody>
                <a:bodyPr/>
                <a:lstStyle/>
                <a:p>
                  <a:endParaRPr lang="en-US"/>
                </a:p>
              </p:txBody>
            </p:sp>
            <p:sp>
              <p:nvSpPr>
                <p:cNvPr id="28" name="Text 26"/>
                <p:cNvSpPr/>
                <p:nvPr/>
              </p:nvSpPr>
              <p:spPr>
                <a:xfrm>
                  <a:off x="9144000" y="2273198"/>
                  <a:ext cx="1051560" cy="224942"/>
                </a:xfrm>
                <a:prstGeom prst="rect">
                  <a:avLst/>
                </a:prstGeom>
                <a:noFill/>
                <a:ln/>
              </p:spPr>
              <p:txBody>
                <a:bodyPr wrap="square" lIns="0" tIns="0" rIns="0" bIns="0" rtlCol="0" anchor="ctr"/>
                <a:lstStyle/>
                <a:p>
                  <a:pPr marL="0" indent="0" algn="r">
                    <a:buNone/>
                  </a:pPr>
                  <a:r>
                    <a:rPr lang="en-US" sz="950" dirty="0">
                      <a:solidFill>
                        <a:srgbClr val="27374F"/>
                      </a:solidFill>
                      <a:latin typeface="Calibri" pitchFamily="34" charset="0"/>
                      <a:ea typeface="Calibri" pitchFamily="34" charset="-122"/>
                      <a:cs typeface="Calibri" pitchFamily="34" charset="-120"/>
                    </a:rPr>
                    <a:t>67 ms</a:t>
                  </a:r>
                  <a:endParaRPr lang="en-US" sz="950" dirty="0"/>
                </a:p>
              </p:txBody>
            </p:sp>
            <p:sp>
              <p:nvSpPr>
                <p:cNvPr id="29" name="Shape 27"/>
                <p:cNvSpPr/>
                <p:nvPr/>
              </p:nvSpPr>
              <p:spPr>
                <a:xfrm>
                  <a:off x="10287000" y="2300630"/>
                  <a:ext cx="174370" cy="151790"/>
                </a:xfrm>
                <a:prstGeom prst="rect">
                  <a:avLst/>
                </a:prstGeom>
                <a:solidFill>
                  <a:srgbClr val="B4443A"/>
                </a:solidFill>
                <a:ln w="12700">
                  <a:solidFill>
                    <a:srgbClr val="B4443A"/>
                  </a:solidFill>
                  <a:prstDash val="solid"/>
                </a:ln>
              </p:spPr>
              <p:txBody>
                <a:bodyPr/>
                <a:lstStyle/>
                <a:p>
                  <a:endParaRPr lang="en-US"/>
                </a:p>
              </p:txBody>
            </p:sp>
            <p:sp>
              <p:nvSpPr>
                <p:cNvPr id="30" name="Text 28"/>
                <p:cNvSpPr/>
                <p:nvPr/>
              </p:nvSpPr>
              <p:spPr>
                <a:xfrm>
                  <a:off x="10507090" y="2273198"/>
                  <a:ext cx="548640" cy="224942"/>
                </a:xfrm>
                <a:prstGeom prst="rect">
                  <a:avLst/>
                </a:prstGeom>
                <a:noFill/>
                <a:ln/>
              </p:spPr>
              <p:txBody>
                <a:bodyPr wrap="square" lIns="0" tIns="0" rIns="0" bIns="0" rtlCol="0" anchor="ctr"/>
                <a:lstStyle/>
                <a:p>
                  <a:pPr marL="0" indent="0">
                    <a:buNone/>
                  </a:pPr>
                  <a:r>
                    <a:rPr lang="en-US" sz="900" dirty="0">
                      <a:solidFill>
                        <a:srgbClr val="6B7C97"/>
                      </a:solidFill>
                      <a:latin typeface="Calibri" pitchFamily="34" charset="0"/>
                      <a:ea typeface="Calibri" pitchFamily="34" charset="-122"/>
                      <a:cs typeface="Calibri" pitchFamily="34" charset="-120"/>
                    </a:rPr>
                    <a:t>55</a:t>
                  </a:r>
                  <a:endParaRPr lang="en-US" sz="900" dirty="0"/>
                </a:p>
              </p:txBody>
            </p:sp>
            <p:sp>
              <p:nvSpPr>
                <p:cNvPr id="31" name="Text 29"/>
                <p:cNvSpPr/>
                <p:nvPr/>
              </p:nvSpPr>
              <p:spPr>
                <a:xfrm>
                  <a:off x="9144000" y="2553005"/>
                  <a:ext cx="1051560" cy="224942"/>
                </a:xfrm>
                <a:prstGeom prst="rect">
                  <a:avLst/>
                </a:prstGeom>
                <a:noFill/>
                <a:ln/>
              </p:spPr>
              <p:txBody>
                <a:bodyPr wrap="square" lIns="0" tIns="0" rIns="0" bIns="0" rtlCol="0" anchor="ctr"/>
                <a:lstStyle/>
                <a:p>
                  <a:pPr marL="0" indent="0" algn="r">
                    <a:buNone/>
                  </a:pPr>
                  <a:r>
                    <a:rPr lang="en-US" sz="950" dirty="0">
                      <a:solidFill>
                        <a:srgbClr val="27374F"/>
                      </a:solidFill>
                      <a:latin typeface="Calibri" pitchFamily="34" charset="0"/>
                      <a:ea typeface="Calibri" pitchFamily="34" charset="-122"/>
                      <a:cs typeface="Calibri" pitchFamily="34" charset="-120"/>
                    </a:rPr>
                    <a:t>100 ms</a:t>
                  </a:r>
                  <a:endParaRPr lang="en-US" sz="950" dirty="0"/>
                </a:p>
              </p:txBody>
            </p:sp>
            <p:sp>
              <p:nvSpPr>
                <p:cNvPr id="32" name="Shape 30"/>
                <p:cNvSpPr/>
                <p:nvPr/>
              </p:nvSpPr>
              <p:spPr>
                <a:xfrm>
                  <a:off x="10287000" y="2580437"/>
                  <a:ext cx="69748" cy="151790"/>
                </a:xfrm>
                <a:prstGeom prst="rect">
                  <a:avLst/>
                </a:prstGeom>
                <a:solidFill>
                  <a:srgbClr val="B4443A"/>
                </a:solidFill>
                <a:ln w="12700">
                  <a:solidFill>
                    <a:srgbClr val="B4443A"/>
                  </a:solidFill>
                  <a:prstDash val="solid"/>
                </a:ln>
              </p:spPr>
              <p:txBody>
                <a:bodyPr/>
                <a:lstStyle/>
                <a:p>
                  <a:endParaRPr lang="en-US"/>
                </a:p>
              </p:txBody>
            </p:sp>
            <p:sp>
              <p:nvSpPr>
                <p:cNvPr id="33" name="Text 31"/>
                <p:cNvSpPr/>
                <p:nvPr/>
              </p:nvSpPr>
              <p:spPr>
                <a:xfrm>
                  <a:off x="10402468" y="2553005"/>
                  <a:ext cx="548640" cy="224942"/>
                </a:xfrm>
                <a:prstGeom prst="rect">
                  <a:avLst/>
                </a:prstGeom>
                <a:noFill/>
                <a:ln/>
              </p:spPr>
              <p:txBody>
                <a:bodyPr wrap="square" lIns="0" tIns="0" rIns="0" bIns="0" rtlCol="0" anchor="ctr"/>
                <a:lstStyle/>
                <a:p>
                  <a:pPr marL="0" indent="0">
                    <a:buNone/>
                  </a:pPr>
                  <a:r>
                    <a:rPr lang="en-US" sz="900" dirty="0">
                      <a:solidFill>
                        <a:srgbClr val="6B7C97"/>
                      </a:solidFill>
                      <a:latin typeface="Calibri" pitchFamily="34" charset="0"/>
                      <a:ea typeface="Calibri" pitchFamily="34" charset="-122"/>
                      <a:cs typeface="Calibri" pitchFamily="34" charset="-120"/>
                    </a:rPr>
                    <a:t>22</a:t>
                  </a:r>
                  <a:endParaRPr lang="en-US" sz="900" dirty="0"/>
                </a:p>
              </p:txBody>
            </p:sp>
            <p:sp>
              <p:nvSpPr>
                <p:cNvPr id="34" name="Text 32"/>
                <p:cNvSpPr/>
                <p:nvPr/>
              </p:nvSpPr>
              <p:spPr>
                <a:xfrm>
                  <a:off x="9144000" y="2832811"/>
                  <a:ext cx="1051560" cy="224942"/>
                </a:xfrm>
                <a:prstGeom prst="rect">
                  <a:avLst/>
                </a:prstGeom>
                <a:noFill/>
                <a:ln/>
              </p:spPr>
              <p:txBody>
                <a:bodyPr wrap="square" lIns="0" tIns="0" rIns="0" bIns="0" rtlCol="0" anchor="ctr"/>
                <a:lstStyle/>
                <a:p>
                  <a:pPr marL="0" indent="0" algn="r">
                    <a:buNone/>
                  </a:pPr>
                  <a:r>
                    <a:rPr lang="en-US" sz="950" dirty="0">
                      <a:solidFill>
                        <a:srgbClr val="27374F"/>
                      </a:solidFill>
                      <a:latin typeface="Calibri" pitchFamily="34" charset="0"/>
                      <a:ea typeface="Calibri" pitchFamily="34" charset="-122"/>
                      <a:cs typeface="Calibri" pitchFamily="34" charset="-120"/>
                    </a:rPr>
                    <a:t>133 ms</a:t>
                  </a:r>
                  <a:endParaRPr lang="en-US" sz="950" dirty="0"/>
                </a:p>
              </p:txBody>
            </p:sp>
            <p:sp>
              <p:nvSpPr>
                <p:cNvPr id="35" name="Shape 33"/>
                <p:cNvSpPr/>
                <p:nvPr/>
              </p:nvSpPr>
              <p:spPr>
                <a:xfrm>
                  <a:off x="10287000" y="2860243"/>
                  <a:ext cx="27432" cy="151790"/>
                </a:xfrm>
                <a:prstGeom prst="rect">
                  <a:avLst/>
                </a:prstGeom>
                <a:solidFill>
                  <a:srgbClr val="02A37A"/>
                </a:solidFill>
                <a:ln w="12700">
                  <a:solidFill>
                    <a:srgbClr val="02A37A"/>
                  </a:solidFill>
                  <a:prstDash val="solid"/>
                </a:ln>
              </p:spPr>
              <p:txBody>
                <a:bodyPr/>
                <a:lstStyle/>
                <a:p>
                  <a:endParaRPr lang="en-US"/>
                </a:p>
              </p:txBody>
            </p:sp>
            <p:sp>
              <p:nvSpPr>
                <p:cNvPr id="36" name="Text 34"/>
                <p:cNvSpPr/>
                <p:nvPr/>
              </p:nvSpPr>
              <p:spPr>
                <a:xfrm>
                  <a:off x="10360152" y="2832811"/>
                  <a:ext cx="548640" cy="224942"/>
                </a:xfrm>
                <a:prstGeom prst="rect">
                  <a:avLst/>
                </a:prstGeom>
                <a:noFill/>
                <a:ln/>
              </p:spPr>
              <p:txBody>
                <a:bodyPr wrap="square" lIns="0" tIns="0" rIns="0" bIns="0" rtlCol="0" anchor="ctr"/>
                <a:lstStyle/>
                <a:p>
                  <a:pPr marL="0" indent="0">
                    <a:buNone/>
                  </a:pPr>
                  <a:r>
                    <a:rPr lang="en-US" sz="900" dirty="0">
                      <a:solidFill>
                        <a:srgbClr val="6B7C97"/>
                      </a:solidFill>
                      <a:latin typeface="Calibri" pitchFamily="34" charset="0"/>
                      <a:ea typeface="Calibri" pitchFamily="34" charset="-122"/>
                      <a:cs typeface="Calibri" pitchFamily="34" charset="-120"/>
                    </a:rPr>
                    <a:t>0</a:t>
                  </a:r>
                  <a:endParaRPr lang="en-US" sz="900" dirty="0"/>
                </a:p>
              </p:txBody>
            </p:sp>
            <p:sp>
              <p:nvSpPr>
                <p:cNvPr id="38" name="Shape 36"/>
                <p:cNvSpPr/>
                <p:nvPr/>
              </p:nvSpPr>
              <p:spPr>
                <a:xfrm>
                  <a:off x="10287000" y="3140050"/>
                  <a:ext cx="27432" cy="151790"/>
                </a:xfrm>
                <a:prstGeom prst="rect">
                  <a:avLst/>
                </a:prstGeom>
                <a:solidFill>
                  <a:srgbClr val="02A37A"/>
                </a:solidFill>
                <a:ln w="12700">
                  <a:solidFill>
                    <a:srgbClr val="02A37A"/>
                  </a:solidFill>
                  <a:prstDash val="solid"/>
                </a:ln>
              </p:spPr>
              <p:txBody>
                <a:bodyPr/>
                <a:lstStyle/>
                <a:p>
                  <a:endParaRPr lang="en-US"/>
                </a:p>
              </p:txBody>
            </p:sp>
          </p:grpSp>
        </p:grpSp>
        <p:sp>
          <p:nvSpPr>
            <p:cNvPr id="39" name="Text 37"/>
            <p:cNvSpPr/>
            <p:nvPr/>
          </p:nvSpPr>
          <p:spPr>
            <a:xfrm>
              <a:off x="10360152" y="3112618"/>
              <a:ext cx="548640" cy="224942"/>
            </a:xfrm>
            <a:prstGeom prst="rect">
              <a:avLst/>
            </a:prstGeom>
            <a:noFill/>
            <a:ln/>
          </p:spPr>
          <p:txBody>
            <a:bodyPr wrap="square" lIns="0" tIns="0" rIns="0" bIns="0" rtlCol="0" anchor="ctr"/>
            <a:lstStyle/>
            <a:p>
              <a:pPr marL="0" indent="0">
                <a:buNone/>
              </a:pPr>
              <a:r>
                <a:rPr lang="en-US" sz="900" dirty="0">
                  <a:solidFill>
                    <a:srgbClr val="6B7C97"/>
                  </a:solidFill>
                  <a:latin typeface="Calibri" pitchFamily="34" charset="0"/>
                  <a:ea typeface="Calibri" pitchFamily="34" charset="-122"/>
                  <a:cs typeface="Calibri" pitchFamily="34" charset="-120"/>
                </a:rPr>
                <a:t>0</a:t>
              </a:r>
              <a:endParaRPr lang="en-US" sz="900" dirty="0"/>
            </a:p>
          </p:txBody>
        </p:sp>
      </p:grpSp>
      <p:sp>
        <p:nvSpPr>
          <p:cNvPr id="40" name="Text 38"/>
          <p:cNvSpPr/>
          <p:nvPr/>
        </p:nvSpPr>
        <p:spPr>
          <a:xfrm>
            <a:off x="3337560" y="3730751"/>
            <a:ext cx="1569122" cy="1652375"/>
          </a:xfrm>
          <a:prstGeom prst="rect">
            <a:avLst/>
          </a:prstGeom>
          <a:noFill/>
          <a:ln/>
        </p:spPr>
        <p:txBody>
          <a:bodyPr wrap="square" lIns="0" tIns="0" rIns="0" bIns="0" rtlCol="0" anchor="ctr"/>
          <a:lstStyle/>
          <a:p>
            <a:pPr marL="0" indent="0">
              <a:buNone/>
            </a:pPr>
            <a:r>
              <a:rPr lang="en-US" sz="1000" i="1" dirty="0">
                <a:solidFill>
                  <a:srgbClr val="6B7C97"/>
                </a:solidFill>
                <a:latin typeface="Calibri" pitchFamily="34" charset="0"/>
                <a:ea typeface="Calibri" pitchFamily="34" charset="-122"/>
                <a:cs typeface="Calibri" pitchFamily="34" charset="-120"/>
              </a:rPr>
              <a:t>How long each frame stayed on screen. The long stalls disappear; most frames move to the full 33 ms cadence.</a:t>
            </a:r>
            <a:endParaRPr lang="en-US" sz="1000" dirty="0"/>
          </a:p>
        </p:txBody>
      </p:sp>
      <p:graphicFrame>
        <p:nvGraphicFramePr>
          <p:cNvPr id="84" name="Table 83">
            <a:extLst>
              <a:ext uri="{FF2B5EF4-FFF2-40B4-BE49-F238E27FC236}">
                <a16:creationId xmlns:a16="http://schemas.microsoft.com/office/drawing/2014/main" id="{A690057D-B786-0B61-BC71-AA213EA58769}"/>
              </a:ext>
            </a:extLst>
          </p:cNvPr>
          <p:cNvGraphicFramePr>
            <a:graphicFrameLocks noGrp="1"/>
          </p:cNvGraphicFramePr>
          <p:nvPr>
            <p:extLst>
              <p:ext uri="{D42A27DB-BD31-4B8C-83A1-F6EECF244321}">
                <p14:modId xmlns:p14="http://schemas.microsoft.com/office/powerpoint/2010/main" val="2796764923"/>
              </p:ext>
            </p:extLst>
          </p:nvPr>
        </p:nvGraphicFramePr>
        <p:xfrm>
          <a:off x="6233460" y="1627633"/>
          <a:ext cx="4924612" cy="1737360"/>
        </p:xfrm>
        <a:graphic>
          <a:graphicData uri="http://schemas.openxmlformats.org/drawingml/2006/table">
            <a:tbl>
              <a:tblPr firstRow="1" bandRow="1">
                <a:tableStyleId>{7DF18680-E054-41AD-8BC1-D1AEF772440D}</a:tableStyleId>
              </a:tblPr>
              <a:tblGrid>
                <a:gridCol w="2325627">
                  <a:extLst>
                    <a:ext uri="{9D8B030D-6E8A-4147-A177-3AD203B41FA5}">
                      <a16:colId xmlns:a16="http://schemas.microsoft.com/office/drawing/2014/main" val="3863754645"/>
                    </a:ext>
                  </a:extLst>
                </a:gridCol>
                <a:gridCol w="2598985">
                  <a:extLst>
                    <a:ext uri="{9D8B030D-6E8A-4147-A177-3AD203B41FA5}">
                      <a16:colId xmlns:a16="http://schemas.microsoft.com/office/drawing/2014/main" val="2983250837"/>
                    </a:ext>
                  </a:extLst>
                </a:gridCol>
              </a:tblGrid>
              <a:tr h="347472">
                <a:tc>
                  <a:txBody>
                    <a:bodyPr/>
                    <a:lstStyle/>
                    <a:p>
                      <a:pPr algn="l"/>
                      <a:r>
                        <a:rPr lang="en-US" sz="1400" b="1" dirty="0">
                          <a:solidFill>
                            <a:schemeClr val="tx1"/>
                          </a:solidFill>
                        </a:rPr>
                        <a:t>Mode</a:t>
                      </a:r>
                      <a:endParaRPr lang="en-US" sz="14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New frames/s on screen</a:t>
                      </a:r>
                      <a:endParaRPr lang="en-US" sz="1400" dirty="0">
                        <a:solidFill>
                          <a:schemeClr val="tx1"/>
                        </a:solidFill>
                      </a:endParaRPr>
                    </a:p>
                  </a:txBody>
                  <a:tcPr/>
                </a:tc>
                <a:extLst>
                  <a:ext uri="{0D108BD9-81ED-4DB2-BD59-A6C34878D82A}">
                    <a16:rowId xmlns:a16="http://schemas.microsoft.com/office/drawing/2014/main" val="968397975"/>
                  </a:ext>
                </a:extLst>
              </a:tr>
              <a:tr h="347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IR single</a:t>
                      </a:r>
                    </a:p>
                  </a:txBody>
                  <a:tcPr/>
                </a:tc>
                <a:tc>
                  <a:txBody>
                    <a:bodyPr/>
                    <a:lstStyle/>
                    <a:p>
                      <a:pPr algn="l"/>
                      <a:r>
                        <a:rPr lang="en-US" sz="1400" dirty="0"/>
                        <a:t>29.81</a:t>
                      </a:r>
                    </a:p>
                  </a:txBody>
                  <a:tcPr/>
                </a:tc>
                <a:extLst>
                  <a:ext uri="{0D108BD9-81ED-4DB2-BD59-A6C34878D82A}">
                    <a16:rowId xmlns:a16="http://schemas.microsoft.com/office/drawing/2014/main" val="2226213795"/>
                  </a:ext>
                </a:extLst>
              </a:tr>
              <a:tr h="347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IR panorama</a:t>
                      </a:r>
                    </a:p>
                  </a:txBody>
                  <a:tcPr/>
                </a:tc>
                <a:tc>
                  <a:txBody>
                    <a:bodyPr/>
                    <a:lstStyle/>
                    <a:p>
                      <a:pPr algn="l"/>
                      <a:r>
                        <a:rPr lang="en-US" sz="1400" dirty="0"/>
                        <a:t>29.97</a:t>
                      </a:r>
                    </a:p>
                  </a:txBody>
                  <a:tcPr/>
                </a:tc>
                <a:extLst>
                  <a:ext uri="{0D108BD9-81ED-4DB2-BD59-A6C34878D82A}">
                    <a16:rowId xmlns:a16="http://schemas.microsoft.com/office/drawing/2014/main" val="4238250242"/>
                  </a:ext>
                </a:extLst>
              </a:tr>
              <a:tr h="347472">
                <a:tc>
                  <a:txBody>
                    <a:bodyPr/>
                    <a:lstStyle/>
                    <a:p>
                      <a:pPr algn="l"/>
                      <a:r>
                        <a:rPr lang="en-US" sz="1400" dirty="0" err="1"/>
                        <a:t>EO_Single</a:t>
                      </a:r>
                      <a:endParaRPr lang="en-US" sz="1400" dirty="0"/>
                    </a:p>
                  </a:txBody>
                  <a:tcPr/>
                </a:tc>
                <a:tc>
                  <a:txBody>
                    <a:bodyPr/>
                    <a:lstStyle/>
                    <a:p>
                      <a:pPr algn="l"/>
                      <a:r>
                        <a:rPr lang="en-US" sz="1400" dirty="0"/>
                        <a:t>29.89</a:t>
                      </a:r>
                    </a:p>
                  </a:txBody>
                  <a:tcPr/>
                </a:tc>
                <a:extLst>
                  <a:ext uri="{0D108BD9-81ED-4DB2-BD59-A6C34878D82A}">
                    <a16:rowId xmlns:a16="http://schemas.microsoft.com/office/drawing/2014/main" val="911544660"/>
                  </a:ext>
                </a:extLst>
              </a:tr>
              <a:tr h="347472">
                <a:tc>
                  <a:txBody>
                    <a:bodyPr/>
                    <a:lstStyle/>
                    <a:p>
                      <a:pPr algn="l"/>
                      <a:r>
                        <a:rPr lang="en-US" sz="1400" dirty="0" err="1"/>
                        <a:t>EO_Panorama</a:t>
                      </a:r>
                      <a:endParaRPr lang="en-US" sz="1400" dirty="0"/>
                    </a:p>
                  </a:txBody>
                  <a:tcPr/>
                </a:tc>
                <a:tc>
                  <a:txBody>
                    <a:bodyPr/>
                    <a:lstStyle/>
                    <a:p>
                      <a:pPr algn="l"/>
                      <a:r>
                        <a:rPr lang="en-US" sz="1400" dirty="0">
                          <a:solidFill>
                            <a:schemeClr val="accent2">
                              <a:lumMod val="75000"/>
                            </a:schemeClr>
                          </a:solidFill>
                        </a:rPr>
                        <a:t>22.90</a:t>
                      </a:r>
                    </a:p>
                  </a:txBody>
                  <a:tcPr/>
                </a:tc>
                <a:extLst>
                  <a:ext uri="{0D108BD9-81ED-4DB2-BD59-A6C34878D82A}">
                    <a16:rowId xmlns:a16="http://schemas.microsoft.com/office/drawing/2014/main" val="3090879600"/>
                  </a:ext>
                </a:extLst>
              </a:tr>
            </a:tbl>
          </a:graphicData>
        </a:graphic>
      </p:graphicFrame>
      <p:grpSp>
        <p:nvGrpSpPr>
          <p:cNvPr id="87" name="Group 86">
            <a:extLst>
              <a:ext uri="{FF2B5EF4-FFF2-40B4-BE49-F238E27FC236}">
                <a16:creationId xmlns:a16="http://schemas.microsoft.com/office/drawing/2014/main" id="{1B11072E-C444-126B-D4DA-FA9F20500C4C}"/>
              </a:ext>
            </a:extLst>
          </p:cNvPr>
          <p:cNvGrpSpPr/>
          <p:nvPr/>
        </p:nvGrpSpPr>
        <p:grpSpPr>
          <a:xfrm>
            <a:off x="475488" y="5492855"/>
            <a:ext cx="11109960" cy="1051560"/>
            <a:chOff x="475488" y="5492855"/>
            <a:chExt cx="11109960" cy="1051560"/>
          </a:xfrm>
        </p:grpSpPr>
        <p:sp>
          <p:nvSpPr>
            <p:cNvPr id="85" name="Shape 58"/>
            <p:cNvSpPr/>
            <p:nvPr/>
          </p:nvSpPr>
          <p:spPr>
            <a:xfrm>
              <a:off x="475488" y="5492855"/>
              <a:ext cx="11109960" cy="1051560"/>
            </a:xfrm>
            <a:prstGeom prst="roundRect">
              <a:avLst>
                <a:gd name="adj" fmla="val 5217"/>
              </a:avLst>
            </a:prstGeom>
            <a:solidFill>
              <a:srgbClr val="F2F5FA"/>
            </a:solidFill>
            <a:ln w="12700">
              <a:solidFill>
                <a:srgbClr val="D3DCEA"/>
              </a:solidFill>
              <a:prstDash val="solid"/>
            </a:ln>
          </p:spPr>
          <p:txBody>
            <a:bodyPr/>
            <a:lstStyle/>
            <a:p>
              <a:endParaRPr lang="en-US"/>
            </a:p>
          </p:txBody>
        </p:sp>
        <p:sp>
          <p:nvSpPr>
            <p:cNvPr id="86" name="Text 59"/>
            <p:cNvSpPr/>
            <p:nvPr/>
          </p:nvSpPr>
          <p:spPr>
            <a:xfrm>
              <a:off x="731520" y="5611727"/>
              <a:ext cx="10607040" cy="822960"/>
            </a:xfrm>
            <a:prstGeom prst="rect">
              <a:avLst/>
            </a:prstGeom>
            <a:noFill/>
            <a:ln/>
          </p:spPr>
          <p:txBody>
            <a:bodyPr wrap="square" lIns="0" tIns="0" rIns="0" bIns="0" rtlCol="0" anchor="ctr"/>
            <a:lstStyle/>
            <a:p>
              <a:pPr marL="0" indent="0">
                <a:buNone/>
              </a:pPr>
              <a:r>
                <a:rPr lang="en-US" sz="1150" b="1" dirty="0">
                  <a:solidFill>
                    <a:srgbClr val="0E1C36"/>
                  </a:solidFill>
                  <a:latin typeface="Calibri" pitchFamily="34" charset="0"/>
                  <a:ea typeface="Calibri" pitchFamily="34" charset="-122"/>
                  <a:cs typeface="Calibri" pitchFamily="34" charset="-120"/>
                </a:rPr>
                <a:t>The instrument was checked before the results were believed. </a:t>
              </a:r>
              <a:r>
                <a:rPr lang="en-US" sz="1150" dirty="0">
                  <a:solidFill>
                    <a:srgbClr val="27374F"/>
                  </a:solidFill>
                  <a:latin typeface="Calibri" pitchFamily="34" charset="0"/>
                  <a:ea typeface="Calibri" pitchFamily="34" charset="-122"/>
                  <a:cs typeface="Calibri" pitchFamily="34" charset="-120"/>
                </a:rPr>
                <a:t>A USB3 capture card can duplicate or drop frames on its own. IR single returns repeat runs of exactly 2 at a 59.9 fps grab, 352 times in a row, so the card resolves 30 distinct frames per second cleanly. Lower resolution and MJPEG change nothing. A duplicate would hash the same and count once; a dropped frame would make this under-count, never over-count.</a:t>
              </a:r>
              <a:endParaRPr lang="en-US" sz="1150" dirty="0"/>
            </a:p>
          </p:txBody>
        </p:sp>
      </p:grpSp>
    </p:spTree>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46</TotalTime>
  <Words>2106</Words>
  <Application>Microsoft Office PowerPoint</Application>
  <PresentationFormat>Widescreen</PresentationFormat>
  <Paragraphs>267</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System Font Regular</vt:lpstr>
      <vt:lpstr>Arial</vt:lpstr>
      <vt:lpstr>Calibri</vt:lpstr>
      <vt:lpstr>Cambria</vt:lpstr>
      <vt:lpstr>Consolas</vt:lpstr>
      <vt:lpstr>Neue Haas Grotesk Text Pro</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Latency and Frame Rate Analysis</dc:title>
  <dc:subject>PptxGenJS Presentation</dc:subject>
  <dc:creator>EO/IR Panorama V19</dc:creator>
  <cp:lastModifiedBy>Awais</cp:lastModifiedBy>
  <cp:revision>5</cp:revision>
  <dcterms:created xsi:type="dcterms:W3CDTF">2026-08-20T07:19:38Z</dcterms:created>
  <dcterms:modified xsi:type="dcterms:W3CDTF">2026-08-20T08:09:43Z</dcterms:modified>
</cp:coreProperties>
</file>