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Typical latency (ms), measured</c:v>
                </c:pt>
              </c:strCache>
            </c:strRef>
          </c:tx>
          <c:spPr>
            <a:solidFill>
              <a:srgbClr val="C1663A"/>
            </a:solidFill>
            <a:effectLst/>
          </c:spPr>
          <c:invertIfNegative val="0"/>
          <c:dLbls>
            <c:numFmt formatCode="#,##0" sourceLinked="0"/>
            <c:txPr>
              <a:bodyPr/>
              <a:lstStyle/>
              <a:p>
                <a:pPr>
                  <a:defRPr b="0" i="0" strike="noStrike" sz="1200" u="none">
                    <a:solidFill>
                      <a:srgbClr val="0E1C36"/>
                    </a:solidFill>
                    <a:latin typeface="Calibri"/>
                  </a:defRPr>
                </a:pPr>
              </a:p>
            </c:txPr>
            <c:showLegendKey val="0"/>
            <c:showVal val="1"/>
            <c:showCatName val="0"/>
            <c:showSerName val="0"/>
            <c:showPercent val="0"/>
            <c:showBubbleSize val="0"/>
            <c:showLeaderLines val="0"/>
          </c:dLbls>
          <c:dPt>
            <c:idx val="0"/>
            <c:invertIfNegative val="0"/>
            <c:bubble3D val="0"/>
            <c:spPr>
              <a:solidFill>
                <a:srgbClr val="C1663A"/>
              </a:solidFill>
              <a:effectLst/>
            </c:spPr>
          </c:dPt>
          <c:dPt>
            <c:idx val="1"/>
            <c:invertIfNegative val="0"/>
            <c:bubble3D val="0"/>
            <c:spPr>
              <a:solidFill>
                <a:srgbClr val="D18E68"/>
              </a:solidFill>
              <a:effectLst/>
            </c:spPr>
          </c:dPt>
          <c:dPt>
            <c:idx val="2"/>
            <c:invertIfNegative val="0"/>
            <c:bubble3D val="0"/>
            <c:spPr>
              <a:solidFill>
                <a:srgbClr val="5C9BB5"/>
              </a:solidFill>
              <a:effectLst/>
            </c:spPr>
          </c:dPt>
          <c:dPt>
            <c:idx val="3"/>
            <c:invertIfNegative val="0"/>
            <c:bubble3D val="0"/>
            <c:spPr>
              <a:solidFill>
                <a:srgbClr val="1C7293"/>
              </a:solidFill>
              <a:effectLst/>
            </c:spPr>
          </c:dPt>
          <c:cat>
            <c:multiLvlStrRef>
              <c:f>Sheet1!$A$2:$A$5</c:f>
              <c:multiLvlStrCache>
                <c:ptCount val="4"/>
                <c:lvl>
                  <c:pt idx="0">
                    <c:v>IR panorama</c:v>
                  </c:pt>
                  <c:pt idx="1">
                    <c:v>IR single</c:v>
                  </c:pt>
                  <c:pt idx="2">
                    <c:v>EO panorama</c:v>
                  </c:pt>
                  <c:pt idx="3">
                    <c:v>EO single</c:v>
                  </c:pt>
                </c:lvl>
              </c:multiLvlStrCache>
            </c:multiLvlStrRef>
          </c:cat>
          <c:val>
            <c:numRef>
              <c:f>Sheet1!$B$2:$B$5</c:f>
              <c:numCache>
                <c:formatCode>General</c:formatCode>
                <c:ptCount val="4"/>
                <c:pt idx="0">
                  <c:v>78</c:v>
                </c:pt>
                <c:pt idx="1">
                  <c:v>84</c:v>
                </c:pt>
                <c:pt idx="2">
                  <c:v>75</c:v>
                </c:pt>
                <c:pt idx="3">
                  <c:v>50</c:v>
                </c:pt>
              </c:numCache>
            </c:numRef>
          </c:val>
        </c:ser>
        <c:dLbls>
          <c:numFmt formatCode="#,##0" sourceLinked="0"/>
          <c:txPr>
            <a:bodyPr/>
            <a:lstStyle/>
            <a:p>
              <a:pPr>
                <a:defRPr b="0" i="0" strike="noStrike" sz="1200" u="none">
                  <a:solidFill>
                    <a:srgbClr val="0E1C3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7374F"/>
                </a:solidFill>
                <a:latin typeface="Calibri"/>
              </a:defRPr>
            </a:pPr>
            <a:endParaRPr lang="en-US"/>
          </a:p>
        </c:txPr>
        <c:crossAx val="2094734552"/>
        <c:crosses val="autoZero"/>
        <c:auto val="1"/>
        <c:lblAlgn val="ctr"/>
        <c:noMultiLvlLbl val="1"/>
      </c:catAx>
      <c:valAx>
        <c:axId val="2094734552"/>
        <c:scaling>
          <c:orientation val="minMax"/>
          <c:max val="100"/>
        </c:scaling>
        <c:delete val="0"/>
        <c:axPos val="b"/>
        <c:majorGridlines>
          <c:spPr>
            <a:ln w="12700" cap="flat">
              <a:solidFill>
                <a:srgbClr val="D3DC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C9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modes share one output stage. The differences are entirely in how each mode gets a finished frame into the output framebuffer.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five-stage model is what makes the four modes comparable. Stages 4 and 5 are identical everywhere; only stages 1-3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commit-plus-scan tail is a property of driving a 30 Hz raster from a frame store. It averages half a frame of commit wait plus half a frame of scan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EO single reads back one camera's stored frame. It shares the capture path with the panorama, which is why it behaves like the panorama minus the alignment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alignment stage exists purely because the EO cameras are free-running. It is the single largest difference between EO panorama and IR panorama.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Keeping the IR frame on-chip was a capacity decision, not a latency one - it does not shorten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rows is a property of the panorama geometry: producing the first output row needs source rows up to 34. Read directly from the generated row-window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 panorama is roughly one output frame ahead of everything else, and that gap is architectural rather than an optimisation.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by grabbing the output at 60 fps and counting distinct frames by exact hash. Four independent captures gave 14.8-15.1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1 and 2 are within the current hardware. Item 3 depends on the camera vendor. Item 4 is a property of the output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needs a certified end-to-end figure, that requires an external reference - an LED pulsed into the camera and a photodiode on the display - which we have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36"/>
        </a:solidFill>
      </p:bgPr>
    </p:bg>
    <p:spTree>
      <p:nvGrpSpPr>
        <p:cNvPr id="1" name=""/>
        <p:cNvGrpSpPr/>
        <p:nvPr/>
      </p:nvGrpSpPr>
      <p:grpSpPr>
        <a:xfrm>
          <a:off x="0" y="0"/>
          <a:ext cx="0" cy="0"/>
          <a:chOff x="0" y="0"/>
          <a:chExt cx="0" cy="0"/>
        </a:xfrm>
      </p:grpSpPr>
      <p:sp>
        <p:nvSpPr>
          <p:cNvPr id="2" name="Text 0"/>
          <p:cNvSpPr/>
          <p:nvPr/>
        </p:nvSpPr>
        <p:spPr>
          <a:xfrm>
            <a:off x="822960" y="2057400"/>
            <a:ext cx="1051560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Latency Analysis</a:t>
            </a:r>
            <a:endParaRPr lang="en-US" sz="4800" dirty="0"/>
          </a:p>
        </p:txBody>
      </p:sp>
      <p:sp>
        <p:nvSpPr>
          <p:cNvPr id="3" name="Text 1"/>
          <p:cNvSpPr/>
          <p:nvPr/>
        </p:nvSpPr>
        <p:spPr>
          <a:xfrm>
            <a:off x="822960" y="2971800"/>
            <a:ext cx="10515600" cy="402336"/>
          </a:xfrm>
          <a:prstGeom prst="rect">
            <a:avLst/>
          </a:prstGeom>
          <a:noFill/>
          <a:ln/>
        </p:spPr>
        <p:txBody>
          <a:bodyPr wrap="square" lIns="0" tIns="0" rIns="0" bIns="0" rtlCol="0" anchor="ctr"/>
          <a:lstStyle/>
          <a:p>
            <a:pPr indent="0" marL="0">
              <a:buNone/>
            </a:pPr>
            <a:r>
              <a:rPr lang="en-US" sz="1900" dirty="0">
                <a:solidFill>
                  <a:srgbClr val="9FB4D4"/>
                </a:solidFill>
                <a:latin typeface="Calibri" pitchFamily="34" charset="0"/>
                <a:ea typeface="Calibri" pitchFamily="34" charset="-122"/>
                <a:cs typeface="Calibri" pitchFamily="34" charset="-120"/>
              </a:rPr>
              <a:t>Six-camera EO / IR panorama  ·  V19 Milestone 1</a:t>
            </a:r>
            <a:endParaRPr lang="en-US" sz="1900" dirty="0"/>
          </a:p>
        </p:txBody>
      </p:sp>
      <p:sp>
        <p:nvSpPr>
          <p:cNvPr id="4" name="Text 2"/>
          <p:cNvSpPr/>
          <p:nvPr/>
        </p:nvSpPr>
        <p:spPr>
          <a:xfrm>
            <a:off x="822960" y="3566160"/>
            <a:ext cx="8778240" cy="457200"/>
          </a:xfrm>
          <a:prstGeom prst="rect">
            <a:avLst/>
          </a:prstGeom>
          <a:noFill/>
          <a:ln/>
        </p:spPr>
        <p:txBody>
          <a:bodyPr wrap="square" lIns="0" tIns="0" rIns="0" bIns="0" rtlCol="0" anchor="ctr"/>
          <a:lstStyle/>
          <a:p>
            <a:pPr indent="0" marL="0">
              <a:buNone/>
            </a:pPr>
            <a:r>
              <a:rPr lang="en-US" sz="1300" dirty="0">
                <a:solidFill>
                  <a:srgbClr val="7E93B5"/>
                </a:solidFill>
                <a:latin typeface="Calibri" pitchFamily="34" charset="0"/>
                <a:ea typeface="Calibri" pitchFamily="34" charset="-122"/>
                <a:cs typeface="Calibri" pitchFamily="34" charset="-120"/>
              </a:rPr>
              <a:t>End-to-end timing for all four display modes, with the pipeline stage that sets each one.</a:t>
            </a:r>
            <a:endParaRPr lang="en-US" sz="1300" dirty="0"/>
          </a:p>
        </p:txBody>
      </p:sp>
      <p:sp>
        <p:nvSpPr>
          <p:cNvPr id="5" name="Shape 3"/>
          <p:cNvSpPr/>
          <p:nvPr/>
        </p:nvSpPr>
        <p:spPr>
          <a:xfrm>
            <a:off x="822960" y="4709160"/>
            <a:ext cx="2148840" cy="566928"/>
          </a:xfrm>
          <a:prstGeom prst="roundRect">
            <a:avLst>
              <a:gd name="adj" fmla="val 12903"/>
            </a:avLst>
          </a:prstGeom>
          <a:solidFill>
            <a:srgbClr val="16294A"/>
          </a:solidFill>
          <a:ln w="15875">
            <a:solidFill>
              <a:srgbClr val="1C7293"/>
            </a:solidFill>
            <a:prstDash val="solid"/>
          </a:ln>
        </p:spPr>
      </p:sp>
      <p:sp>
        <p:nvSpPr>
          <p:cNvPr id="6" name="Text 4"/>
          <p:cNvSpPr/>
          <p:nvPr/>
        </p:nvSpPr>
        <p:spPr>
          <a:xfrm>
            <a:off x="822960" y="4709160"/>
            <a:ext cx="21488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EO single</a:t>
            </a:r>
            <a:endParaRPr lang="en-US" sz="1300" dirty="0"/>
          </a:p>
        </p:txBody>
      </p:sp>
      <p:sp>
        <p:nvSpPr>
          <p:cNvPr id="7" name="Shape 5"/>
          <p:cNvSpPr/>
          <p:nvPr/>
        </p:nvSpPr>
        <p:spPr>
          <a:xfrm>
            <a:off x="3218688" y="4709160"/>
            <a:ext cx="2148840" cy="566928"/>
          </a:xfrm>
          <a:prstGeom prst="roundRect">
            <a:avLst>
              <a:gd name="adj" fmla="val 12903"/>
            </a:avLst>
          </a:prstGeom>
          <a:solidFill>
            <a:srgbClr val="16294A"/>
          </a:solidFill>
          <a:ln w="15875">
            <a:solidFill>
              <a:srgbClr val="1C7293"/>
            </a:solidFill>
            <a:prstDash val="solid"/>
          </a:ln>
        </p:spPr>
      </p:sp>
      <p:sp>
        <p:nvSpPr>
          <p:cNvPr id="8" name="Text 6"/>
          <p:cNvSpPr/>
          <p:nvPr/>
        </p:nvSpPr>
        <p:spPr>
          <a:xfrm>
            <a:off x="3218688" y="4709160"/>
            <a:ext cx="21488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EO panorama</a:t>
            </a:r>
            <a:endParaRPr lang="en-US" sz="1300" dirty="0"/>
          </a:p>
        </p:txBody>
      </p:sp>
      <p:sp>
        <p:nvSpPr>
          <p:cNvPr id="9" name="Shape 7"/>
          <p:cNvSpPr/>
          <p:nvPr/>
        </p:nvSpPr>
        <p:spPr>
          <a:xfrm>
            <a:off x="5614416" y="4709160"/>
            <a:ext cx="2148840" cy="566928"/>
          </a:xfrm>
          <a:prstGeom prst="roundRect">
            <a:avLst>
              <a:gd name="adj" fmla="val 12903"/>
            </a:avLst>
          </a:prstGeom>
          <a:solidFill>
            <a:srgbClr val="16294A"/>
          </a:solidFill>
          <a:ln w="15875">
            <a:solidFill>
              <a:srgbClr val="C1663A"/>
            </a:solidFill>
            <a:prstDash val="solid"/>
          </a:ln>
        </p:spPr>
      </p:sp>
      <p:sp>
        <p:nvSpPr>
          <p:cNvPr id="10" name="Text 8"/>
          <p:cNvSpPr/>
          <p:nvPr/>
        </p:nvSpPr>
        <p:spPr>
          <a:xfrm>
            <a:off x="5614416" y="4709160"/>
            <a:ext cx="21488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IR single</a:t>
            </a:r>
            <a:endParaRPr lang="en-US" sz="1300" dirty="0"/>
          </a:p>
        </p:txBody>
      </p:sp>
      <p:sp>
        <p:nvSpPr>
          <p:cNvPr id="11" name="Shape 9"/>
          <p:cNvSpPr/>
          <p:nvPr/>
        </p:nvSpPr>
        <p:spPr>
          <a:xfrm>
            <a:off x="8010144" y="4709160"/>
            <a:ext cx="2148840" cy="566928"/>
          </a:xfrm>
          <a:prstGeom prst="roundRect">
            <a:avLst>
              <a:gd name="adj" fmla="val 12903"/>
            </a:avLst>
          </a:prstGeom>
          <a:solidFill>
            <a:srgbClr val="16294A"/>
          </a:solidFill>
          <a:ln w="15875">
            <a:solidFill>
              <a:srgbClr val="C1663A"/>
            </a:solidFill>
            <a:prstDash val="solid"/>
          </a:ln>
        </p:spPr>
      </p:sp>
      <p:sp>
        <p:nvSpPr>
          <p:cNvPr id="12" name="Text 10"/>
          <p:cNvSpPr/>
          <p:nvPr/>
        </p:nvSpPr>
        <p:spPr>
          <a:xfrm>
            <a:off x="8010144" y="4709160"/>
            <a:ext cx="21488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IR panorama</a:t>
            </a:r>
            <a:endParaRPr lang="en-US" sz="1300" dirty="0"/>
          </a:p>
        </p:txBody>
      </p:sp>
      <p:sp>
        <p:nvSpPr>
          <p:cNvPr id="13" name="Text 11"/>
          <p:cNvSpPr/>
          <p:nvPr/>
        </p:nvSpPr>
        <p:spPr>
          <a:xfrm>
            <a:off x="822960" y="5943600"/>
            <a:ext cx="3657600" cy="274320"/>
          </a:xfrm>
          <a:prstGeom prst="rect">
            <a:avLst/>
          </a:prstGeom>
          <a:noFill/>
          <a:ln/>
        </p:spPr>
        <p:txBody>
          <a:bodyPr wrap="square" lIns="0" tIns="0" rIns="0" bIns="0" rtlCol="0" anchor="ctr"/>
          <a:lstStyle/>
          <a:p>
            <a:pPr indent="0" marL="0">
              <a:buNone/>
            </a:pPr>
            <a:r>
              <a:rPr lang="en-US" sz="1100" dirty="0">
                <a:solidFill>
                  <a:srgbClr val="6B82A8"/>
                </a:solidFill>
                <a:latin typeface="Calibri" pitchFamily="34" charset="0"/>
                <a:ea typeface="Calibri" pitchFamily="34" charset="-122"/>
                <a:cs typeface="Calibri" pitchFamily="34" charset="-120"/>
              </a:rPr>
              <a:t>2026-08-19</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What we mean by latency</a:t>
            </a:r>
            <a:endParaRPr lang="en-US" sz="3200" dirty="0"/>
          </a:p>
        </p:txBody>
      </p:sp>
      <p:sp>
        <p:nvSpPr>
          <p:cNvPr id="4" name="Text 2"/>
          <p:cNvSpPr/>
          <p:nvPr/>
        </p:nvSpPr>
        <p:spPr>
          <a:xfrm>
            <a:off x="548640" y="1371600"/>
            <a:ext cx="5943600" cy="685800"/>
          </a:xfrm>
          <a:prstGeom prst="rect">
            <a:avLst/>
          </a:prstGeom>
          <a:noFill/>
          <a:ln/>
        </p:spPr>
        <p:txBody>
          <a:bodyPr wrap="square" lIns="0" tIns="0" rIns="0" bIns="0" rtlCol="0" anchor="ctr"/>
          <a:lstStyle/>
          <a:p>
            <a:pPr indent="0" marL="0">
              <a:buNone/>
            </a:pPr>
            <a:r>
              <a:rPr lang="en-US" sz="1400" b="1" dirty="0">
                <a:solidFill>
                  <a:srgbClr val="27374F"/>
                </a:solidFill>
                <a:latin typeface="Calibri" pitchFamily="34" charset="0"/>
                <a:ea typeface="Calibri" pitchFamily="34" charset="-122"/>
                <a:cs typeface="Calibri" pitchFamily="34" charset="-120"/>
              </a:rPr>
              <a:t>The number quoted is glass-to-glass inside the FPGA: </a:t>
            </a:r>
            <a:pPr indent="0" marL="0">
              <a:buNone/>
            </a:pPr>
            <a:r>
              <a:rPr lang="en-US" sz="1400" dirty="0">
                <a:solidFill>
                  <a:srgbClr val="27374F"/>
                </a:solidFill>
                <a:latin typeface="Calibri" pitchFamily="34" charset="0"/>
                <a:ea typeface="Calibri" pitchFamily="34" charset="-122"/>
                <a:cs typeface="Calibri" pitchFamily="34" charset="-120"/>
              </a:rPr>
              <a:t>from the moment a camera has delivered an image row, to the moment that row leaves the HD-SDI output.</a:t>
            </a:r>
            <a:endParaRPr lang="en-US" sz="1400" dirty="0"/>
          </a:p>
        </p:txBody>
      </p:sp>
      <p:sp>
        <p:nvSpPr>
          <p:cNvPr id="5" name="Text 3"/>
          <p:cNvSpPr/>
          <p:nvPr/>
        </p:nvSpPr>
        <p:spPr>
          <a:xfrm>
            <a:off x="548640" y="2148840"/>
            <a:ext cx="5943600" cy="731520"/>
          </a:xfrm>
          <a:prstGeom prst="rect">
            <a:avLst/>
          </a:prstGeom>
          <a:noFill/>
          <a:ln/>
        </p:spPr>
        <p:txBody>
          <a:bodyPr wrap="square" lIns="0" tIns="0" rIns="0" bIns="0" rtlCol="0" anchor="ctr"/>
          <a:lstStyle/>
          <a:p>
            <a:pPr indent="0" marL="0">
              <a:buNone/>
            </a:pPr>
            <a:r>
              <a:rPr lang="en-US" sz="1300" i="1" dirty="0">
                <a:solidFill>
                  <a:srgbClr val="6B7C97"/>
                </a:solidFill>
                <a:latin typeface="Calibri" pitchFamily="34" charset="0"/>
                <a:ea typeface="Calibri" pitchFamily="34" charset="-122"/>
                <a:cs typeface="Calibri" pitchFamily="34" charset="-120"/>
              </a:rPr>
              <a:t>Camera sensor integration and ISP delay sit in front of this and are the camera vendor's specification, not ours. </a:t>
            </a:r>
            <a:endParaRPr lang="en-US" sz="1300" dirty="0"/>
          </a:p>
          <a:p>
            <a:pPr indent="0" marL="0">
              <a:buNone/>
            </a:pPr>
            <a:r>
              <a:rPr lang="en-US" sz="1300" i="1" dirty="0">
                <a:solidFill>
                  <a:srgbClr val="6B7C97"/>
                </a:solidFill>
                <a:latin typeface="Calibri" pitchFamily="34" charset="0"/>
                <a:ea typeface="Calibri" pitchFamily="34" charset="-122"/>
                <a:cs typeface="Calibri" pitchFamily="34" charset="-120"/>
              </a:rPr>
              <a:t>Add them to every figure in this deck for a true sensor-to-display number.</a:t>
            </a:r>
            <a:endParaRPr lang="en-US" sz="1300" dirty="0"/>
          </a:p>
        </p:txBody>
      </p:sp>
      <p:sp>
        <p:nvSpPr>
          <p:cNvPr id="6" name="Text 4"/>
          <p:cNvSpPr/>
          <p:nvPr/>
        </p:nvSpPr>
        <p:spPr>
          <a:xfrm>
            <a:off x="548640" y="3063240"/>
            <a:ext cx="5943600" cy="310896"/>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Every mode is built from the same five stages</a:t>
            </a:r>
            <a:endParaRPr lang="en-US" sz="1500" dirty="0"/>
          </a:p>
        </p:txBody>
      </p:sp>
      <p:sp>
        <p:nvSpPr>
          <p:cNvPr id="7" name="Shape 5"/>
          <p:cNvSpPr/>
          <p:nvPr/>
        </p:nvSpPr>
        <p:spPr>
          <a:xfrm>
            <a:off x="566928" y="3529584"/>
            <a:ext cx="256032" cy="256032"/>
          </a:xfrm>
          <a:prstGeom prst="ellipse">
            <a:avLst/>
          </a:prstGeom>
          <a:solidFill>
            <a:srgbClr val="0E1C36"/>
          </a:solidFill>
          <a:ln w="12700">
            <a:solidFill>
              <a:srgbClr val="0E1C36"/>
            </a:solidFill>
            <a:prstDash val="solid"/>
          </a:ln>
        </p:spPr>
      </p:sp>
      <p:sp>
        <p:nvSpPr>
          <p:cNvPr id="8" name="Text 6"/>
          <p:cNvSpPr/>
          <p:nvPr/>
        </p:nvSpPr>
        <p:spPr>
          <a:xfrm>
            <a:off x="566928" y="3529584"/>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9" name="Text 7"/>
          <p:cNvSpPr/>
          <p:nvPr/>
        </p:nvSpPr>
        <p:spPr>
          <a:xfrm>
            <a:off x="941832" y="3493008"/>
            <a:ext cx="5577840" cy="347472"/>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Ingest  </a:t>
            </a:r>
            <a:pPr indent="0" marL="0">
              <a:buNone/>
            </a:pPr>
            <a:r>
              <a:rPr lang="en-US" sz="1200" dirty="0">
                <a:solidFill>
                  <a:srgbClr val="27374F"/>
                </a:solidFill>
                <a:latin typeface="Calibri" pitchFamily="34" charset="0"/>
                <a:ea typeface="Calibri" pitchFamily="34" charset="-122"/>
                <a:cs typeface="Calibri" pitchFamily="34" charset="-120"/>
              </a:rPr>
              <a:t>Camera rows arrive and are stored</a:t>
            </a:r>
            <a:endParaRPr lang="en-US" sz="1200" dirty="0"/>
          </a:p>
        </p:txBody>
      </p:sp>
      <p:sp>
        <p:nvSpPr>
          <p:cNvPr id="10" name="Shape 8"/>
          <p:cNvSpPr/>
          <p:nvPr/>
        </p:nvSpPr>
        <p:spPr>
          <a:xfrm>
            <a:off x="566928" y="4014216"/>
            <a:ext cx="256032" cy="256032"/>
          </a:xfrm>
          <a:prstGeom prst="ellipse">
            <a:avLst/>
          </a:prstGeom>
          <a:solidFill>
            <a:srgbClr val="0E1C36"/>
          </a:solidFill>
          <a:ln w="12700">
            <a:solidFill>
              <a:srgbClr val="0E1C36"/>
            </a:solidFill>
            <a:prstDash val="solid"/>
          </a:ln>
        </p:spPr>
      </p:sp>
      <p:sp>
        <p:nvSpPr>
          <p:cNvPr id="11" name="Text 9"/>
          <p:cNvSpPr/>
          <p:nvPr/>
        </p:nvSpPr>
        <p:spPr>
          <a:xfrm>
            <a:off x="566928" y="4014216"/>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2" name="Text 10"/>
          <p:cNvSpPr/>
          <p:nvPr/>
        </p:nvSpPr>
        <p:spPr>
          <a:xfrm>
            <a:off x="941832" y="3977640"/>
            <a:ext cx="5577840" cy="347472"/>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Align  </a:t>
            </a:r>
            <a:pPr indent="0" marL="0">
              <a:buNone/>
            </a:pPr>
            <a:r>
              <a:rPr lang="en-US" sz="1200" dirty="0">
                <a:solidFill>
                  <a:srgbClr val="27374F"/>
                </a:solidFill>
                <a:latin typeface="Calibri" pitchFamily="34" charset="0"/>
                <a:ea typeface="Calibri" pitchFamily="34" charset="-122"/>
                <a:cs typeface="Calibri" pitchFamily="34" charset="-120"/>
              </a:rPr>
              <a:t>Wait until all contributing cameras agree on one moment in time</a:t>
            </a:r>
            <a:endParaRPr lang="en-US" sz="1200" dirty="0"/>
          </a:p>
        </p:txBody>
      </p:sp>
      <p:sp>
        <p:nvSpPr>
          <p:cNvPr id="13" name="Shape 11"/>
          <p:cNvSpPr/>
          <p:nvPr/>
        </p:nvSpPr>
        <p:spPr>
          <a:xfrm>
            <a:off x="566928" y="4498848"/>
            <a:ext cx="256032" cy="256032"/>
          </a:xfrm>
          <a:prstGeom prst="ellipse">
            <a:avLst/>
          </a:prstGeom>
          <a:solidFill>
            <a:srgbClr val="0E1C36"/>
          </a:solidFill>
          <a:ln w="12700">
            <a:solidFill>
              <a:srgbClr val="0E1C36"/>
            </a:solidFill>
            <a:prstDash val="solid"/>
          </a:ln>
        </p:spPr>
      </p:sp>
      <p:sp>
        <p:nvSpPr>
          <p:cNvPr id="14" name="Text 12"/>
          <p:cNvSpPr/>
          <p:nvPr/>
        </p:nvSpPr>
        <p:spPr>
          <a:xfrm>
            <a:off x="566928" y="4498848"/>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15" name="Text 13"/>
          <p:cNvSpPr/>
          <p:nvPr/>
        </p:nvSpPr>
        <p:spPr>
          <a:xfrm>
            <a:off x="941832" y="4462272"/>
            <a:ext cx="5577840" cy="347472"/>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Render  </a:t>
            </a:r>
            <a:pPr indent="0" marL="0">
              <a:buNone/>
            </a:pPr>
            <a:r>
              <a:rPr lang="en-US" sz="1200" dirty="0">
                <a:solidFill>
                  <a:srgbClr val="27374F"/>
                </a:solidFill>
                <a:latin typeface="Calibri" pitchFamily="34" charset="0"/>
                <a:ea typeface="Calibri" pitchFamily="34" charset="-122"/>
                <a:cs typeface="Calibri" pitchFamily="34" charset="-120"/>
              </a:rPr>
              <a:t>Warp, blend and write the finished output frame</a:t>
            </a:r>
            <a:endParaRPr lang="en-US" sz="1200" dirty="0"/>
          </a:p>
        </p:txBody>
      </p:sp>
      <p:sp>
        <p:nvSpPr>
          <p:cNvPr id="16" name="Shape 14"/>
          <p:cNvSpPr/>
          <p:nvPr/>
        </p:nvSpPr>
        <p:spPr>
          <a:xfrm>
            <a:off x="566928" y="4983480"/>
            <a:ext cx="256032" cy="256032"/>
          </a:xfrm>
          <a:prstGeom prst="ellipse">
            <a:avLst/>
          </a:prstGeom>
          <a:solidFill>
            <a:srgbClr val="0E1C36"/>
          </a:solidFill>
          <a:ln w="12700">
            <a:solidFill>
              <a:srgbClr val="0E1C36"/>
            </a:solidFill>
            <a:prstDash val="solid"/>
          </a:ln>
        </p:spPr>
      </p:sp>
      <p:sp>
        <p:nvSpPr>
          <p:cNvPr id="17" name="Text 15"/>
          <p:cNvSpPr/>
          <p:nvPr/>
        </p:nvSpPr>
        <p:spPr>
          <a:xfrm>
            <a:off x="566928" y="4983480"/>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18" name="Text 16"/>
          <p:cNvSpPr/>
          <p:nvPr/>
        </p:nvSpPr>
        <p:spPr>
          <a:xfrm>
            <a:off x="941832" y="4946904"/>
            <a:ext cx="5577840" cy="347472"/>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Commit  </a:t>
            </a:r>
            <a:pPr indent="0" marL="0">
              <a:buNone/>
            </a:pPr>
            <a:r>
              <a:rPr lang="en-US" sz="1200" dirty="0">
                <a:solidFill>
                  <a:srgbClr val="27374F"/>
                </a:solidFill>
                <a:latin typeface="Calibri" pitchFamily="34" charset="0"/>
                <a:ea typeface="Calibri" pitchFamily="34" charset="-122"/>
                <a:cs typeface="Calibri" pitchFamily="34" charset="-120"/>
              </a:rPr>
              <a:t>Publish that frame at the next output frame boundary</a:t>
            </a:r>
            <a:endParaRPr lang="en-US" sz="1200" dirty="0"/>
          </a:p>
        </p:txBody>
      </p:sp>
      <p:sp>
        <p:nvSpPr>
          <p:cNvPr id="19" name="Shape 17"/>
          <p:cNvSpPr/>
          <p:nvPr/>
        </p:nvSpPr>
        <p:spPr>
          <a:xfrm>
            <a:off x="566928" y="5468112"/>
            <a:ext cx="256032" cy="256032"/>
          </a:xfrm>
          <a:prstGeom prst="ellipse">
            <a:avLst/>
          </a:prstGeom>
          <a:solidFill>
            <a:srgbClr val="0E1C36"/>
          </a:solidFill>
          <a:ln w="12700">
            <a:solidFill>
              <a:srgbClr val="0E1C36"/>
            </a:solidFill>
            <a:prstDash val="solid"/>
          </a:ln>
        </p:spPr>
      </p:sp>
      <p:sp>
        <p:nvSpPr>
          <p:cNvPr id="20" name="Text 18"/>
          <p:cNvSpPr/>
          <p:nvPr/>
        </p:nvSpPr>
        <p:spPr>
          <a:xfrm>
            <a:off x="566928" y="5468112"/>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a:t>
            </a:r>
            <a:endParaRPr lang="en-US" sz="1050" dirty="0"/>
          </a:p>
        </p:txBody>
      </p:sp>
      <p:sp>
        <p:nvSpPr>
          <p:cNvPr id="21" name="Text 19"/>
          <p:cNvSpPr/>
          <p:nvPr/>
        </p:nvSpPr>
        <p:spPr>
          <a:xfrm>
            <a:off x="941832" y="5431536"/>
            <a:ext cx="5577840" cy="347472"/>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Scan-out  </a:t>
            </a:r>
            <a:pPr indent="0" marL="0">
              <a:buNone/>
            </a:pPr>
            <a:r>
              <a:rPr lang="en-US" sz="1200" dirty="0">
                <a:solidFill>
                  <a:srgbClr val="27374F"/>
                </a:solidFill>
                <a:latin typeface="Calibri" pitchFamily="34" charset="0"/>
                <a:ea typeface="Calibri" pitchFamily="34" charset="-122"/>
                <a:cs typeface="Calibri" pitchFamily="34" charset="-120"/>
              </a:rPr>
              <a:t>Transmit the row at its position in the raster</a:t>
            </a:r>
            <a:endParaRPr lang="en-US" sz="1200" dirty="0"/>
          </a:p>
        </p:txBody>
      </p:sp>
      <p:sp>
        <p:nvSpPr>
          <p:cNvPr id="22" name="Shape 20"/>
          <p:cNvSpPr/>
          <p:nvPr/>
        </p:nvSpPr>
        <p:spPr>
          <a:xfrm>
            <a:off x="6903720" y="1325880"/>
            <a:ext cx="4754880" cy="4526280"/>
          </a:xfrm>
          <a:prstGeom prst="roundRect">
            <a:avLst>
              <a:gd name="adj" fmla="val 1616"/>
            </a:avLst>
          </a:prstGeom>
          <a:solidFill>
            <a:srgbClr val="F2F5FA"/>
          </a:solidFill>
          <a:ln w="12700">
            <a:solidFill>
              <a:srgbClr val="D3DCEA"/>
            </a:solidFill>
            <a:prstDash val="solid"/>
          </a:ln>
        </p:spPr>
      </p:sp>
      <p:sp>
        <p:nvSpPr>
          <p:cNvPr id="23" name="Text 21"/>
          <p:cNvSpPr/>
          <p:nvPr/>
        </p:nvSpPr>
        <p:spPr>
          <a:xfrm>
            <a:off x="7178040" y="1536192"/>
            <a:ext cx="4206240" cy="310896"/>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System timing constants</a:t>
            </a:r>
            <a:endParaRPr lang="en-US" sz="1400" dirty="0"/>
          </a:p>
        </p:txBody>
      </p:sp>
      <p:sp>
        <p:nvSpPr>
          <p:cNvPr id="24" name="Text 22"/>
          <p:cNvSpPr/>
          <p:nvPr/>
        </p:nvSpPr>
        <p:spPr>
          <a:xfrm>
            <a:off x="7178040" y="196596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Output raster</a:t>
            </a:r>
            <a:endParaRPr lang="en-US" sz="1050" dirty="0"/>
          </a:p>
        </p:txBody>
      </p:sp>
      <p:sp>
        <p:nvSpPr>
          <p:cNvPr id="25" name="Text 23"/>
          <p:cNvSpPr/>
          <p:nvPr/>
        </p:nvSpPr>
        <p:spPr>
          <a:xfrm>
            <a:off x="7178040" y="218541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1920x1080p30 HD-SDI</a:t>
            </a:r>
            <a:endParaRPr lang="en-US" sz="1250" dirty="0"/>
          </a:p>
        </p:txBody>
      </p:sp>
      <p:sp>
        <p:nvSpPr>
          <p:cNvPr id="26" name="Text 24"/>
          <p:cNvSpPr/>
          <p:nvPr/>
        </p:nvSpPr>
        <p:spPr>
          <a:xfrm>
            <a:off x="7178040" y="260604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Output frame period</a:t>
            </a:r>
            <a:endParaRPr lang="en-US" sz="1050" dirty="0"/>
          </a:p>
        </p:txBody>
      </p:sp>
      <p:sp>
        <p:nvSpPr>
          <p:cNvPr id="27" name="Text 25"/>
          <p:cNvSpPr/>
          <p:nvPr/>
        </p:nvSpPr>
        <p:spPr>
          <a:xfrm>
            <a:off x="7178040" y="282549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33.33 ms  (2200x1125 @ 74.25 MHz)</a:t>
            </a:r>
            <a:endParaRPr lang="en-US" sz="1250" dirty="0"/>
          </a:p>
        </p:txBody>
      </p:sp>
      <p:sp>
        <p:nvSpPr>
          <p:cNvPr id="28" name="Text 26"/>
          <p:cNvSpPr/>
          <p:nvPr/>
        </p:nvSpPr>
        <p:spPr>
          <a:xfrm>
            <a:off x="7178040" y="324612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EO cameras</a:t>
            </a:r>
            <a:endParaRPr lang="en-US" sz="1050" dirty="0"/>
          </a:p>
        </p:txBody>
      </p:sp>
      <p:sp>
        <p:nvSpPr>
          <p:cNvPr id="29" name="Text 27"/>
          <p:cNvSpPr/>
          <p:nvPr/>
        </p:nvSpPr>
        <p:spPr>
          <a:xfrm>
            <a:off x="7178040" y="346557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6 x 1920x1080 @ 30 Hz, free-running</a:t>
            </a:r>
            <a:endParaRPr lang="en-US" sz="1250" dirty="0"/>
          </a:p>
        </p:txBody>
      </p:sp>
      <p:sp>
        <p:nvSpPr>
          <p:cNvPr id="30" name="Text 28"/>
          <p:cNvSpPr/>
          <p:nvPr/>
        </p:nvSpPr>
        <p:spPr>
          <a:xfrm>
            <a:off x="7178040" y="388620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IR cameras</a:t>
            </a:r>
            <a:endParaRPr lang="en-US" sz="1050" dirty="0"/>
          </a:p>
        </p:txBody>
      </p:sp>
      <p:sp>
        <p:nvSpPr>
          <p:cNvPr id="31" name="Text 29"/>
          <p:cNvSpPr/>
          <p:nvPr/>
        </p:nvSpPr>
        <p:spPr>
          <a:xfrm>
            <a:off x="7178040" y="410565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6 x 640x512 @ 30 Hz, FPGA-genlocked</a:t>
            </a:r>
            <a:endParaRPr lang="en-US" sz="1250" dirty="0"/>
          </a:p>
        </p:txBody>
      </p:sp>
      <p:sp>
        <p:nvSpPr>
          <p:cNvPr id="32" name="Text 30"/>
          <p:cNvSpPr/>
          <p:nvPr/>
        </p:nvSpPr>
        <p:spPr>
          <a:xfrm>
            <a:off x="7178040" y="452628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Measured IR genlock skew</a:t>
            </a:r>
            <a:endParaRPr lang="en-US" sz="1050" dirty="0"/>
          </a:p>
        </p:txBody>
      </p:sp>
      <p:sp>
        <p:nvSpPr>
          <p:cNvPr id="33" name="Text 31"/>
          <p:cNvSpPr/>
          <p:nvPr/>
        </p:nvSpPr>
        <p:spPr>
          <a:xfrm>
            <a:off x="7178040" y="474573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under 274 ns across all six</a:t>
            </a:r>
            <a:endParaRPr lang="en-US" sz="1250" dirty="0"/>
          </a:p>
        </p:txBody>
      </p:sp>
      <p:sp>
        <p:nvSpPr>
          <p:cNvPr id="34" name="Text 32"/>
          <p:cNvSpPr/>
          <p:nvPr/>
        </p:nvSpPr>
        <p:spPr>
          <a:xfrm>
            <a:off x="7178040" y="516636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DDR user clock</a:t>
            </a:r>
            <a:endParaRPr lang="en-US" sz="1050" dirty="0"/>
          </a:p>
        </p:txBody>
      </p:sp>
      <p:sp>
        <p:nvSpPr>
          <p:cNvPr id="35" name="Text 33"/>
          <p:cNvSpPr/>
          <p:nvPr/>
        </p:nvSpPr>
        <p:spPr>
          <a:xfrm>
            <a:off x="7178040" y="538581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233.4 MHz</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ARCHITECTURE</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The shared output stage</a:t>
            </a:r>
            <a:endParaRPr lang="en-US" sz="3200" dirty="0"/>
          </a:p>
        </p:txBody>
      </p:sp>
      <p:sp>
        <p:nvSpPr>
          <p:cNvPr id="4" name="Text 2"/>
          <p:cNvSpPr/>
          <p:nvPr/>
        </p:nvSpPr>
        <p:spPr>
          <a:xfrm>
            <a:off x="548640" y="1298448"/>
            <a:ext cx="11064240" cy="457200"/>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Whatever produces the picture, it lands in the same place: a double-buffered output frame store that is published on an output frame boundary and then transmitted.</a:t>
            </a:r>
            <a:endParaRPr lang="en-US" sz="1350" dirty="0"/>
          </a:p>
        </p:txBody>
      </p:sp>
      <p:sp>
        <p:nvSpPr>
          <p:cNvPr id="5" name="Shape 3"/>
          <p:cNvSpPr/>
          <p:nvPr/>
        </p:nvSpPr>
        <p:spPr>
          <a:xfrm>
            <a:off x="548640" y="1965960"/>
            <a:ext cx="2022653" cy="1691640"/>
          </a:xfrm>
          <a:prstGeom prst="roundRect">
            <a:avLst>
              <a:gd name="adj" fmla="val 4324"/>
            </a:avLst>
          </a:prstGeom>
          <a:solidFill>
            <a:srgbClr val="DCEAF0"/>
          </a:solidFill>
          <a:ln w="15875">
            <a:solidFill>
              <a:srgbClr val="1C7293"/>
            </a:solidFill>
            <a:prstDash val="solid"/>
          </a:ln>
        </p:spPr>
      </p:sp>
      <p:sp>
        <p:nvSpPr>
          <p:cNvPr id="6" name="Shape 4"/>
          <p:cNvSpPr/>
          <p:nvPr/>
        </p:nvSpPr>
        <p:spPr>
          <a:xfrm>
            <a:off x="658368" y="2075688"/>
            <a:ext cx="274320" cy="274320"/>
          </a:xfrm>
          <a:prstGeom prst="ellipse">
            <a:avLst/>
          </a:prstGeom>
          <a:solidFill>
            <a:srgbClr val="1C7293"/>
          </a:solidFill>
          <a:ln w="12700">
            <a:solidFill>
              <a:srgbClr val="1C7293"/>
            </a:solidFill>
            <a:prstDash val="solid"/>
          </a:ln>
        </p:spPr>
      </p:sp>
      <p:sp>
        <p:nvSpPr>
          <p:cNvPr id="7" name="Text 5"/>
          <p:cNvSpPr/>
          <p:nvPr/>
        </p:nvSpPr>
        <p:spPr>
          <a:xfrm>
            <a:off x="658368" y="2075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206654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Camera ingest</a:t>
            </a:r>
            <a:endParaRPr lang="en-US" sz="1250" dirty="0"/>
          </a:p>
        </p:txBody>
      </p:sp>
      <p:sp>
        <p:nvSpPr>
          <p:cNvPr id="9" name="Text 7"/>
          <p:cNvSpPr/>
          <p:nvPr/>
        </p:nvSpPr>
        <p:spPr>
          <a:xfrm>
            <a:off x="676656" y="2423160"/>
            <a:ext cx="1766621" cy="82296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Six EO or six IR sensors deliver rows continuously</a:t>
            </a:r>
            <a:endParaRPr lang="en-US" sz="1000" dirty="0"/>
          </a:p>
        </p:txBody>
      </p:sp>
      <p:sp>
        <p:nvSpPr>
          <p:cNvPr id="10" name="Text 8"/>
          <p:cNvSpPr/>
          <p:nvPr/>
        </p:nvSpPr>
        <p:spPr>
          <a:xfrm>
            <a:off x="676656" y="327355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mode-dependent</a:t>
            </a:r>
            <a:endParaRPr lang="en-US" sz="1200" dirty="0"/>
          </a:p>
        </p:txBody>
      </p:sp>
      <p:sp>
        <p:nvSpPr>
          <p:cNvPr id="11" name="Shape 9"/>
          <p:cNvSpPr/>
          <p:nvPr/>
        </p:nvSpPr>
        <p:spPr>
          <a:xfrm>
            <a:off x="2598725" y="2729484"/>
            <a:ext cx="182880" cy="164592"/>
          </a:xfrm>
          <a:prstGeom prst="rightArrow">
            <a:avLst/>
          </a:prstGeom>
          <a:solidFill>
            <a:srgbClr val="D3DCEA"/>
          </a:solidFill>
          <a:ln w="12700">
            <a:solidFill>
              <a:srgbClr val="D3DCEA"/>
            </a:solidFill>
            <a:prstDash val="solid"/>
          </a:ln>
        </p:spPr>
      </p:sp>
      <p:sp>
        <p:nvSpPr>
          <p:cNvPr id="12" name="Shape 10"/>
          <p:cNvSpPr/>
          <p:nvPr/>
        </p:nvSpPr>
        <p:spPr>
          <a:xfrm>
            <a:off x="2809037" y="1965960"/>
            <a:ext cx="2022653" cy="1691640"/>
          </a:xfrm>
          <a:prstGeom prst="roundRect">
            <a:avLst>
              <a:gd name="adj" fmla="val 4324"/>
            </a:avLst>
          </a:prstGeom>
          <a:solidFill>
            <a:srgbClr val="DCEAF0"/>
          </a:solidFill>
          <a:ln w="15875">
            <a:solidFill>
              <a:srgbClr val="1C7293"/>
            </a:solidFill>
            <a:prstDash val="solid"/>
          </a:ln>
        </p:spPr>
      </p:sp>
      <p:sp>
        <p:nvSpPr>
          <p:cNvPr id="13" name="Shape 11"/>
          <p:cNvSpPr/>
          <p:nvPr/>
        </p:nvSpPr>
        <p:spPr>
          <a:xfrm>
            <a:off x="2918765" y="2075688"/>
            <a:ext cx="274320" cy="274320"/>
          </a:xfrm>
          <a:prstGeom prst="ellipse">
            <a:avLst/>
          </a:prstGeom>
          <a:solidFill>
            <a:srgbClr val="1C7293"/>
          </a:solidFill>
          <a:ln w="12700">
            <a:solidFill>
              <a:srgbClr val="1C7293"/>
            </a:solidFill>
            <a:prstDash val="solid"/>
          </a:ln>
        </p:spPr>
      </p:sp>
      <p:sp>
        <p:nvSpPr>
          <p:cNvPr id="14" name="Text 12"/>
          <p:cNvSpPr/>
          <p:nvPr/>
        </p:nvSpPr>
        <p:spPr>
          <a:xfrm>
            <a:off x="2918765" y="2075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3266237" y="206654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Alignment</a:t>
            </a:r>
            <a:endParaRPr lang="en-US" sz="1250" dirty="0"/>
          </a:p>
        </p:txBody>
      </p:sp>
      <p:sp>
        <p:nvSpPr>
          <p:cNvPr id="16" name="Text 14"/>
          <p:cNvSpPr/>
          <p:nvPr/>
        </p:nvSpPr>
        <p:spPr>
          <a:xfrm>
            <a:off x="2937053" y="2423160"/>
            <a:ext cx="1766621" cy="82296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Select one coherent instant across the contributing cameras</a:t>
            </a:r>
            <a:endParaRPr lang="en-US" sz="1000" dirty="0"/>
          </a:p>
        </p:txBody>
      </p:sp>
      <p:sp>
        <p:nvSpPr>
          <p:cNvPr id="17" name="Text 15"/>
          <p:cNvSpPr/>
          <p:nvPr/>
        </p:nvSpPr>
        <p:spPr>
          <a:xfrm>
            <a:off x="2937053" y="327355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mode-dependent</a:t>
            </a:r>
            <a:endParaRPr lang="en-US" sz="1200" dirty="0"/>
          </a:p>
        </p:txBody>
      </p:sp>
      <p:sp>
        <p:nvSpPr>
          <p:cNvPr id="18" name="Shape 16"/>
          <p:cNvSpPr/>
          <p:nvPr/>
        </p:nvSpPr>
        <p:spPr>
          <a:xfrm>
            <a:off x="4859122" y="2729484"/>
            <a:ext cx="182880" cy="164592"/>
          </a:xfrm>
          <a:prstGeom prst="rightArrow">
            <a:avLst/>
          </a:prstGeom>
          <a:solidFill>
            <a:srgbClr val="D3DCEA"/>
          </a:solidFill>
          <a:ln w="12700">
            <a:solidFill>
              <a:srgbClr val="D3DCEA"/>
            </a:solidFill>
            <a:prstDash val="solid"/>
          </a:ln>
        </p:spPr>
      </p:sp>
      <p:sp>
        <p:nvSpPr>
          <p:cNvPr id="19" name="Shape 17"/>
          <p:cNvSpPr/>
          <p:nvPr/>
        </p:nvSpPr>
        <p:spPr>
          <a:xfrm>
            <a:off x="5069434" y="1965960"/>
            <a:ext cx="2022653" cy="1691640"/>
          </a:xfrm>
          <a:prstGeom prst="roundRect">
            <a:avLst>
              <a:gd name="adj" fmla="val 4324"/>
            </a:avLst>
          </a:prstGeom>
          <a:solidFill>
            <a:srgbClr val="F6E7DE"/>
          </a:solidFill>
          <a:ln w="15875">
            <a:solidFill>
              <a:srgbClr val="C1663A"/>
            </a:solidFill>
            <a:prstDash val="solid"/>
          </a:ln>
        </p:spPr>
      </p:sp>
      <p:sp>
        <p:nvSpPr>
          <p:cNvPr id="20" name="Shape 18"/>
          <p:cNvSpPr/>
          <p:nvPr/>
        </p:nvSpPr>
        <p:spPr>
          <a:xfrm>
            <a:off x="5179162" y="2075688"/>
            <a:ext cx="274320" cy="274320"/>
          </a:xfrm>
          <a:prstGeom prst="ellipse">
            <a:avLst/>
          </a:prstGeom>
          <a:solidFill>
            <a:srgbClr val="C1663A"/>
          </a:solidFill>
          <a:ln w="12700">
            <a:solidFill>
              <a:srgbClr val="C1663A"/>
            </a:solidFill>
            <a:prstDash val="solid"/>
          </a:ln>
        </p:spPr>
      </p:sp>
      <p:sp>
        <p:nvSpPr>
          <p:cNvPr id="21" name="Text 19"/>
          <p:cNvSpPr/>
          <p:nvPr/>
        </p:nvSpPr>
        <p:spPr>
          <a:xfrm>
            <a:off x="5179162" y="2075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5526634" y="206654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Render</a:t>
            </a:r>
            <a:endParaRPr lang="en-US" sz="1250" dirty="0"/>
          </a:p>
        </p:txBody>
      </p:sp>
      <p:sp>
        <p:nvSpPr>
          <p:cNvPr id="23" name="Text 21"/>
          <p:cNvSpPr/>
          <p:nvPr/>
        </p:nvSpPr>
        <p:spPr>
          <a:xfrm>
            <a:off x="5197450" y="2423160"/>
            <a:ext cx="1766621" cy="82296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Geometric warp, seam blending, fold to the output raster</a:t>
            </a:r>
            <a:endParaRPr lang="en-US" sz="1000" dirty="0"/>
          </a:p>
        </p:txBody>
      </p:sp>
      <p:sp>
        <p:nvSpPr>
          <p:cNvPr id="24" name="Text 22"/>
          <p:cNvSpPr/>
          <p:nvPr/>
        </p:nvSpPr>
        <p:spPr>
          <a:xfrm>
            <a:off x="5197450" y="3273552"/>
            <a:ext cx="1766621" cy="274320"/>
          </a:xfrm>
          <a:prstGeom prst="rect">
            <a:avLst/>
          </a:prstGeom>
          <a:noFill/>
          <a:ln/>
        </p:spPr>
        <p:txBody>
          <a:bodyPr wrap="square" lIns="0" tIns="0" rIns="0" bIns="0" rtlCol="0" anchor="ctr"/>
          <a:lstStyle/>
          <a:p>
            <a:pPr indent="0" marL="0">
              <a:buNone/>
            </a:pPr>
            <a:r>
              <a:rPr lang="en-US" sz="1200" b="1" dirty="0">
                <a:solidFill>
                  <a:srgbClr val="C1663A"/>
                </a:solidFill>
                <a:latin typeface="Calibri" pitchFamily="34" charset="0"/>
                <a:ea typeface="Calibri" pitchFamily="34" charset="-122"/>
                <a:cs typeface="Calibri" pitchFamily="34" charset="-120"/>
              </a:rPr>
              <a:t>mode-dependent</a:t>
            </a:r>
            <a:endParaRPr lang="en-US" sz="1200" dirty="0"/>
          </a:p>
        </p:txBody>
      </p:sp>
      <p:sp>
        <p:nvSpPr>
          <p:cNvPr id="25" name="Shape 23"/>
          <p:cNvSpPr/>
          <p:nvPr/>
        </p:nvSpPr>
        <p:spPr>
          <a:xfrm>
            <a:off x="7119518" y="2729484"/>
            <a:ext cx="182880" cy="164592"/>
          </a:xfrm>
          <a:prstGeom prst="rightArrow">
            <a:avLst/>
          </a:prstGeom>
          <a:solidFill>
            <a:srgbClr val="D3DCEA"/>
          </a:solidFill>
          <a:ln w="12700">
            <a:solidFill>
              <a:srgbClr val="D3DCEA"/>
            </a:solidFill>
            <a:prstDash val="solid"/>
          </a:ln>
        </p:spPr>
      </p:sp>
      <p:sp>
        <p:nvSpPr>
          <p:cNvPr id="26" name="Shape 24"/>
          <p:cNvSpPr/>
          <p:nvPr/>
        </p:nvSpPr>
        <p:spPr>
          <a:xfrm>
            <a:off x="7329830" y="1965960"/>
            <a:ext cx="2022653" cy="1691640"/>
          </a:xfrm>
          <a:prstGeom prst="roundRect">
            <a:avLst>
              <a:gd name="adj" fmla="val 4324"/>
            </a:avLst>
          </a:prstGeom>
          <a:solidFill>
            <a:srgbClr val="DAF2EB"/>
          </a:solidFill>
          <a:ln w="15875">
            <a:solidFill>
              <a:srgbClr val="02A37A"/>
            </a:solidFill>
            <a:prstDash val="solid"/>
          </a:ln>
        </p:spPr>
      </p:sp>
      <p:sp>
        <p:nvSpPr>
          <p:cNvPr id="27" name="Shape 25"/>
          <p:cNvSpPr/>
          <p:nvPr/>
        </p:nvSpPr>
        <p:spPr>
          <a:xfrm>
            <a:off x="7439558" y="2075688"/>
            <a:ext cx="274320" cy="274320"/>
          </a:xfrm>
          <a:prstGeom prst="ellipse">
            <a:avLst/>
          </a:prstGeom>
          <a:solidFill>
            <a:srgbClr val="02A37A"/>
          </a:solidFill>
          <a:ln w="12700">
            <a:solidFill>
              <a:srgbClr val="02A37A"/>
            </a:solidFill>
            <a:prstDash val="solid"/>
          </a:ln>
        </p:spPr>
      </p:sp>
      <p:sp>
        <p:nvSpPr>
          <p:cNvPr id="28" name="Text 26"/>
          <p:cNvSpPr/>
          <p:nvPr/>
        </p:nvSpPr>
        <p:spPr>
          <a:xfrm>
            <a:off x="7439558" y="2075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787030" y="206654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Commit</a:t>
            </a:r>
            <a:endParaRPr lang="en-US" sz="1250" dirty="0"/>
          </a:p>
        </p:txBody>
      </p:sp>
      <p:sp>
        <p:nvSpPr>
          <p:cNvPr id="30" name="Text 28"/>
          <p:cNvSpPr/>
          <p:nvPr/>
        </p:nvSpPr>
        <p:spPr>
          <a:xfrm>
            <a:off x="7457846" y="2423160"/>
            <a:ext cx="1766621" cy="82296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Finished frame published at the next output frame edge</a:t>
            </a:r>
            <a:endParaRPr lang="en-US" sz="1000" dirty="0"/>
          </a:p>
        </p:txBody>
      </p:sp>
      <p:sp>
        <p:nvSpPr>
          <p:cNvPr id="31" name="Text 29"/>
          <p:cNvSpPr/>
          <p:nvPr/>
        </p:nvSpPr>
        <p:spPr>
          <a:xfrm>
            <a:off x="7457846" y="327355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2" name="Shape 30"/>
          <p:cNvSpPr/>
          <p:nvPr/>
        </p:nvSpPr>
        <p:spPr>
          <a:xfrm>
            <a:off x="9379915" y="2729484"/>
            <a:ext cx="182880" cy="164592"/>
          </a:xfrm>
          <a:prstGeom prst="rightArrow">
            <a:avLst/>
          </a:prstGeom>
          <a:solidFill>
            <a:srgbClr val="D3DCEA"/>
          </a:solidFill>
          <a:ln w="12700">
            <a:solidFill>
              <a:srgbClr val="D3DCEA"/>
            </a:solidFill>
            <a:prstDash val="solid"/>
          </a:ln>
        </p:spPr>
      </p:sp>
      <p:sp>
        <p:nvSpPr>
          <p:cNvPr id="33" name="Shape 31"/>
          <p:cNvSpPr/>
          <p:nvPr/>
        </p:nvSpPr>
        <p:spPr>
          <a:xfrm>
            <a:off x="9590227" y="1965960"/>
            <a:ext cx="2022653" cy="1691640"/>
          </a:xfrm>
          <a:prstGeom prst="roundRect">
            <a:avLst>
              <a:gd name="adj" fmla="val 4324"/>
            </a:avLst>
          </a:prstGeom>
          <a:solidFill>
            <a:srgbClr val="DAF2EB"/>
          </a:solidFill>
          <a:ln w="15875">
            <a:solidFill>
              <a:srgbClr val="02A37A"/>
            </a:solidFill>
            <a:prstDash val="solid"/>
          </a:ln>
        </p:spPr>
      </p:sp>
      <p:sp>
        <p:nvSpPr>
          <p:cNvPr id="34" name="Shape 32"/>
          <p:cNvSpPr/>
          <p:nvPr/>
        </p:nvSpPr>
        <p:spPr>
          <a:xfrm>
            <a:off x="9699955" y="2075688"/>
            <a:ext cx="274320" cy="274320"/>
          </a:xfrm>
          <a:prstGeom prst="ellipse">
            <a:avLst/>
          </a:prstGeom>
          <a:solidFill>
            <a:srgbClr val="02A37A"/>
          </a:solidFill>
          <a:ln w="12700">
            <a:solidFill>
              <a:srgbClr val="02A37A"/>
            </a:solidFill>
            <a:prstDash val="solid"/>
          </a:ln>
        </p:spPr>
      </p:sp>
      <p:sp>
        <p:nvSpPr>
          <p:cNvPr id="35" name="Text 33"/>
          <p:cNvSpPr/>
          <p:nvPr/>
        </p:nvSpPr>
        <p:spPr>
          <a:xfrm>
            <a:off x="9699955" y="2075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4"/>
          <p:cNvSpPr/>
          <p:nvPr/>
        </p:nvSpPr>
        <p:spPr>
          <a:xfrm>
            <a:off x="10047427" y="206654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Scan-out</a:t>
            </a:r>
            <a:endParaRPr lang="en-US" sz="1250" dirty="0"/>
          </a:p>
        </p:txBody>
      </p:sp>
      <p:sp>
        <p:nvSpPr>
          <p:cNvPr id="37" name="Text 35"/>
          <p:cNvSpPr/>
          <p:nvPr/>
        </p:nvSpPr>
        <p:spPr>
          <a:xfrm>
            <a:off x="9718243" y="2423160"/>
            <a:ext cx="1766621" cy="82296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Row transmitted at its position in the HD-SDI raster</a:t>
            </a:r>
            <a:endParaRPr lang="en-US" sz="1000" dirty="0"/>
          </a:p>
        </p:txBody>
      </p:sp>
      <p:sp>
        <p:nvSpPr>
          <p:cNvPr id="38" name="Text 36"/>
          <p:cNvSpPr/>
          <p:nvPr/>
        </p:nvSpPr>
        <p:spPr>
          <a:xfrm>
            <a:off x="9718243" y="327355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9" name="Shape 37"/>
          <p:cNvSpPr/>
          <p:nvPr/>
        </p:nvSpPr>
        <p:spPr>
          <a:xfrm>
            <a:off x="548640" y="4041648"/>
            <a:ext cx="11064240" cy="914400"/>
          </a:xfrm>
          <a:prstGeom prst="roundRect">
            <a:avLst>
              <a:gd name="adj" fmla="val 6000"/>
            </a:avLst>
          </a:prstGeom>
          <a:solidFill>
            <a:srgbClr val="DAF2EB"/>
          </a:solidFill>
          <a:ln w="12700">
            <a:solidFill>
              <a:srgbClr val="02A37A"/>
            </a:solidFill>
            <a:prstDash val="solid"/>
          </a:ln>
        </p:spPr>
      </p:sp>
      <p:sp>
        <p:nvSpPr>
          <p:cNvPr id="40" name="Text 38"/>
          <p:cNvSpPr/>
          <p:nvPr/>
        </p:nvSpPr>
        <p:spPr>
          <a:xfrm>
            <a:off x="822960" y="4206240"/>
            <a:ext cx="10515600" cy="621792"/>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Stages 4 and 5 are common to every mode and together contribute 33.3 ms on average. </a:t>
            </a:r>
            <a:pPr indent="0" marL="0">
              <a:buNone/>
            </a:pPr>
            <a:r>
              <a:rPr lang="en-US" sz="1300" dirty="0">
                <a:solidFill>
                  <a:srgbClr val="27374F"/>
                </a:solidFill>
                <a:latin typeface="Calibri" pitchFamily="34" charset="0"/>
                <a:ea typeface="Calibri" pitchFamily="34" charset="-122"/>
                <a:cs typeface="Calibri" pitchFamily="34" charset="-120"/>
              </a:rPr>
              <a:t>They are set by the output standard, not by the processing, so they are the floor: no mode can be faster than this without changing the output format.</a:t>
            </a:r>
            <a:endParaRPr lang="en-US" sz="1300" dirty="0"/>
          </a:p>
        </p:txBody>
      </p:sp>
      <p:sp>
        <p:nvSpPr>
          <p:cNvPr id="41" name="Text 39"/>
          <p:cNvSpPr/>
          <p:nvPr/>
        </p:nvSpPr>
        <p:spPr>
          <a:xfrm>
            <a:off x="548640" y="5212080"/>
            <a:ext cx="11064240" cy="365760"/>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Everything that separates the four modes happens in stages 1 to 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MODE 0X07 - 0X0C</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EO single camera</a:t>
            </a:r>
            <a:endParaRPr lang="en-US" sz="3200" dirty="0"/>
          </a:p>
        </p:txBody>
      </p:sp>
      <p:sp>
        <p:nvSpPr>
          <p:cNvPr id="4" name="Text 2"/>
          <p:cNvSpPr/>
          <p:nvPr/>
        </p:nvSpPr>
        <p:spPr>
          <a:xfrm>
            <a:off x="548640" y="1298448"/>
            <a:ext cx="11064240" cy="420624"/>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One of the six EO cameras, taken from its stored frame and presented full-raster.</a:t>
            </a:r>
            <a:endParaRPr lang="en-US" sz="1350" dirty="0"/>
          </a:p>
        </p:txBody>
      </p:sp>
      <p:sp>
        <p:nvSpPr>
          <p:cNvPr id="5" name="Shape 3"/>
          <p:cNvSpPr/>
          <p:nvPr/>
        </p:nvSpPr>
        <p:spPr>
          <a:xfrm>
            <a:off x="548640" y="1874520"/>
            <a:ext cx="2022653" cy="1645920"/>
          </a:xfrm>
          <a:prstGeom prst="roundRect">
            <a:avLst>
              <a:gd name="adj" fmla="val 4444"/>
            </a:avLst>
          </a:prstGeom>
          <a:solidFill>
            <a:srgbClr val="DCEAF0"/>
          </a:solidFill>
          <a:ln w="15875">
            <a:solidFill>
              <a:srgbClr val="1C7293"/>
            </a:solidFill>
            <a:prstDash val="solid"/>
          </a:ln>
        </p:spPr>
      </p:sp>
      <p:sp>
        <p:nvSpPr>
          <p:cNvPr id="6" name="Shape 4"/>
          <p:cNvSpPr/>
          <p:nvPr/>
        </p:nvSpPr>
        <p:spPr>
          <a:xfrm>
            <a:off x="658368" y="1984248"/>
            <a:ext cx="274320" cy="274320"/>
          </a:xfrm>
          <a:prstGeom prst="ellipse">
            <a:avLst/>
          </a:prstGeom>
          <a:solidFill>
            <a:srgbClr val="1C7293"/>
          </a:solidFill>
          <a:ln w="12700">
            <a:solidFill>
              <a:srgbClr val="1C7293"/>
            </a:solidFill>
            <a:prstDash val="solid"/>
          </a:ln>
        </p:spPr>
      </p:sp>
      <p:sp>
        <p:nvSpPr>
          <p:cNvPr id="7" name="Text 5"/>
          <p:cNvSpPr/>
          <p:nvPr/>
        </p:nvSpPr>
        <p:spPr>
          <a:xfrm>
            <a:off x="65836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Ingest</a:t>
            </a:r>
            <a:endParaRPr lang="en-US" sz="1250" dirty="0"/>
          </a:p>
        </p:txBody>
      </p:sp>
      <p:sp>
        <p:nvSpPr>
          <p:cNvPr id="9" name="Text 7"/>
          <p:cNvSpPr/>
          <p:nvPr/>
        </p:nvSpPr>
        <p:spPr>
          <a:xfrm>
            <a:off x="67665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Selected camera's full 1920x1080 frame is written to memory as it arrives</a:t>
            </a:r>
            <a:endParaRPr lang="en-US" sz="1000" dirty="0"/>
          </a:p>
        </p:txBody>
      </p:sp>
      <p:sp>
        <p:nvSpPr>
          <p:cNvPr id="10" name="Text 8"/>
          <p:cNvSpPr/>
          <p:nvPr/>
        </p:nvSpPr>
        <p:spPr>
          <a:xfrm>
            <a:off x="676656" y="313639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33.3 ms</a:t>
            </a:r>
            <a:endParaRPr lang="en-US" sz="1200" dirty="0"/>
          </a:p>
        </p:txBody>
      </p:sp>
      <p:sp>
        <p:nvSpPr>
          <p:cNvPr id="11" name="Shape 9"/>
          <p:cNvSpPr/>
          <p:nvPr/>
        </p:nvSpPr>
        <p:spPr>
          <a:xfrm>
            <a:off x="2598725" y="2615184"/>
            <a:ext cx="182880" cy="164592"/>
          </a:xfrm>
          <a:prstGeom prst="rightArrow">
            <a:avLst/>
          </a:prstGeom>
          <a:solidFill>
            <a:srgbClr val="D3DCEA"/>
          </a:solidFill>
          <a:ln w="12700">
            <a:solidFill>
              <a:srgbClr val="D3DCEA"/>
            </a:solidFill>
            <a:prstDash val="solid"/>
          </a:ln>
        </p:spPr>
      </p:sp>
      <p:sp>
        <p:nvSpPr>
          <p:cNvPr id="12" name="Shape 10"/>
          <p:cNvSpPr/>
          <p:nvPr/>
        </p:nvSpPr>
        <p:spPr>
          <a:xfrm>
            <a:off x="2809037" y="1874520"/>
            <a:ext cx="2022653" cy="1645920"/>
          </a:xfrm>
          <a:prstGeom prst="roundRect">
            <a:avLst>
              <a:gd name="adj" fmla="val 4444"/>
            </a:avLst>
          </a:prstGeom>
          <a:solidFill>
            <a:srgbClr val="F2F5FA"/>
          </a:solidFill>
          <a:ln w="15875">
            <a:solidFill>
              <a:srgbClr val="D3DCEA"/>
            </a:solidFill>
            <a:prstDash val="solid"/>
          </a:ln>
        </p:spPr>
      </p:sp>
      <p:sp>
        <p:nvSpPr>
          <p:cNvPr id="13" name="Shape 11"/>
          <p:cNvSpPr/>
          <p:nvPr/>
        </p:nvSpPr>
        <p:spPr>
          <a:xfrm>
            <a:off x="2918765" y="1984248"/>
            <a:ext cx="274320" cy="274320"/>
          </a:xfrm>
          <a:prstGeom prst="ellipse">
            <a:avLst/>
          </a:prstGeom>
          <a:solidFill>
            <a:srgbClr val="D3DCEA"/>
          </a:solidFill>
          <a:ln w="12700">
            <a:solidFill>
              <a:srgbClr val="D3DCEA"/>
            </a:solidFill>
            <a:prstDash val="solid"/>
          </a:ln>
        </p:spPr>
      </p:sp>
      <p:sp>
        <p:nvSpPr>
          <p:cNvPr id="14" name="Text 12"/>
          <p:cNvSpPr/>
          <p:nvPr/>
        </p:nvSpPr>
        <p:spPr>
          <a:xfrm>
            <a:off x="291876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326623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Align</a:t>
            </a:r>
            <a:endParaRPr lang="en-US" sz="1250" dirty="0"/>
          </a:p>
        </p:txBody>
      </p:sp>
      <p:sp>
        <p:nvSpPr>
          <p:cNvPr id="16" name="Text 14"/>
          <p:cNvSpPr/>
          <p:nvPr/>
        </p:nvSpPr>
        <p:spPr>
          <a:xfrm>
            <a:off x="293705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Not required - only one camera contributes</a:t>
            </a:r>
            <a:endParaRPr lang="en-US" sz="1000" dirty="0"/>
          </a:p>
        </p:txBody>
      </p:sp>
      <p:sp>
        <p:nvSpPr>
          <p:cNvPr id="17" name="Text 15"/>
          <p:cNvSpPr/>
          <p:nvPr/>
        </p:nvSpPr>
        <p:spPr>
          <a:xfrm>
            <a:off x="2937053" y="3136392"/>
            <a:ext cx="1766621" cy="274320"/>
          </a:xfrm>
          <a:prstGeom prst="rect">
            <a:avLst/>
          </a:prstGeom>
          <a:noFill/>
          <a:ln/>
        </p:spPr>
        <p:txBody>
          <a:bodyPr wrap="square" lIns="0" tIns="0" rIns="0" bIns="0" rtlCol="0" anchor="ctr"/>
          <a:lstStyle/>
          <a:p>
            <a:pPr indent="0" marL="0">
              <a:buNone/>
            </a:pPr>
            <a:r>
              <a:rPr lang="en-US" sz="1200" b="1" dirty="0">
                <a:solidFill>
                  <a:srgbClr val="D3DCEA"/>
                </a:solidFill>
                <a:latin typeface="Calibri" pitchFamily="34" charset="0"/>
                <a:ea typeface="Calibri" pitchFamily="34" charset="-122"/>
                <a:cs typeface="Calibri" pitchFamily="34" charset="-120"/>
              </a:rPr>
              <a:t>none</a:t>
            </a:r>
            <a:endParaRPr lang="en-US" sz="1200" dirty="0"/>
          </a:p>
        </p:txBody>
      </p:sp>
      <p:sp>
        <p:nvSpPr>
          <p:cNvPr id="18" name="Shape 16"/>
          <p:cNvSpPr/>
          <p:nvPr/>
        </p:nvSpPr>
        <p:spPr>
          <a:xfrm>
            <a:off x="4859122" y="2615184"/>
            <a:ext cx="182880" cy="164592"/>
          </a:xfrm>
          <a:prstGeom prst="rightArrow">
            <a:avLst/>
          </a:prstGeom>
          <a:solidFill>
            <a:srgbClr val="D3DCEA"/>
          </a:solidFill>
          <a:ln w="12700">
            <a:solidFill>
              <a:srgbClr val="D3DCEA"/>
            </a:solidFill>
            <a:prstDash val="solid"/>
          </a:ln>
        </p:spPr>
      </p:sp>
      <p:sp>
        <p:nvSpPr>
          <p:cNvPr id="19" name="Shape 17"/>
          <p:cNvSpPr/>
          <p:nvPr/>
        </p:nvSpPr>
        <p:spPr>
          <a:xfrm>
            <a:off x="5069434" y="1874520"/>
            <a:ext cx="2022653" cy="1645920"/>
          </a:xfrm>
          <a:prstGeom prst="roundRect">
            <a:avLst>
              <a:gd name="adj" fmla="val 4444"/>
            </a:avLst>
          </a:prstGeom>
          <a:solidFill>
            <a:srgbClr val="F6E7DE"/>
          </a:solidFill>
          <a:ln w="15875">
            <a:solidFill>
              <a:srgbClr val="C1663A"/>
            </a:solidFill>
            <a:prstDash val="solid"/>
          </a:ln>
        </p:spPr>
      </p:sp>
      <p:sp>
        <p:nvSpPr>
          <p:cNvPr id="20" name="Shape 18"/>
          <p:cNvSpPr/>
          <p:nvPr/>
        </p:nvSpPr>
        <p:spPr>
          <a:xfrm>
            <a:off x="5179162" y="1984248"/>
            <a:ext cx="274320" cy="274320"/>
          </a:xfrm>
          <a:prstGeom prst="ellipse">
            <a:avLst/>
          </a:prstGeom>
          <a:solidFill>
            <a:srgbClr val="C1663A"/>
          </a:solidFill>
          <a:ln w="12700">
            <a:solidFill>
              <a:srgbClr val="C1663A"/>
            </a:solidFill>
            <a:prstDash val="solid"/>
          </a:ln>
        </p:spPr>
      </p:sp>
      <p:sp>
        <p:nvSpPr>
          <p:cNvPr id="21" name="Text 19"/>
          <p:cNvSpPr/>
          <p:nvPr/>
        </p:nvSpPr>
        <p:spPr>
          <a:xfrm>
            <a:off x="5179162"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5526634"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Render</a:t>
            </a:r>
            <a:endParaRPr lang="en-US" sz="1250" dirty="0"/>
          </a:p>
        </p:txBody>
      </p:sp>
      <p:sp>
        <p:nvSpPr>
          <p:cNvPr id="23" name="Text 21"/>
          <p:cNvSpPr/>
          <p:nvPr/>
        </p:nvSpPr>
        <p:spPr>
          <a:xfrm>
            <a:off x="5197450"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Frame read back and copied to the output frame store</a:t>
            </a:r>
            <a:endParaRPr lang="en-US" sz="1000" dirty="0"/>
          </a:p>
        </p:txBody>
      </p:sp>
      <p:sp>
        <p:nvSpPr>
          <p:cNvPr id="24" name="Text 22"/>
          <p:cNvSpPr/>
          <p:nvPr/>
        </p:nvSpPr>
        <p:spPr>
          <a:xfrm>
            <a:off x="5197450" y="3136392"/>
            <a:ext cx="1766621" cy="274320"/>
          </a:xfrm>
          <a:prstGeom prst="rect">
            <a:avLst/>
          </a:prstGeom>
          <a:noFill/>
          <a:ln/>
        </p:spPr>
        <p:txBody>
          <a:bodyPr wrap="square" lIns="0" tIns="0" rIns="0" bIns="0" rtlCol="0" anchor="ctr"/>
          <a:lstStyle/>
          <a:p>
            <a:pPr indent="0" marL="0">
              <a:buNone/>
            </a:pPr>
            <a:r>
              <a:rPr lang="en-US" sz="1200" b="1" dirty="0">
                <a:solidFill>
                  <a:srgbClr val="C1663A"/>
                </a:solidFill>
                <a:latin typeface="Calibri" pitchFamily="34" charset="0"/>
                <a:ea typeface="Calibri" pitchFamily="34" charset="-122"/>
                <a:cs typeface="Calibri" pitchFamily="34" charset="-120"/>
              </a:rPr>
              <a:t>10.1 ms measured</a:t>
            </a:r>
            <a:endParaRPr lang="en-US" sz="1200" dirty="0"/>
          </a:p>
        </p:txBody>
      </p:sp>
      <p:sp>
        <p:nvSpPr>
          <p:cNvPr id="25" name="Shape 23"/>
          <p:cNvSpPr/>
          <p:nvPr/>
        </p:nvSpPr>
        <p:spPr>
          <a:xfrm>
            <a:off x="7119518" y="2615184"/>
            <a:ext cx="182880" cy="164592"/>
          </a:xfrm>
          <a:prstGeom prst="rightArrow">
            <a:avLst/>
          </a:prstGeom>
          <a:solidFill>
            <a:srgbClr val="D3DCEA"/>
          </a:solidFill>
          <a:ln w="12700">
            <a:solidFill>
              <a:srgbClr val="D3DCEA"/>
            </a:solidFill>
            <a:prstDash val="solid"/>
          </a:ln>
        </p:spPr>
      </p:sp>
      <p:sp>
        <p:nvSpPr>
          <p:cNvPr id="26" name="Shape 24"/>
          <p:cNvSpPr/>
          <p:nvPr/>
        </p:nvSpPr>
        <p:spPr>
          <a:xfrm>
            <a:off x="7329830" y="1874520"/>
            <a:ext cx="2022653" cy="1645920"/>
          </a:xfrm>
          <a:prstGeom prst="roundRect">
            <a:avLst>
              <a:gd name="adj" fmla="val 4444"/>
            </a:avLst>
          </a:prstGeom>
          <a:solidFill>
            <a:srgbClr val="DAF2EB"/>
          </a:solidFill>
          <a:ln w="15875">
            <a:solidFill>
              <a:srgbClr val="02A37A"/>
            </a:solidFill>
            <a:prstDash val="solid"/>
          </a:ln>
        </p:spPr>
      </p:sp>
      <p:sp>
        <p:nvSpPr>
          <p:cNvPr id="27" name="Shape 25"/>
          <p:cNvSpPr/>
          <p:nvPr/>
        </p:nvSpPr>
        <p:spPr>
          <a:xfrm>
            <a:off x="7439558" y="1984248"/>
            <a:ext cx="274320" cy="274320"/>
          </a:xfrm>
          <a:prstGeom prst="ellipse">
            <a:avLst/>
          </a:prstGeom>
          <a:solidFill>
            <a:srgbClr val="02A37A"/>
          </a:solidFill>
          <a:ln w="12700">
            <a:solidFill>
              <a:srgbClr val="02A37A"/>
            </a:solidFill>
            <a:prstDash val="solid"/>
          </a:ln>
        </p:spPr>
      </p:sp>
      <p:sp>
        <p:nvSpPr>
          <p:cNvPr id="28" name="Text 26"/>
          <p:cNvSpPr/>
          <p:nvPr/>
        </p:nvSpPr>
        <p:spPr>
          <a:xfrm>
            <a:off x="743955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78703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Commit</a:t>
            </a:r>
            <a:endParaRPr lang="en-US" sz="1250" dirty="0"/>
          </a:p>
        </p:txBody>
      </p:sp>
      <p:sp>
        <p:nvSpPr>
          <p:cNvPr id="30" name="Text 28"/>
          <p:cNvSpPr/>
          <p:nvPr/>
        </p:nvSpPr>
        <p:spPr>
          <a:xfrm>
            <a:off x="745784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Published at the next output frame edge</a:t>
            </a:r>
            <a:endParaRPr lang="en-US" sz="1000" dirty="0"/>
          </a:p>
        </p:txBody>
      </p:sp>
      <p:sp>
        <p:nvSpPr>
          <p:cNvPr id="31" name="Text 29"/>
          <p:cNvSpPr/>
          <p:nvPr/>
        </p:nvSpPr>
        <p:spPr>
          <a:xfrm>
            <a:off x="7457846"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2" name="Shape 30"/>
          <p:cNvSpPr/>
          <p:nvPr/>
        </p:nvSpPr>
        <p:spPr>
          <a:xfrm>
            <a:off x="9379915" y="2615184"/>
            <a:ext cx="182880" cy="164592"/>
          </a:xfrm>
          <a:prstGeom prst="rightArrow">
            <a:avLst/>
          </a:prstGeom>
          <a:solidFill>
            <a:srgbClr val="D3DCEA"/>
          </a:solidFill>
          <a:ln w="12700">
            <a:solidFill>
              <a:srgbClr val="D3DCEA"/>
            </a:solidFill>
            <a:prstDash val="solid"/>
          </a:ln>
        </p:spPr>
      </p:sp>
      <p:sp>
        <p:nvSpPr>
          <p:cNvPr id="33" name="Shape 31"/>
          <p:cNvSpPr/>
          <p:nvPr/>
        </p:nvSpPr>
        <p:spPr>
          <a:xfrm>
            <a:off x="9590227" y="1874520"/>
            <a:ext cx="2022653" cy="1645920"/>
          </a:xfrm>
          <a:prstGeom prst="roundRect">
            <a:avLst>
              <a:gd name="adj" fmla="val 4444"/>
            </a:avLst>
          </a:prstGeom>
          <a:solidFill>
            <a:srgbClr val="DAF2EB"/>
          </a:solidFill>
          <a:ln w="15875">
            <a:solidFill>
              <a:srgbClr val="02A37A"/>
            </a:solidFill>
            <a:prstDash val="solid"/>
          </a:ln>
        </p:spPr>
      </p:sp>
      <p:sp>
        <p:nvSpPr>
          <p:cNvPr id="34" name="Shape 32"/>
          <p:cNvSpPr/>
          <p:nvPr/>
        </p:nvSpPr>
        <p:spPr>
          <a:xfrm>
            <a:off x="9699955" y="1984248"/>
            <a:ext cx="274320" cy="274320"/>
          </a:xfrm>
          <a:prstGeom prst="ellipse">
            <a:avLst/>
          </a:prstGeom>
          <a:solidFill>
            <a:srgbClr val="02A37A"/>
          </a:solidFill>
          <a:ln w="12700">
            <a:solidFill>
              <a:srgbClr val="02A37A"/>
            </a:solidFill>
            <a:prstDash val="solid"/>
          </a:ln>
        </p:spPr>
      </p:sp>
      <p:sp>
        <p:nvSpPr>
          <p:cNvPr id="35" name="Text 33"/>
          <p:cNvSpPr/>
          <p:nvPr/>
        </p:nvSpPr>
        <p:spPr>
          <a:xfrm>
            <a:off x="969995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4"/>
          <p:cNvSpPr/>
          <p:nvPr/>
        </p:nvSpPr>
        <p:spPr>
          <a:xfrm>
            <a:off x="1004742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Scan-out</a:t>
            </a:r>
            <a:endParaRPr lang="en-US" sz="1250" dirty="0"/>
          </a:p>
        </p:txBody>
      </p:sp>
      <p:sp>
        <p:nvSpPr>
          <p:cNvPr id="37" name="Text 35"/>
          <p:cNvSpPr/>
          <p:nvPr/>
        </p:nvSpPr>
        <p:spPr>
          <a:xfrm>
            <a:off x="971824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Transmitted in the HD-SDI raster</a:t>
            </a:r>
            <a:endParaRPr lang="en-US" sz="1000" dirty="0"/>
          </a:p>
        </p:txBody>
      </p:sp>
      <p:sp>
        <p:nvSpPr>
          <p:cNvPr id="38" name="Text 36"/>
          <p:cNvSpPr/>
          <p:nvPr/>
        </p:nvSpPr>
        <p:spPr>
          <a:xfrm>
            <a:off x="9718243"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9" name="Text 37"/>
          <p:cNvSpPr/>
          <p:nvPr/>
        </p:nvSpPr>
        <p:spPr>
          <a:xfrm>
            <a:off x="548640" y="3767328"/>
            <a:ext cx="3657600" cy="274320"/>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Time budget</a:t>
            </a:r>
            <a:endParaRPr lang="en-US" sz="1300" dirty="0"/>
          </a:p>
        </p:txBody>
      </p:sp>
      <p:sp>
        <p:nvSpPr>
          <p:cNvPr id="40" name="Shape 38"/>
          <p:cNvSpPr/>
          <p:nvPr/>
        </p:nvSpPr>
        <p:spPr>
          <a:xfrm>
            <a:off x="548640" y="4114800"/>
            <a:ext cx="1081659" cy="365760"/>
          </a:xfrm>
          <a:prstGeom prst="rect">
            <a:avLst/>
          </a:prstGeom>
          <a:solidFill>
            <a:srgbClr val="1C7293"/>
          </a:solidFill>
          <a:ln w="12700">
            <a:solidFill>
              <a:srgbClr val="FFFFFF"/>
            </a:solidFill>
            <a:prstDash val="solid"/>
          </a:ln>
        </p:spPr>
      </p:sp>
      <p:sp>
        <p:nvSpPr>
          <p:cNvPr id="41" name="Text 39"/>
          <p:cNvSpPr/>
          <p:nvPr/>
        </p:nvSpPr>
        <p:spPr>
          <a:xfrm>
            <a:off x="548640"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Row age 16.7</a:t>
            </a:r>
            <a:endParaRPr lang="en-US" sz="950" dirty="0"/>
          </a:p>
        </p:txBody>
      </p:sp>
      <p:sp>
        <p:nvSpPr>
          <p:cNvPr id="42" name="Shape 40"/>
          <p:cNvSpPr/>
          <p:nvPr/>
        </p:nvSpPr>
        <p:spPr>
          <a:xfrm>
            <a:off x="1630299" y="4114800"/>
            <a:ext cx="1062228" cy="365760"/>
          </a:xfrm>
          <a:prstGeom prst="rect">
            <a:avLst/>
          </a:prstGeom>
          <a:solidFill>
            <a:srgbClr val="C1663A"/>
          </a:solidFill>
          <a:ln w="12700">
            <a:solidFill>
              <a:srgbClr val="FFFFFF"/>
            </a:solidFill>
            <a:prstDash val="solid"/>
          </a:ln>
        </p:spPr>
      </p:sp>
      <p:sp>
        <p:nvSpPr>
          <p:cNvPr id="43" name="Text 41"/>
          <p:cNvSpPr/>
          <p:nvPr/>
        </p:nvSpPr>
        <p:spPr>
          <a:xfrm>
            <a:off x="1630299" y="4114800"/>
            <a:ext cx="1062228"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16.4 measured</a:t>
            </a:r>
            <a:endParaRPr lang="en-US" sz="950" dirty="0"/>
          </a:p>
        </p:txBody>
      </p:sp>
      <p:sp>
        <p:nvSpPr>
          <p:cNvPr id="44" name="Shape 42"/>
          <p:cNvSpPr/>
          <p:nvPr/>
        </p:nvSpPr>
        <p:spPr>
          <a:xfrm>
            <a:off x="2692527" y="4114800"/>
            <a:ext cx="1081659" cy="365760"/>
          </a:xfrm>
          <a:prstGeom prst="rect">
            <a:avLst/>
          </a:prstGeom>
          <a:solidFill>
            <a:srgbClr val="6FC2AA"/>
          </a:solidFill>
          <a:ln w="12700">
            <a:solidFill>
              <a:srgbClr val="FFFFFF"/>
            </a:solidFill>
            <a:prstDash val="solid"/>
          </a:ln>
        </p:spPr>
      </p:sp>
      <p:sp>
        <p:nvSpPr>
          <p:cNvPr id="45" name="Text 43"/>
          <p:cNvSpPr/>
          <p:nvPr/>
        </p:nvSpPr>
        <p:spPr>
          <a:xfrm>
            <a:off x="2692527"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Scan 16.7</a:t>
            </a:r>
            <a:endParaRPr lang="en-US" sz="950" dirty="0"/>
          </a:p>
        </p:txBody>
      </p:sp>
      <p:sp>
        <p:nvSpPr>
          <p:cNvPr id="46" name="Text 44"/>
          <p:cNvSpPr/>
          <p:nvPr/>
        </p:nvSpPr>
        <p:spPr>
          <a:xfrm>
            <a:off x="548640" y="4535424"/>
            <a:ext cx="7772400" cy="237744"/>
          </a:xfrm>
          <a:prstGeom prst="rect">
            <a:avLst/>
          </a:prstGeom>
          <a:noFill/>
          <a:ln/>
        </p:spPr>
        <p:txBody>
          <a:bodyPr wrap="square" lIns="0" tIns="0" rIns="0" bIns="0" rtlCol="0" anchor="ctr"/>
          <a:lstStyle/>
          <a:p>
            <a:pPr indent="0" marL="0">
              <a:buNone/>
            </a:pPr>
            <a:r>
              <a:rPr lang="en-US" sz="1000" i="1" dirty="0">
                <a:solidFill>
                  <a:srgbClr val="6B7C97"/>
                </a:solidFill>
                <a:latin typeface="Calibri" pitchFamily="34" charset="0"/>
                <a:ea typeface="Calibri" pitchFamily="34" charset="-122"/>
                <a:cs typeface="Calibri" pitchFamily="34" charset="-120"/>
              </a:rPr>
              <a:t>Measured centre segment. Row age and scan position each range 0 to 33.3 ms; shown at their average.</a:t>
            </a:r>
            <a:endParaRPr lang="en-US" sz="1000" dirty="0"/>
          </a:p>
        </p:txBody>
      </p:sp>
      <p:sp>
        <p:nvSpPr>
          <p:cNvPr id="47" name="Shape 45"/>
          <p:cNvSpPr/>
          <p:nvPr/>
        </p:nvSpPr>
        <p:spPr>
          <a:xfrm>
            <a:off x="8595360" y="3767328"/>
            <a:ext cx="1481328" cy="1371600"/>
          </a:xfrm>
          <a:prstGeom prst="roundRect">
            <a:avLst>
              <a:gd name="adj" fmla="val 4000"/>
            </a:avLst>
          </a:prstGeom>
          <a:solidFill>
            <a:srgbClr val="F2F5FA"/>
          </a:solidFill>
          <a:ln w="12700">
            <a:solidFill>
              <a:srgbClr val="D3DCEA"/>
            </a:solidFill>
            <a:prstDash val="solid"/>
          </a:ln>
        </p:spPr>
      </p:sp>
      <p:sp>
        <p:nvSpPr>
          <p:cNvPr id="48" name="Text 46"/>
          <p:cNvSpPr/>
          <p:nvPr/>
        </p:nvSpPr>
        <p:spPr>
          <a:xfrm>
            <a:off x="8650224" y="3913632"/>
            <a:ext cx="1371600" cy="658368"/>
          </a:xfrm>
          <a:prstGeom prst="rect">
            <a:avLst/>
          </a:prstGeom>
          <a:noFill/>
          <a:ln/>
        </p:spPr>
        <p:txBody>
          <a:bodyPr wrap="square" lIns="0" tIns="0" rIns="0" bIns="0" rtlCol="0" anchor="ctr"/>
          <a:lstStyle/>
          <a:p>
            <a:pPr algn="ctr" indent="0" marL="0">
              <a:buNone/>
            </a:pPr>
            <a:r>
              <a:rPr lang="en-US" sz="2500" b="1" dirty="0">
                <a:solidFill>
                  <a:srgbClr val="02A37A"/>
                </a:solidFill>
                <a:latin typeface="Cambria" pitchFamily="34" charset="0"/>
                <a:ea typeface="Cambria" pitchFamily="34" charset="-122"/>
                <a:cs typeface="Cambria" pitchFamily="34" charset="-120"/>
              </a:rPr>
              <a:t>16 ms</a:t>
            </a:r>
            <a:endParaRPr lang="en-US" sz="2500" dirty="0"/>
          </a:p>
        </p:txBody>
      </p:sp>
      <p:sp>
        <p:nvSpPr>
          <p:cNvPr id="49" name="Text 47"/>
          <p:cNvSpPr/>
          <p:nvPr/>
        </p:nvSpPr>
        <p:spPr>
          <a:xfrm>
            <a:off x="8705088"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best case</a:t>
            </a:r>
            <a:endParaRPr lang="en-US" sz="1050" dirty="0"/>
          </a:p>
        </p:txBody>
      </p:sp>
      <p:sp>
        <p:nvSpPr>
          <p:cNvPr id="50" name="Shape 48"/>
          <p:cNvSpPr/>
          <p:nvPr/>
        </p:nvSpPr>
        <p:spPr>
          <a:xfrm>
            <a:off x="10204704" y="3767328"/>
            <a:ext cx="1481328" cy="1371600"/>
          </a:xfrm>
          <a:prstGeom prst="roundRect">
            <a:avLst>
              <a:gd name="adj" fmla="val 4000"/>
            </a:avLst>
          </a:prstGeom>
          <a:solidFill>
            <a:srgbClr val="F2F5FA"/>
          </a:solidFill>
          <a:ln w="12700">
            <a:solidFill>
              <a:srgbClr val="D3DCEA"/>
            </a:solidFill>
            <a:prstDash val="solid"/>
          </a:ln>
        </p:spPr>
      </p:sp>
      <p:sp>
        <p:nvSpPr>
          <p:cNvPr id="51" name="Text 49"/>
          <p:cNvSpPr/>
          <p:nvPr/>
        </p:nvSpPr>
        <p:spPr>
          <a:xfrm>
            <a:off x="10259568" y="3913632"/>
            <a:ext cx="1371600" cy="658368"/>
          </a:xfrm>
          <a:prstGeom prst="rect">
            <a:avLst/>
          </a:prstGeom>
          <a:noFill/>
          <a:ln/>
        </p:spPr>
        <p:txBody>
          <a:bodyPr wrap="square" lIns="0" tIns="0" rIns="0" bIns="0" rtlCol="0" anchor="ctr"/>
          <a:lstStyle/>
          <a:p>
            <a:pPr algn="ctr" indent="0" marL="0">
              <a:buNone/>
            </a:pPr>
            <a:r>
              <a:rPr lang="en-US" sz="2500" b="1" dirty="0">
                <a:solidFill>
                  <a:srgbClr val="C1663A"/>
                </a:solidFill>
                <a:latin typeface="Cambria" pitchFamily="34" charset="0"/>
                <a:ea typeface="Cambria" pitchFamily="34" charset="-122"/>
                <a:cs typeface="Cambria" pitchFamily="34" charset="-120"/>
              </a:rPr>
              <a:t>83 ms</a:t>
            </a:r>
            <a:endParaRPr lang="en-US" sz="2500" dirty="0"/>
          </a:p>
        </p:txBody>
      </p:sp>
      <p:sp>
        <p:nvSpPr>
          <p:cNvPr id="52" name="Text 50"/>
          <p:cNvSpPr/>
          <p:nvPr/>
        </p:nvSpPr>
        <p:spPr>
          <a:xfrm>
            <a:off x="10314432"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worst case</a:t>
            </a:r>
            <a:endParaRPr lang="en-US" sz="1050" dirty="0"/>
          </a:p>
        </p:txBody>
      </p:sp>
      <p:sp>
        <p:nvSpPr>
          <p:cNvPr id="53" name="Shape 51"/>
          <p:cNvSpPr/>
          <p:nvPr/>
        </p:nvSpPr>
        <p:spPr>
          <a:xfrm>
            <a:off x="8595360" y="5285232"/>
            <a:ext cx="3090672" cy="786384"/>
          </a:xfrm>
          <a:prstGeom prst="roundRect">
            <a:avLst>
              <a:gd name="adj" fmla="val 6977"/>
            </a:avLst>
          </a:prstGeom>
          <a:solidFill>
            <a:srgbClr val="0E1C36"/>
          </a:solidFill>
          <a:ln w="12700">
            <a:solidFill>
              <a:srgbClr val="0E1C36"/>
            </a:solidFill>
            <a:prstDash val="solid"/>
          </a:ln>
        </p:spPr>
      </p:sp>
      <p:sp>
        <p:nvSpPr>
          <p:cNvPr id="54" name="Text 52"/>
          <p:cNvSpPr/>
          <p:nvPr/>
        </p:nvSpPr>
        <p:spPr>
          <a:xfrm>
            <a:off x="8595360" y="5285232"/>
            <a:ext cx="3090672"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50 ms  </a:t>
            </a:r>
            <a:pPr algn="ctr" indent="0" marL="0">
              <a:buNone/>
            </a:pPr>
            <a:r>
              <a:rPr lang="en-US" sz="1200" dirty="0">
                <a:solidFill>
                  <a:srgbClr val="9FB4D4"/>
                </a:solidFill>
                <a:latin typeface="Calibri" pitchFamily="34" charset="0"/>
                <a:ea typeface="Calibri" pitchFamily="34" charset="-122"/>
                <a:cs typeface="Calibri" pitchFamily="34" charset="-120"/>
              </a:rPr>
              <a:t>typical</a:t>
            </a:r>
            <a:endParaRPr lang="en-US" sz="2200" dirty="0"/>
          </a:p>
        </p:txBody>
      </p:sp>
      <p:sp>
        <p:nvSpPr>
          <p:cNvPr id="55" name="Shape 53"/>
          <p:cNvSpPr/>
          <p:nvPr/>
        </p:nvSpPr>
        <p:spPr>
          <a:xfrm>
            <a:off x="548640" y="4956048"/>
            <a:ext cx="7772400" cy="1115568"/>
          </a:xfrm>
          <a:prstGeom prst="roundRect">
            <a:avLst>
              <a:gd name="adj" fmla="val 4918"/>
            </a:avLst>
          </a:prstGeom>
          <a:solidFill>
            <a:srgbClr val="DAF2EB"/>
          </a:solidFill>
          <a:ln w="12700">
            <a:solidFill>
              <a:srgbClr val="02A37A"/>
            </a:solidFill>
            <a:prstDash val="solid"/>
          </a:ln>
        </p:spPr>
      </p:sp>
      <p:sp>
        <p:nvSpPr>
          <p:cNvPr id="56" name="Text 54"/>
          <p:cNvSpPr/>
          <p:nvPr/>
        </p:nvSpPr>
        <p:spPr>
          <a:xfrm>
            <a:off x="804672" y="5120640"/>
            <a:ext cx="7269480" cy="82296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Measured, not derived:  </a:t>
            </a:r>
            <a:pPr indent="0" marL="0">
              <a:buNone/>
            </a:pPr>
            <a:r>
              <a:rPr lang="en-US" sz="1200" dirty="0">
                <a:solidFill>
                  <a:srgbClr val="27374F"/>
                </a:solidFill>
                <a:latin typeface="Calibri" pitchFamily="34" charset="0"/>
                <a:ea typeface="Calibri" pitchFamily="34" charset="-122"/>
                <a:cs typeface="Calibri" pitchFamily="34" charset="-120"/>
              </a:rPr>
              <a:t>16.4 ms from the frame becoming available to the output being published, and 29.75 new frames per second - full rate. The render is far quicker than the derived analysis assumed.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MODE 0X15</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EO panorama</a:t>
            </a:r>
            <a:endParaRPr lang="en-US" sz="3200" dirty="0"/>
          </a:p>
        </p:txBody>
      </p:sp>
      <p:sp>
        <p:nvSpPr>
          <p:cNvPr id="4" name="Text 2"/>
          <p:cNvSpPr/>
          <p:nvPr/>
        </p:nvSpPr>
        <p:spPr>
          <a:xfrm>
            <a:off x="548640" y="1298448"/>
            <a:ext cx="11064240" cy="420624"/>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All six EO cameras stitched into one wide panorama, folded into the HD output raster.</a:t>
            </a:r>
            <a:endParaRPr lang="en-US" sz="1350" dirty="0"/>
          </a:p>
        </p:txBody>
      </p:sp>
      <p:sp>
        <p:nvSpPr>
          <p:cNvPr id="5" name="Shape 3"/>
          <p:cNvSpPr/>
          <p:nvPr/>
        </p:nvSpPr>
        <p:spPr>
          <a:xfrm>
            <a:off x="548640" y="1874520"/>
            <a:ext cx="2022653" cy="1645920"/>
          </a:xfrm>
          <a:prstGeom prst="roundRect">
            <a:avLst>
              <a:gd name="adj" fmla="val 4444"/>
            </a:avLst>
          </a:prstGeom>
          <a:solidFill>
            <a:srgbClr val="DCEAF0"/>
          </a:solidFill>
          <a:ln w="15875">
            <a:solidFill>
              <a:srgbClr val="1C7293"/>
            </a:solidFill>
            <a:prstDash val="solid"/>
          </a:ln>
        </p:spPr>
      </p:sp>
      <p:sp>
        <p:nvSpPr>
          <p:cNvPr id="6" name="Shape 4"/>
          <p:cNvSpPr/>
          <p:nvPr/>
        </p:nvSpPr>
        <p:spPr>
          <a:xfrm>
            <a:off x="658368" y="1984248"/>
            <a:ext cx="274320" cy="274320"/>
          </a:xfrm>
          <a:prstGeom prst="ellipse">
            <a:avLst/>
          </a:prstGeom>
          <a:solidFill>
            <a:srgbClr val="1C7293"/>
          </a:solidFill>
          <a:ln w="12700">
            <a:solidFill>
              <a:srgbClr val="1C7293"/>
            </a:solidFill>
            <a:prstDash val="solid"/>
          </a:ln>
        </p:spPr>
      </p:sp>
      <p:sp>
        <p:nvSpPr>
          <p:cNvPr id="7" name="Text 5"/>
          <p:cNvSpPr/>
          <p:nvPr/>
        </p:nvSpPr>
        <p:spPr>
          <a:xfrm>
            <a:off x="65836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Ingest</a:t>
            </a:r>
            <a:endParaRPr lang="en-US" sz="1250" dirty="0"/>
          </a:p>
        </p:txBody>
      </p:sp>
      <p:sp>
        <p:nvSpPr>
          <p:cNvPr id="9" name="Text 7"/>
          <p:cNvSpPr/>
          <p:nvPr/>
        </p:nvSpPr>
        <p:spPr>
          <a:xfrm>
            <a:off x="67665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All six cameras write their frames to memory concurrently</a:t>
            </a:r>
            <a:endParaRPr lang="en-US" sz="1000" dirty="0"/>
          </a:p>
        </p:txBody>
      </p:sp>
      <p:sp>
        <p:nvSpPr>
          <p:cNvPr id="10" name="Text 8"/>
          <p:cNvSpPr/>
          <p:nvPr/>
        </p:nvSpPr>
        <p:spPr>
          <a:xfrm>
            <a:off x="676656" y="313639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33.3 ms</a:t>
            </a:r>
            <a:endParaRPr lang="en-US" sz="1200" dirty="0"/>
          </a:p>
        </p:txBody>
      </p:sp>
      <p:sp>
        <p:nvSpPr>
          <p:cNvPr id="11" name="Shape 9"/>
          <p:cNvSpPr/>
          <p:nvPr/>
        </p:nvSpPr>
        <p:spPr>
          <a:xfrm>
            <a:off x="2598725" y="2615184"/>
            <a:ext cx="182880" cy="164592"/>
          </a:xfrm>
          <a:prstGeom prst="rightArrow">
            <a:avLst/>
          </a:prstGeom>
          <a:solidFill>
            <a:srgbClr val="D3DCEA"/>
          </a:solidFill>
          <a:ln w="12700">
            <a:solidFill>
              <a:srgbClr val="D3DCEA"/>
            </a:solidFill>
            <a:prstDash val="solid"/>
          </a:ln>
        </p:spPr>
      </p:sp>
      <p:sp>
        <p:nvSpPr>
          <p:cNvPr id="12" name="Shape 10"/>
          <p:cNvSpPr/>
          <p:nvPr/>
        </p:nvSpPr>
        <p:spPr>
          <a:xfrm>
            <a:off x="2809037" y="1874520"/>
            <a:ext cx="2022653" cy="1645920"/>
          </a:xfrm>
          <a:prstGeom prst="roundRect">
            <a:avLst>
              <a:gd name="adj" fmla="val 4444"/>
            </a:avLst>
          </a:prstGeom>
          <a:solidFill>
            <a:srgbClr val="DCEAF0"/>
          </a:solidFill>
          <a:ln w="15875">
            <a:solidFill>
              <a:srgbClr val="1C7293"/>
            </a:solidFill>
            <a:prstDash val="solid"/>
          </a:ln>
        </p:spPr>
      </p:sp>
      <p:sp>
        <p:nvSpPr>
          <p:cNvPr id="13" name="Shape 11"/>
          <p:cNvSpPr/>
          <p:nvPr/>
        </p:nvSpPr>
        <p:spPr>
          <a:xfrm>
            <a:off x="2918765" y="1984248"/>
            <a:ext cx="274320" cy="274320"/>
          </a:xfrm>
          <a:prstGeom prst="ellipse">
            <a:avLst/>
          </a:prstGeom>
          <a:solidFill>
            <a:srgbClr val="1C7293"/>
          </a:solidFill>
          <a:ln w="12700">
            <a:solidFill>
              <a:srgbClr val="1C7293"/>
            </a:solidFill>
            <a:prstDash val="solid"/>
          </a:ln>
        </p:spPr>
      </p:sp>
      <p:sp>
        <p:nvSpPr>
          <p:cNvPr id="14" name="Text 12"/>
          <p:cNvSpPr/>
          <p:nvPr/>
        </p:nvSpPr>
        <p:spPr>
          <a:xfrm>
            <a:off x="291876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326623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Align</a:t>
            </a:r>
            <a:endParaRPr lang="en-US" sz="1250" dirty="0"/>
          </a:p>
        </p:txBody>
      </p:sp>
      <p:sp>
        <p:nvSpPr>
          <p:cNvPr id="16" name="Text 14"/>
          <p:cNvSpPr/>
          <p:nvPr/>
        </p:nvSpPr>
        <p:spPr>
          <a:xfrm>
            <a:off x="293705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Wait for a set of six frames that share one exposure instant</a:t>
            </a:r>
            <a:endParaRPr lang="en-US" sz="1000" dirty="0"/>
          </a:p>
        </p:txBody>
      </p:sp>
      <p:sp>
        <p:nvSpPr>
          <p:cNvPr id="17" name="Text 15"/>
          <p:cNvSpPr/>
          <p:nvPr/>
        </p:nvSpPr>
        <p:spPr>
          <a:xfrm>
            <a:off x="2937053" y="313639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0 - 33.3 ms</a:t>
            </a:r>
            <a:endParaRPr lang="en-US" sz="1200" dirty="0"/>
          </a:p>
        </p:txBody>
      </p:sp>
      <p:sp>
        <p:nvSpPr>
          <p:cNvPr id="18" name="Shape 16"/>
          <p:cNvSpPr/>
          <p:nvPr/>
        </p:nvSpPr>
        <p:spPr>
          <a:xfrm>
            <a:off x="4859122" y="2615184"/>
            <a:ext cx="182880" cy="164592"/>
          </a:xfrm>
          <a:prstGeom prst="rightArrow">
            <a:avLst/>
          </a:prstGeom>
          <a:solidFill>
            <a:srgbClr val="D3DCEA"/>
          </a:solidFill>
          <a:ln w="12700">
            <a:solidFill>
              <a:srgbClr val="D3DCEA"/>
            </a:solidFill>
            <a:prstDash val="solid"/>
          </a:ln>
        </p:spPr>
      </p:sp>
      <p:sp>
        <p:nvSpPr>
          <p:cNvPr id="19" name="Shape 17"/>
          <p:cNvSpPr/>
          <p:nvPr/>
        </p:nvSpPr>
        <p:spPr>
          <a:xfrm>
            <a:off x="5069434" y="1874520"/>
            <a:ext cx="2022653" cy="1645920"/>
          </a:xfrm>
          <a:prstGeom prst="roundRect">
            <a:avLst>
              <a:gd name="adj" fmla="val 4444"/>
            </a:avLst>
          </a:prstGeom>
          <a:solidFill>
            <a:srgbClr val="F6E7DE"/>
          </a:solidFill>
          <a:ln w="15875">
            <a:solidFill>
              <a:srgbClr val="C1663A"/>
            </a:solidFill>
            <a:prstDash val="solid"/>
          </a:ln>
        </p:spPr>
      </p:sp>
      <p:sp>
        <p:nvSpPr>
          <p:cNvPr id="20" name="Shape 18"/>
          <p:cNvSpPr/>
          <p:nvPr/>
        </p:nvSpPr>
        <p:spPr>
          <a:xfrm>
            <a:off x="5179162" y="1984248"/>
            <a:ext cx="274320" cy="274320"/>
          </a:xfrm>
          <a:prstGeom prst="ellipse">
            <a:avLst/>
          </a:prstGeom>
          <a:solidFill>
            <a:srgbClr val="C1663A"/>
          </a:solidFill>
          <a:ln w="12700">
            <a:solidFill>
              <a:srgbClr val="C1663A"/>
            </a:solidFill>
            <a:prstDash val="solid"/>
          </a:ln>
        </p:spPr>
      </p:sp>
      <p:sp>
        <p:nvSpPr>
          <p:cNvPr id="21" name="Text 19"/>
          <p:cNvSpPr/>
          <p:nvPr/>
        </p:nvSpPr>
        <p:spPr>
          <a:xfrm>
            <a:off x="5179162"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5526634"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Render</a:t>
            </a:r>
            <a:endParaRPr lang="en-US" sz="1250" dirty="0"/>
          </a:p>
        </p:txBody>
      </p:sp>
      <p:sp>
        <p:nvSpPr>
          <p:cNvPr id="23" name="Text 21"/>
          <p:cNvSpPr/>
          <p:nvPr/>
        </p:nvSpPr>
        <p:spPr>
          <a:xfrm>
            <a:off x="5197450"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Six frames read back, warped, seam-blended and folded</a:t>
            </a:r>
            <a:endParaRPr lang="en-US" sz="1000" dirty="0"/>
          </a:p>
        </p:txBody>
      </p:sp>
      <p:sp>
        <p:nvSpPr>
          <p:cNvPr id="24" name="Text 22"/>
          <p:cNvSpPr/>
          <p:nvPr/>
        </p:nvSpPr>
        <p:spPr>
          <a:xfrm>
            <a:off x="5197450" y="3136392"/>
            <a:ext cx="1766621" cy="274320"/>
          </a:xfrm>
          <a:prstGeom prst="rect">
            <a:avLst/>
          </a:prstGeom>
          <a:noFill/>
          <a:ln/>
        </p:spPr>
        <p:txBody>
          <a:bodyPr wrap="square" lIns="0" tIns="0" rIns="0" bIns="0" rtlCol="0" anchor="ctr"/>
          <a:lstStyle/>
          <a:p>
            <a:pPr indent="0" marL="0">
              <a:buNone/>
            </a:pPr>
            <a:r>
              <a:rPr lang="en-US" sz="1200" b="1" dirty="0">
                <a:solidFill>
                  <a:srgbClr val="C1663A"/>
                </a:solidFill>
                <a:latin typeface="Calibri" pitchFamily="34" charset="0"/>
                <a:ea typeface="Calibri" pitchFamily="34" charset="-122"/>
                <a:cs typeface="Calibri" pitchFamily="34" charset="-120"/>
              </a:rPr>
              <a:t>38.2 ms measured</a:t>
            </a:r>
            <a:endParaRPr lang="en-US" sz="1200" dirty="0"/>
          </a:p>
        </p:txBody>
      </p:sp>
      <p:sp>
        <p:nvSpPr>
          <p:cNvPr id="25" name="Shape 23"/>
          <p:cNvSpPr/>
          <p:nvPr/>
        </p:nvSpPr>
        <p:spPr>
          <a:xfrm>
            <a:off x="7119518" y="2615184"/>
            <a:ext cx="182880" cy="164592"/>
          </a:xfrm>
          <a:prstGeom prst="rightArrow">
            <a:avLst/>
          </a:prstGeom>
          <a:solidFill>
            <a:srgbClr val="D3DCEA"/>
          </a:solidFill>
          <a:ln w="12700">
            <a:solidFill>
              <a:srgbClr val="D3DCEA"/>
            </a:solidFill>
            <a:prstDash val="solid"/>
          </a:ln>
        </p:spPr>
      </p:sp>
      <p:sp>
        <p:nvSpPr>
          <p:cNvPr id="26" name="Shape 24"/>
          <p:cNvSpPr/>
          <p:nvPr/>
        </p:nvSpPr>
        <p:spPr>
          <a:xfrm>
            <a:off x="7329830" y="1874520"/>
            <a:ext cx="2022653" cy="1645920"/>
          </a:xfrm>
          <a:prstGeom prst="roundRect">
            <a:avLst>
              <a:gd name="adj" fmla="val 4444"/>
            </a:avLst>
          </a:prstGeom>
          <a:solidFill>
            <a:srgbClr val="DAF2EB"/>
          </a:solidFill>
          <a:ln w="15875">
            <a:solidFill>
              <a:srgbClr val="02A37A"/>
            </a:solidFill>
            <a:prstDash val="solid"/>
          </a:ln>
        </p:spPr>
      </p:sp>
      <p:sp>
        <p:nvSpPr>
          <p:cNvPr id="27" name="Shape 25"/>
          <p:cNvSpPr/>
          <p:nvPr/>
        </p:nvSpPr>
        <p:spPr>
          <a:xfrm>
            <a:off x="7439558" y="1984248"/>
            <a:ext cx="274320" cy="274320"/>
          </a:xfrm>
          <a:prstGeom prst="ellipse">
            <a:avLst/>
          </a:prstGeom>
          <a:solidFill>
            <a:srgbClr val="02A37A"/>
          </a:solidFill>
          <a:ln w="12700">
            <a:solidFill>
              <a:srgbClr val="02A37A"/>
            </a:solidFill>
            <a:prstDash val="solid"/>
          </a:ln>
        </p:spPr>
      </p:sp>
      <p:sp>
        <p:nvSpPr>
          <p:cNvPr id="28" name="Text 26"/>
          <p:cNvSpPr/>
          <p:nvPr/>
        </p:nvSpPr>
        <p:spPr>
          <a:xfrm>
            <a:off x="743955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78703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Commit</a:t>
            </a:r>
            <a:endParaRPr lang="en-US" sz="1250" dirty="0"/>
          </a:p>
        </p:txBody>
      </p:sp>
      <p:sp>
        <p:nvSpPr>
          <p:cNvPr id="30" name="Text 28"/>
          <p:cNvSpPr/>
          <p:nvPr/>
        </p:nvSpPr>
        <p:spPr>
          <a:xfrm>
            <a:off x="745784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Published at the next output frame edge</a:t>
            </a:r>
            <a:endParaRPr lang="en-US" sz="1000" dirty="0"/>
          </a:p>
        </p:txBody>
      </p:sp>
      <p:sp>
        <p:nvSpPr>
          <p:cNvPr id="31" name="Text 29"/>
          <p:cNvSpPr/>
          <p:nvPr/>
        </p:nvSpPr>
        <p:spPr>
          <a:xfrm>
            <a:off x="7457846"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2" name="Shape 30"/>
          <p:cNvSpPr/>
          <p:nvPr/>
        </p:nvSpPr>
        <p:spPr>
          <a:xfrm>
            <a:off x="9379915" y="2615184"/>
            <a:ext cx="182880" cy="164592"/>
          </a:xfrm>
          <a:prstGeom prst="rightArrow">
            <a:avLst/>
          </a:prstGeom>
          <a:solidFill>
            <a:srgbClr val="D3DCEA"/>
          </a:solidFill>
          <a:ln w="12700">
            <a:solidFill>
              <a:srgbClr val="D3DCEA"/>
            </a:solidFill>
            <a:prstDash val="solid"/>
          </a:ln>
        </p:spPr>
      </p:sp>
      <p:sp>
        <p:nvSpPr>
          <p:cNvPr id="33" name="Shape 31"/>
          <p:cNvSpPr/>
          <p:nvPr/>
        </p:nvSpPr>
        <p:spPr>
          <a:xfrm>
            <a:off x="9590227" y="1874520"/>
            <a:ext cx="2022653" cy="1645920"/>
          </a:xfrm>
          <a:prstGeom prst="roundRect">
            <a:avLst>
              <a:gd name="adj" fmla="val 4444"/>
            </a:avLst>
          </a:prstGeom>
          <a:solidFill>
            <a:srgbClr val="DAF2EB"/>
          </a:solidFill>
          <a:ln w="15875">
            <a:solidFill>
              <a:srgbClr val="02A37A"/>
            </a:solidFill>
            <a:prstDash val="solid"/>
          </a:ln>
        </p:spPr>
      </p:sp>
      <p:sp>
        <p:nvSpPr>
          <p:cNvPr id="34" name="Shape 32"/>
          <p:cNvSpPr/>
          <p:nvPr/>
        </p:nvSpPr>
        <p:spPr>
          <a:xfrm>
            <a:off x="9699955" y="1984248"/>
            <a:ext cx="274320" cy="274320"/>
          </a:xfrm>
          <a:prstGeom prst="ellipse">
            <a:avLst/>
          </a:prstGeom>
          <a:solidFill>
            <a:srgbClr val="02A37A"/>
          </a:solidFill>
          <a:ln w="12700">
            <a:solidFill>
              <a:srgbClr val="02A37A"/>
            </a:solidFill>
            <a:prstDash val="solid"/>
          </a:ln>
        </p:spPr>
      </p:sp>
      <p:sp>
        <p:nvSpPr>
          <p:cNvPr id="35" name="Text 33"/>
          <p:cNvSpPr/>
          <p:nvPr/>
        </p:nvSpPr>
        <p:spPr>
          <a:xfrm>
            <a:off x="969995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4"/>
          <p:cNvSpPr/>
          <p:nvPr/>
        </p:nvSpPr>
        <p:spPr>
          <a:xfrm>
            <a:off x="1004742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Scan-out</a:t>
            </a:r>
            <a:endParaRPr lang="en-US" sz="1250" dirty="0"/>
          </a:p>
        </p:txBody>
      </p:sp>
      <p:sp>
        <p:nvSpPr>
          <p:cNvPr id="37" name="Text 35"/>
          <p:cNvSpPr/>
          <p:nvPr/>
        </p:nvSpPr>
        <p:spPr>
          <a:xfrm>
            <a:off x="971824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Transmitted in the HD-SDI raster</a:t>
            </a:r>
            <a:endParaRPr lang="en-US" sz="1000" dirty="0"/>
          </a:p>
        </p:txBody>
      </p:sp>
      <p:sp>
        <p:nvSpPr>
          <p:cNvPr id="38" name="Text 36"/>
          <p:cNvSpPr/>
          <p:nvPr/>
        </p:nvSpPr>
        <p:spPr>
          <a:xfrm>
            <a:off x="9718243"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9" name="Text 37"/>
          <p:cNvSpPr/>
          <p:nvPr/>
        </p:nvSpPr>
        <p:spPr>
          <a:xfrm>
            <a:off x="548640" y="3767328"/>
            <a:ext cx="3657600" cy="274320"/>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Time budget</a:t>
            </a:r>
            <a:endParaRPr lang="en-US" sz="1300" dirty="0"/>
          </a:p>
        </p:txBody>
      </p:sp>
      <p:sp>
        <p:nvSpPr>
          <p:cNvPr id="40" name="Shape 38"/>
          <p:cNvSpPr/>
          <p:nvPr/>
        </p:nvSpPr>
        <p:spPr>
          <a:xfrm>
            <a:off x="548640" y="4114800"/>
            <a:ext cx="1081659" cy="365760"/>
          </a:xfrm>
          <a:prstGeom prst="rect">
            <a:avLst/>
          </a:prstGeom>
          <a:solidFill>
            <a:srgbClr val="1C7293"/>
          </a:solidFill>
          <a:ln w="12700">
            <a:solidFill>
              <a:srgbClr val="FFFFFF"/>
            </a:solidFill>
            <a:prstDash val="solid"/>
          </a:ln>
        </p:spPr>
      </p:sp>
      <p:sp>
        <p:nvSpPr>
          <p:cNvPr id="41" name="Text 39"/>
          <p:cNvSpPr/>
          <p:nvPr/>
        </p:nvSpPr>
        <p:spPr>
          <a:xfrm>
            <a:off x="548640"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Row age 16.7</a:t>
            </a:r>
            <a:endParaRPr lang="en-US" sz="950" dirty="0"/>
          </a:p>
        </p:txBody>
      </p:sp>
      <p:sp>
        <p:nvSpPr>
          <p:cNvPr id="42" name="Shape 40"/>
          <p:cNvSpPr/>
          <p:nvPr/>
        </p:nvSpPr>
        <p:spPr>
          <a:xfrm>
            <a:off x="1630299" y="4114800"/>
            <a:ext cx="2662047" cy="365760"/>
          </a:xfrm>
          <a:prstGeom prst="rect">
            <a:avLst/>
          </a:prstGeom>
          <a:solidFill>
            <a:srgbClr val="C1663A"/>
          </a:solidFill>
          <a:ln w="12700">
            <a:solidFill>
              <a:srgbClr val="FFFFFF"/>
            </a:solidFill>
            <a:prstDash val="solid"/>
          </a:ln>
        </p:spPr>
      </p:sp>
      <p:sp>
        <p:nvSpPr>
          <p:cNvPr id="43" name="Text 41"/>
          <p:cNvSpPr/>
          <p:nvPr/>
        </p:nvSpPr>
        <p:spPr>
          <a:xfrm>
            <a:off x="1630299" y="4114800"/>
            <a:ext cx="2662047"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41.1 measured  (align + render + publish)</a:t>
            </a:r>
            <a:endParaRPr lang="en-US" sz="950" dirty="0"/>
          </a:p>
        </p:txBody>
      </p:sp>
      <p:sp>
        <p:nvSpPr>
          <p:cNvPr id="44" name="Shape 42"/>
          <p:cNvSpPr/>
          <p:nvPr/>
        </p:nvSpPr>
        <p:spPr>
          <a:xfrm>
            <a:off x="4292346" y="4114800"/>
            <a:ext cx="1081659" cy="365760"/>
          </a:xfrm>
          <a:prstGeom prst="rect">
            <a:avLst/>
          </a:prstGeom>
          <a:solidFill>
            <a:srgbClr val="6FC2AA"/>
          </a:solidFill>
          <a:ln w="12700">
            <a:solidFill>
              <a:srgbClr val="FFFFFF"/>
            </a:solidFill>
            <a:prstDash val="solid"/>
          </a:ln>
        </p:spPr>
      </p:sp>
      <p:sp>
        <p:nvSpPr>
          <p:cNvPr id="45" name="Text 43"/>
          <p:cNvSpPr/>
          <p:nvPr/>
        </p:nvSpPr>
        <p:spPr>
          <a:xfrm>
            <a:off x="4292346"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Scan 16.7</a:t>
            </a:r>
            <a:endParaRPr lang="en-US" sz="950" dirty="0"/>
          </a:p>
        </p:txBody>
      </p:sp>
      <p:sp>
        <p:nvSpPr>
          <p:cNvPr id="46" name="Text 44"/>
          <p:cNvSpPr/>
          <p:nvPr/>
        </p:nvSpPr>
        <p:spPr>
          <a:xfrm>
            <a:off x="548640" y="4535424"/>
            <a:ext cx="7772400" cy="237744"/>
          </a:xfrm>
          <a:prstGeom prst="rect">
            <a:avLst/>
          </a:prstGeom>
          <a:noFill/>
          <a:ln/>
        </p:spPr>
        <p:txBody>
          <a:bodyPr wrap="square" lIns="0" tIns="0" rIns="0" bIns="0" rtlCol="0" anchor="ctr"/>
          <a:lstStyle/>
          <a:p>
            <a:pPr indent="0" marL="0">
              <a:buNone/>
            </a:pPr>
            <a:r>
              <a:rPr lang="en-US" sz="1000" i="1" dirty="0">
                <a:solidFill>
                  <a:srgbClr val="6B7C97"/>
                </a:solidFill>
                <a:latin typeface="Calibri" pitchFamily="34" charset="0"/>
                <a:ea typeface="Calibri" pitchFamily="34" charset="-122"/>
                <a:cs typeface="Calibri" pitchFamily="34" charset="-120"/>
              </a:rPr>
              <a:t>41.1 ms is a lower bound: the panorama displays a matched set of six frames, which can be older than the frame timed from.</a:t>
            </a:r>
            <a:endParaRPr lang="en-US" sz="1000" dirty="0"/>
          </a:p>
        </p:txBody>
      </p:sp>
      <p:sp>
        <p:nvSpPr>
          <p:cNvPr id="47" name="Shape 45"/>
          <p:cNvSpPr/>
          <p:nvPr/>
        </p:nvSpPr>
        <p:spPr>
          <a:xfrm>
            <a:off x="8595360" y="3767328"/>
            <a:ext cx="1481328" cy="1371600"/>
          </a:xfrm>
          <a:prstGeom prst="roundRect">
            <a:avLst>
              <a:gd name="adj" fmla="val 4000"/>
            </a:avLst>
          </a:prstGeom>
          <a:solidFill>
            <a:srgbClr val="F2F5FA"/>
          </a:solidFill>
          <a:ln w="12700">
            <a:solidFill>
              <a:srgbClr val="D3DCEA"/>
            </a:solidFill>
            <a:prstDash val="solid"/>
          </a:ln>
        </p:spPr>
      </p:sp>
      <p:sp>
        <p:nvSpPr>
          <p:cNvPr id="48" name="Text 46"/>
          <p:cNvSpPr/>
          <p:nvPr/>
        </p:nvSpPr>
        <p:spPr>
          <a:xfrm>
            <a:off x="8650224" y="3913632"/>
            <a:ext cx="1371600" cy="658368"/>
          </a:xfrm>
          <a:prstGeom prst="rect">
            <a:avLst/>
          </a:prstGeom>
          <a:noFill/>
          <a:ln/>
        </p:spPr>
        <p:txBody>
          <a:bodyPr wrap="square" lIns="0" tIns="0" rIns="0" bIns="0" rtlCol="0" anchor="ctr"/>
          <a:lstStyle/>
          <a:p>
            <a:pPr algn="ctr" indent="0" marL="0">
              <a:buNone/>
            </a:pPr>
            <a:r>
              <a:rPr lang="en-US" sz="2500" b="1" dirty="0">
                <a:solidFill>
                  <a:srgbClr val="02A37A"/>
                </a:solidFill>
                <a:latin typeface="Cambria" pitchFamily="34" charset="0"/>
                <a:ea typeface="Cambria" pitchFamily="34" charset="-122"/>
                <a:cs typeface="Cambria" pitchFamily="34" charset="-120"/>
              </a:rPr>
              <a:t>41 ms</a:t>
            </a:r>
            <a:endParaRPr lang="en-US" sz="2500" dirty="0"/>
          </a:p>
        </p:txBody>
      </p:sp>
      <p:sp>
        <p:nvSpPr>
          <p:cNvPr id="49" name="Text 47"/>
          <p:cNvSpPr/>
          <p:nvPr/>
        </p:nvSpPr>
        <p:spPr>
          <a:xfrm>
            <a:off x="8705088"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best case</a:t>
            </a:r>
            <a:endParaRPr lang="en-US" sz="1050" dirty="0"/>
          </a:p>
        </p:txBody>
      </p:sp>
      <p:sp>
        <p:nvSpPr>
          <p:cNvPr id="50" name="Shape 48"/>
          <p:cNvSpPr/>
          <p:nvPr/>
        </p:nvSpPr>
        <p:spPr>
          <a:xfrm>
            <a:off x="10204704" y="3767328"/>
            <a:ext cx="1481328" cy="1371600"/>
          </a:xfrm>
          <a:prstGeom prst="roundRect">
            <a:avLst>
              <a:gd name="adj" fmla="val 4000"/>
            </a:avLst>
          </a:prstGeom>
          <a:solidFill>
            <a:srgbClr val="F2F5FA"/>
          </a:solidFill>
          <a:ln w="12700">
            <a:solidFill>
              <a:srgbClr val="D3DCEA"/>
            </a:solidFill>
            <a:prstDash val="solid"/>
          </a:ln>
        </p:spPr>
      </p:sp>
      <p:sp>
        <p:nvSpPr>
          <p:cNvPr id="51" name="Text 49"/>
          <p:cNvSpPr/>
          <p:nvPr/>
        </p:nvSpPr>
        <p:spPr>
          <a:xfrm>
            <a:off x="10259568" y="3913632"/>
            <a:ext cx="1371600" cy="658368"/>
          </a:xfrm>
          <a:prstGeom prst="rect">
            <a:avLst/>
          </a:prstGeom>
          <a:noFill/>
          <a:ln/>
        </p:spPr>
        <p:txBody>
          <a:bodyPr wrap="square" lIns="0" tIns="0" rIns="0" bIns="0" rtlCol="0" anchor="ctr"/>
          <a:lstStyle/>
          <a:p>
            <a:pPr algn="ctr" indent="0" marL="0">
              <a:buNone/>
            </a:pPr>
            <a:r>
              <a:rPr lang="en-US" sz="2500" b="1" dirty="0">
                <a:solidFill>
                  <a:srgbClr val="C1663A"/>
                </a:solidFill>
                <a:latin typeface="Cambria" pitchFamily="34" charset="0"/>
                <a:ea typeface="Cambria" pitchFamily="34" charset="-122"/>
                <a:cs typeface="Cambria" pitchFamily="34" charset="-120"/>
              </a:rPr>
              <a:t>108 ms</a:t>
            </a:r>
            <a:endParaRPr lang="en-US" sz="2500" dirty="0"/>
          </a:p>
        </p:txBody>
      </p:sp>
      <p:sp>
        <p:nvSpPr>
          <p:cNvPr id="52" name="Text 50"/>
          <p:cNvSpPr/>
          <p:nvPr/>
        </p:nvSpPr>
        <p:spPr>
          <a:xfrm>
            <a:off x="10314432"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worst case</a:t>
            </a:r>
            <a:endParaRPr lang="en-US" sz="1050" dirty="0"/>
          </a:p>
        </p:txBody>
      </p:sp>
      <p:sp>
        <p:nvSpPr>
          <p:cNvPr id="53" name="Shape 51"/>
          <p:cNvSpPr/>
          <p:nvPr/>
        </p:nvSpPr>
        <p:spPr>
          <a:xfrm>
            <a:off x="8595360" y="5285232"/>
            <a:ext cx="3090672" cy="786384"/>
          </a:xfrm>
          <a:prstGeom prst="roundRect">
            <a:avLst>
              <a:gd name="adj" fmla="val 6977"/>
            </a:avLst>
          </a:prstGeom>
          <a:solidFill>
            <a:srgbClr val="0E1C36"/>
          </a:solidFill>
          <a:ln w="12700">
            <a:solidFill>
              <a:srgbClr val="0E1C36"/>
            </a:solidFill>
            <a:prstDash val="solid"/>
          </a:ln>
        </p:spPr>
      </p:sp>
      <p:sp>
        <p:nvSpPr>
          <p:cNvPr id="54" name="Text 52"/>
          <p:cNvSpPr/>
          <p:nvPr/>
        </p:nvSpPr>
        <p:spPr>
          <a:xfrm>
            <a:off x="8595360" y="5285232"/>
            <a:ext cx="3090672"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75 ms  </a:t>
            </a:r>
            <a:pPr algn="ctr" indent="0" marL="0">
              <a:buNone/>
            </a:pPr>
            <a:r>
              <a:rPr lang="en-US" sz="1200" dirty="0">
                <a:solidFill>
                  <a:srgbClr val="9FB4D4"/>
                </a:solidFill>
                <a:latin typeface="Calibri" pitchFamily="34" charset="0"/>
                <a:ea typeface="Calibri" pitchFamily="34" charset="-122"/>
                <a:cs typeface="Calibri" pitchFamily="34" charset="-120"/>
              </a:rPr>
              <a:t>typical</a:t>
            </a:r>
            <a:endParaRPr lang="en-US" sz="2200" dirty="0"/>
          </a:p>
        </p:txBody>
      </p:sp>
      <p:sp>
        <p:nvSpPr>
          <p:cNvPr id="55" name="Shape 53"/>
          <p:cNvSpPr/>
          <p:nvPr/>
        </p:nvSpPr>
        <p:spPr>
          <a:xfrm>
            <a:off x="548640" y="4956048"/>
            <a:ext cx="7772400" cy="1115568"/>
          </a:xfrm>
          <a:prstGeom prst="roundRect">
            <a:avLst>
              <a:gd name="adj" fmla="val 4918"/>
            </a:avLst>
          </a:prstGeom>
          <a:solidFill>
            <a:srgbClr val="F2F5FA"/>
          </a:solidFill>
          <a:ln w="12700">
            <a:solidFill>
              <a:srgbClr val="D3DCEA"/>
            </a:solidFill>
            <a:prstDash val="solid"/>
          </a:ln>
        </p:spPr>
      </p:sp>
      <p:sp>
        <p:nvSpPr>
          <p:cNvPr id="56" name="Text 54"/>
          <p:cNvSpPr/>
          <p:nvPr/>
        </p:nvSpPr>
        <p:spPr>
          <a:xfrm>
            <a:off x="804672" y="5120640"/>
            <a:ext cx="7269480" cy="82296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What sets it:  </a:t>
            </a:r>
            <a:pPr indent="0" marL="0">
              <a:buNone/>
            </a:pPr>
            <a:r>
              <a:rPr lang="en-US" sz="1200" dirty="0">
                <a:solidFill>
                  <a:srgbClr val="27374F"/>
                </a:solidFill>
                <a:latin typeface="Calibri" pitchFamily="34" charset="0"/>
                <a:ea typeface="Calibri" pitchFamily="34" charset="-122"/>
                <a:cs typeface="Calibri" pitchFamily="34" charset="-120"/>
              </a:rPr>
              <a:t>the EO cameras cannot be genlocked, so six independently-timed frames must line up. Measured 41.1 ms to publication and 15.03 new frames per second - half the cameras' output is discarded for want of a free buffer.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MODES 0X00 - 0X05, 0X0D - 0X12</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IR single camera</a:t>
            </a:r>
            <a:endParaRPr lang="en-US" sz="3200" dirty="0"/>
          </a:p>
        </p:txBody>
      </p:sp>
      <p:sp>
        <p:nvSpPr>
          <p:cNvPr id="4" name="Text 2"/>
          <p:cNvSpPr/>
          <p:nvPr/>
        </p:nvSpPr>
        <p:spPr>
          <a:xfrm>
            <a:off x="548640" y="1298448"/>
            <a:ext cx="11064240" cy="420624"/>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One of the six IR cameras, held in on-chip memory and scaled into the output raster.</a:t>
            </a:r>
            <a:endParaRPr lang="en-US" sz="1350" dirty="0"/>
          </a:p>
        </p:txBody>
      </p:sp>
      <p:sp>
        <p:nvSpPr>
          <p:cNvPr id="5" name="Shape 3"/>
          <p:cNvSpPr/>
          <p:nvPr/>
        </p:nvSpPr>
        <p:spPr>
          <a:xfrm>
            <a:off x="548640" y="1874520"/>
            <a:ext cx="2022653" cy="1645920"/>
          </a:xfrm>
          <a:prstGeom prst="roundRect">
            <a:avLst>
              <a:gd name="adj" fmla="val 4444"/>
            </a:avLst>
          </a:prstGeom>
          <a:solidFill>
            <a:srgbClr val="DCEAF0"/>
          </a:solidFill>
          <a:ln w="15875">
            <a:solidFill>
              <a:srgbClr val="1C7293"/>
            </a:solidFill>
            <a:prstDash val="solid"/>
          </a:ln>
        </p:spPr>
      </p:sp>
      <p:sp>
        <p:nvSpPr>
          <p:cNvPr id="6" name="Shape 4"/>
          <p:cNvSpPr/>
          <p:nvPr/>
        </p:nvSpPr>
        <p:spPr>
          <a:xfrm>
            <a:off x="658368" y="1984248"/>
            <a:ext cx="274320" cy="274320"/>
          </a:xfrm>
          <a:prstGeom prst="ellipse">
            <a:avLst/>
          </a:prstGeom>
          <a:solidFill>
            <a:srgbClr val="1C7293"/>
          </a:solidFill>
          <a:ln w="12700">
            <a:solidFill>
              <a:srgbClr val="1C7293"/>
            </a:solidFill>
            <a:prstDash val="solid"/>
          </a:ln>
        </p:spPr>
      </p:sp>
      <p:sp>
        <p:nvSpPr>
          <p:cNvPr id="7" name="Text 5"/>
          <p:cNvSpPr/>
          <p:nvPr/>
        </p:nvSpPr>
        <p:spPr>
          <a:xfrm>
            <a:off x="65836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Ingest</a:t>
            </a:r>
            <a:endParaRPr lang="en-US" sz="1250" dirty="0"/>
          </a:p>
        </p:txBody>
      </p:sp>
      <p:sp>
        <p:nvSpPr>
          <p:cNvPr id="9" name="Text 7"/>
          <p:cNvSpPr/>
          <p:nvPr/>
        </p:nvSpPr>
        <p:spPr>
          <a:xfrm>
            <a:off x="67665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Selected camera's 640x512 frame written to on-chip memory</a:t>
            </a:r>
            <a:endParaRPr lang="en-US" sz="1000" dirty="0"/>
          </a:p>
        </p:txBody>
      </p:sp>
      <p:sp>
        <p:nvSpPr>
          <p:cNvPr id="10" name="Text 8"/>
          <p:cNvSpPr/>
          <p:nvPr/>
        </p:nvSpPr>
        <p:spPr>
          <a:xfrm>
            <a:off x="676656" y="313639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33.3 ms</a:t>
            </a:r>
            <a:endParaRPr lang="en-US" sz="1200" dirty="0"/>
          </a:p>
        </p:txBody>
      </p:sp>
      <p:sp>
        <p:nvSpPr>
          <p:cNvPr id="11" name="Shape 9"/>
          <p:cNvSpPr/>
          <p:nvPr/>
        </p:nvSpPr>
        <p:spPr>
          <a:xfrm>
            <a:off x="2598725" y="2615184"/>
            <a:ext cx="182880" cy="164592"/>
          </a:xfrm>
          <a:prstGeom prst="rightArrow">
            <a:avLst/>
          </a:prstGeom>
          <a:solidFill>
            <a:srgbClr val="D3DCEA"/>
          </a:solidFill>
          <a:ln w="12700">
            <a:solidFill>
              <a:srgbClr val="D3DCEA"/>
            </a:solidFill>
            <a:prstDash val="solid"/>
          </a:ln>
        </p:spPr>
      </p:sp>
      <p:sp>
        <p:nvSpPr>
          <p:cNvPr id="12" name="Shape 10"/>
          <p:cNvSpPr/>
          <p:nvPr/>
        </p:nvSpPr>
        <p:spPr>
          <a:xfrm>
            <a:off x="2809037" y="1874520"/>
            <a:ext cx="2022653" cy="1645920"/>
          </a:xfrm>
          <a:prstGeom prst="roundRect">
            <a:avLst>
              <a:gd name="adj" fmla="val 4444"/>
            </a:avLst>
          </a:prstGeom>
          <a:solidFill>
            <a:srgbClr val="F2F5FA"/>
          </a:solidFill>
          <a:ln w="15875">
            <a:solidFill>
              <a:srgbClr val="D3DCEA"/>
            </a:solidFill>
            <a:prstDash val="solid"/>
          </a:ln>
        </p:spPr>
      </p:sp>
      <p:sp>
        <p:nvSpPr>
          <p:cNvPr id="13" name="Shape 11"/>
          <p:cNvSpPr/>
          <p:nvPr/>
        </p:nvSpPr>
        <p:spPr>
          <a:xfrm>
            <a:off x="2918765" y="1984248"/>
            <a:ext cx="274320" cy="274320"/>
          </a:xfrm>
          <a:prstGeom prst="ellipse">
            <a:avLst/>
          </a:prstGeom>
          <a:solidFill>
            <a:srgbClr val="D3DCEA"/>
          </a:solidFill>
          <a:ln w="12700">
            <a:solidFill>
              <a:srgbClr val="D3DCEA"/>
            </a:solidFill>
            <a:prstDash val="solid"/>
          </a:ln>
        </p:spPr>
      </p:sp>
      <p:sp>
        <p:nvSpPr>
          <p:cNvPr id="14" name="Text 12"/>
          <p:cNvSpPr/>
          <p:nvPr/>
        </p:nvSpPr>
        <p:spPr>
          <a:xfrm>
            <a:off x="291876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326623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Align</a:t>
            </a:r>
            <a:endParaRPr lang="en-US" sz="1250" dirty="0"/>
          </a:p>
        </p:txBody>
      </p:sp>
      <p:sp>
        <p:nvSpPr>
          <p:cNvPr id="16" name="Text 14"/>
          <p:cNvSpPr/>
          <p:nvPr/>
        </p:nvSpPr>
        <p:spPr>
          <a:xfrm>
            <a:off x="293705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Not required - only one camera contributes</a:t>
            </a:r>
            <a:endParaRPr lang="en-US" sz="1000" dirty="0"/>
          </a:p>
        </p:txBody>
      </p:sp>
      <p:sp>
        <p:nvSpPr>
          <p:cNvPr id="17" name="Text 15"/>
          <p:cNvSpPr/>
          <p:nvPr/>
        </p:nvSpPr>
        <p:spPr>
          <a:xfrm>
            <a:off x="2937053" y="3136392"/>
            <a:ext cx="1766621" cy="274320"/>
          </a:xfrm>
          <a:prstGeom prst="rect">
            <a:avLst/>
          </a:prstGeom>
          <a:noFill/>
          <a:ln/>
        </p:spPr>
        <p:txBody>
          <a:bodyPr wrap="square" lIns="0" tIns="0" rIns="0" bIns="0" rtlCol="0" anchor="ctr"/>
          <a:lstStyle/>
          <a:p>
            <a:pPr indent="0" marL="0">
              <a:buNone/>
            </a:pPr>
            <a:r>
              <a:rPr lang="en-US" sz="1200" b="1" dirty="0">
                <a:solidFill>
                  <a:srgbClr val="D3DCEA"/>
                </a:solidFill>
                <a:latin typeface="Calibri" pitchFamily="34" charset="0"/>
                <a:ea typeface="Calibri" pitchFamily="34" charset="-122"/>
                <a:cs typeface="Calibri" pitchFamily="34" charset="-120"/>
              </a:rPr>
              <a:t>none</a:t>
            </a:r>
            <a:endParaRPr lang="en-US" sz="1200" dirty="0"/>
          </a:p>
        </p:txBody>
      </p:sp>
      <p:sp>
        <p:nvSpPr>
          <p:cNvPr id="18" name="Shape 16"/>
          <p:cNvSpPr/>
          <p:nvPr/>
        </p:nvSpPr>
        <p:spPr>
          <a:xfrm>
            <a:off x="4859122" y="2615184"/>
            <a:ext cx="182880" cy="164592"/>
          </a:xfrm>
          <a:prstGeom prst="rightArrow">
            <a:avLst/>
          </a:prstGeom>
          <a:solidFill>
            <a:srgbClr val="D3DCEA"/>
          </a:solidFill>
          <a:ln w="12700">
            <a:solidFill>
              <a:srgbClr val="D3DCEA"/>
            </a:solidFill>
            <a:prstDash val="solid"/>
          </a:ln>
        </p:spPr>
      </p:sp>
      <p:sp>
        <p:nvSpPr>
          <p:cNvPr id="19" name="Shape 17"/>
          <p:cNvSpPr/>
          <p:nvPr/>
        </p:nvSpPr>
        <p:spPr>
          <a:xfrm>
            <a:off x="5069434" y="1874520"/>
            <a:ext cx="2022653" cy="1645920"/>
          </a:xfrm>
          <a:prstGeom prst="roundRect">
            <a:avLst>
              <a:gd name="adj" fmla="val 4444"/>
            </a:avLst>
          </a:prstGeom>
          <a:solidFill>
            <a:srgbClr val="F6E7DE"/>
          </a:solidFill>
          <a:ln w="15875">
            <a:solidFill>
              <a:srgbClr val="C1663A"/>
            </a:solidFill>
            <a:prstDash val="solid"/>
          </a:ln>
        </p:spPr>
      </p:sp>
      <p:sp>
        <p:nvSpPr>
          <p:cNvPr id="20" name="Shape 18"/>
          <p:cNvSpPr/>
          <p:nvPr/>
        </p:nvSpPr>
        <p:spPr>
          <a:xfrm>
            <a:off x="5179162" y="1984248"/>
            <a:ext cx="274320" cy="274320"/>
          </a:xfrm>
          <a:prstGeom prst="ellipse">
            <a:avLst/>
          </a:prstGeom>
          <a:solidFill>
            <a:srgbClr val="C1663A"/>
          </a:solidFill>
          <a:ln w="12700">
            <a:solidFill>
              <a:srgbClr val="C1663A"/>
            </a:solidFill>
            <a:prstDash val="solid"/>
          </a:ln>
        </p:spPr>
      </p:sp>
      <p:sp>
        <p:nvSpPr>
          <p:cNvPr id="21" name="Text 19"/>
          <p:cNvSpPr/>
          <p:nvPr/>
        </p:nvSpPr>
        <p:spPr>
          <a:xfrm>
            <a:off x="5179162"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5526634"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Render</a:t>
            </a:r>
            <a:endParaRPr lang="en-US" sz="1250" dirty="0"/>
          </a:p>
        </p:txBody>
      </p:sp>
      <p:sp>
        <p:nvSpPr>
          <p:cNvPr id="23" name="Text 21"/>
          <p:cNvSpPr/>
          <p:nvPr/>
        </p:nvSpPr>
        <p:spPr>
          <a:xfrm>
            <a:off x="5197450"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Read from on-chip memory into the output frame store</a:t>
            </a:r>
            <a:endParaRPr lang="en-US" sz="1000" dirty="0"/>
          </a:p>
        </p:txBody>
      </p:sp>
      <p:sp>
        <p:nvSpPr>
          <p:cNvPr id="24" name="Text 22"/>
          <p:cNvSpPr/>
          <p:nvPr/>
        </p:nvSpPr>
        <p:spPr>
          <a:xfrm>
            <a:off x="5197450" y="3136392"/>
            <a:ext cx="1766621" cy="274320"/>
          </a:xfrm>
          <a:prstGeom prst="rect">
            <a:avLst/>
          </a:prstGeom>
          <a:noFill/>
          <a:ln/>
        </p:spPr>
        <p:txBody>
          <a:bodyPr wrap="square" lIns="0" tIns="0" rIns="0" bIns="0" rtlCol="0" anchor="ctr"/>
          <a:lstStyle/>
          <a:p>
            <a:pPr indent="0" marL="0">
              <a:buNone/>
            </a:pPr>
            <a:r>
              <a:rPr lang="en-US" sz="1200" b="1" dirty="0">
                <a:solidFill>
                  <a:srgbClr val="C1663A"/>
                </a:solidFill>
                <a:latin typeface="Calibri" pitchFamily="34" charset="0"/>
                <a:ea typeface="Calibri" pitchFamily="34" charset="-122"/>
                <a:cs typeface="Calibri" pitchFamily="34" charset="-120"/>
              </a:rPr>
              <a:t>25.8 ms measured</a:t>
            </a:r>
            <a:endParaRPr lang="en-US" sz="1200" dirty="0"/>
          </a:p>
        </p:txBody>
      </p:sp>
      <p:sp>
        <p:nvSpPr>
          <p:cNvPr id="25" name="Shape 23"/>
          <p:cNvSpPr/>
          <p:nvPr/>
        </p:nvSpPr>
        <p:spPr>
          <a:xfrm>
            <a:off x="7119518" y="2615184"/>
            <a:ext cx="182880" cy="164592"/>
          </a:xfrm>
          <a:prstGeom prst="rightArrow">
            <a:avLst/>
          </a:prstGeom>
          <a:solidFill>
            <a:srgbClr val="D3DCEA"/>
          </a:solidFill>
          <a:ln w="12700">
            <a:solidFill>
              <a:srgbClr val="D3DCEA"/>
            </a:solidFill>
            <a:prstDash val="solid"/>
          </a:ln>
        </p:spPr>
      </p:sp>
      <p:sp>
        <p:nvSpPr>
          <p:cNvPr id="26" name="Shape 24"/>
          <p:cNvSpPr/>
          <p:nvPr/>
        </p:nvSpPr>
        <p:spPr>
          <a:xfrm>
            <a:off x="7329830" y="1874520"/>
            <a:ext cx="2022653" cy="1645920"/>
          </a:xfrm>
          <a:prstGeom prst="roundRect">
            <a:avLst>
              <a:gd name="adj" fmla="val 4444"/>
            </a:avLst>
          </a:prstGeom>
          <a:solidFill>
            <a:srgbClr val="DAF2EB"/>
          </a:solidFill>
          <a:ln w="15875">
            <a:solidFill>
              <a:srgbClr val="02A37A"/>
            </a:solidFill>
            <a:prstDash val="solid"/>
          </a:ln>
        </p:spPr>
      </p:sp>
      <p:sp>
        <p:nvSpPr>
          <p:cNvPr id="27" name="Shape 25"/>
          <p:cNvSpPr/>
          <p:nvPr/>
        </p:nvSpPr>
        <p:spPr>
          <a:xfrm>
            <a:off x="7439558" y="1984248"/>
            <a:ext cx="274320" cy="274320"/>
          </a:xfrm>
          <a:prstGeom prst="ellipse">
            <a:avLst/>
          </a:prstGeom>
          <a:solidFill>
            <a:srgbClr val="02A37A"/>
          </a:solidFill>
          <a:ln w="12700">
            <a:solidFill>
              <a:srgbClr val="02A37A"/>
            </a:solidFill>
            <a:prstDash val="solid"/>
          </a:ln>
        </p:spPr>
      </p:sp>
      <p:sp>
        <p:nvSpPr>
          <p:cNvPr id="28" name="Text 26"/>
          <p:cNvSpPr/>
          <p:nvPr/>
        </p:nvSpPr>
        <p:spPr>
          <a:xfrm>
            <a:off x="743955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78703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Commit</a:t>
            </a:r>
            <a:endParaRPr lang="en-US" sz="1250" dirty="0"/>
          </a:p>
        </p:txBody>
      </p:sp>
      <p:sp>
        <p:nvSpPr>
          <p:cNvPr id="30" name="Text 28"/>
          <p:cNvSpPr/>
          <p:nvPr/>
        </p:nvSpPr>
        <p:spPr>
          <a:xfrm>
            <a:off x="745784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Published at the next output frame edge</a:t>
            </a:r>
            <a:endParaRPr lang="en-US" sz="1000" dirty="0"/>
          </a:p>
        </p:txBody>
      </p:sp>
      <p:sp>
        <p:nvSpPr>
          <p:cNvPr id="31" name="Text 29"/>
          <p:cNvSpPr/>
          <p:nvPr/>
        </p:nvSpPr>
        <p:spPr>
          <a:xfrm>
            <a:off x="7457846"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2" name="Shape 30"/>
          <p:cNvSpPr/>
          <p:nvPr/>
        </p:nvSpPr>
        <p:spPr>
          <a:xfrm>
            <a:off x="9379915" y="2615184"/>
            <a:ext cx="182880" cy="164592"/>
          </a:xfrm>
          <a:prstGeom prst="rightArrow">
            <a:avLst/>
          </a:prstGeom>
          <a:solidFill>
            <a:srgbClr val="D3DCEA"/>
          </a:solidFill>
          <a:ln w="12700">
            <a:solidFill>
              <a:srgbClr val="D3DCEA"/>
            </a:solidFill>
            <a:prstDash val="solid"/>
          </a:ln>
        </p:spPr>
      </p:sp>
      <p:sp>
        <p:nvSpPr>
          <p:cNvPr id="33" name="Shape 31"/>
          <p:cNvSpPr/>
          <p:nvPr/>
        </p:nvSpPr>
        <p:spPr>
          <a:xfrm>
            <a:off x="9590227" y="1874520"/>
            <a:ext cx="2022653" cy="1645920"/>
          </a:xfrm>
          <a:prstGeom prst="roundRect">
            <a:avLst>
              <a:gd name="adj" fmla="val 4444"/>
            </a:avLst>
          </a:prstGeom>
          <a:solidFill>
            <a:srgbClr val="DAF2EB"/>
          </a:solidFill>
          <a:ln w="15875">
            <a:solidFill>
              <a:srgbClr val="02A37A"/>
            </a:solidFill>
            <a:prstDash val="solid"/>
          </a:ln>
        </p:spPr>
      </p:sp>
      <p:sp>
        <p:nvSpPr>
          <p:cNvPr id="34" name="Shape 32"/>
          <p:cNvSpPr/>
          <p:nvPr/>
        </p:nvSpPr>
        <p:spPr>
          <a:xfrm>
            <a:off x="9699955" y="1984248"/>
            <a:ext cx="274320" cy="274320"/>
          </a:xfrm>
          <a:prstGeom prst="ellipse">
            <a:avLst/>
          </a:prstGeom>
          <a:solidFill>
            <a:srgbClr val="02A37A"/>
          </a:solidFill>
          <a:ln w="12700">
            <a:solidFill>
              <a:srgbClr val="02A37A"/>
            </a:solidFill>
            <a:prstDash val="solid"/>
          </a:ln>
        </p:spPr>
      </p:sp>
      <p:sp>
        <p:nvSpPr>
          <p:cNvPr id="35" name="Text 33"/>
          <p:cNvSpPr/>
          <p:nvPr/>
        </p:nvSpPr>
        <p:spPr>
          <a:xfrm>
            <a:off x="969995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4"/>
          <p:cNvSpPr/>
          <p:nvPr/>
        </p:nvSpPr>
        <p:spPr>
          <a:xfrm>
            <a:off x="1004742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Scan-out</a:t>
            </a:r>
            <a:endParaRPr lang="en-US" sz="1250" dirty="0"/>
          </a:p>
        </p:txBody>
      </p:sp>
      <p:sp>
        <p:nvSpPr>
          <p:cNvPr id="37" name="Text 35"/>
          <p:cNvSpPr/>
          <p:nvPr/>
        </p:nvSpPr>
        <p:spPr>
          <a:xfrm>
            <a:off x="971824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Transmitted in the HD-SDI raster</a:t>
            </a:r>
            <a:endParaRPr lang="en-US" sz="1000" dirty="0"/>
          </a:p>
        </p:txBody>
      </p:sp>
      <p:sp>
        <p:nvSpPr>
          <p:cNvPr id="38" name="Text 36"/>
          <p:cNvSpPr/>
          <p:nvPr/>
        </p:nvSpPr>
        <p:spPr>
          <a:xfrm>
            <a:off x="9718243"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9" name="Text 37"/>
          <p:cNvSpPr/>
          <p:nvPr/>
        </p:nvSpPr>
        <p:spPr>
          <a:xfrm>
            <a:off x="548640" y="3767328"/>
            <a:ext cx="3657600" cy="274320"/>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Time budget</a:t>
            </a:r>
            <a:endParaRPr lang="en-US" sz="1300" dirty="0"/>
          </a:p>
        </p:txBody>
      </p:sp>
      <p:sp>
        <p:nvSpPr>
          <p:cNvPr id="40" name="Shape 38"/>
          <p:cNvSpPr/>
          <p:nvPr/>
        </p:nvSpPr>
        <p:spPr>
          <a:xfrm>
            <a:off x="548640" y="4114800"/>
            <a:ext cx="1081659" cy="365760"/>
          </a:xfrm>
          <a:prstGeom prst="rect">
            <a:avLst/>
          </a:prstGeom>
          <a:solidFill>
            <a:srgbClr val="C1663A"/>
          </a:solidFill>
          <a:ln w="12700">
            <a:solidFill>
              <a:srgbClr val="FFFFFF"/>
            </a:solidFill>
            <a:prstDash val="solid"/>
          </a:ln>
        </p:spPr>
      </p:sp>
      <p:sp>
        <p:nvSpPr>
          <p:cNvPr id="41" name="Text 39"/>
          <p:cNvSpPr/>
          <p:nvPr/>
        </p:nvSpPr>
        <p:spPr>
          <a:xfrm>
            <a:off x="548640"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Row age 16.7</a:t>
            </a:r>
            <a:endParaRPr lang="en-US" sz="950" dirty="0"/>
          </a:p>
        </p:txBody>
      </p:sp>
      <p:sp>
        <p:nvSpPr>
          <p:cNvPr id="42" name="Shape 40"/>
          <p:cNvSpPr/>
          <p:nvPr/>
        </p:nvSpPr>
        <p:spPr>
          <a:xfrm>
            <a:off x="1630299" y="4114800"/>
            <a:ext cx="3244977" cy="365760"/>
          </a:xfrm>
          <a:prstGeom prst="rect">
            <a:avLst/>
          </a:prstGeom>
          <a:solidFill>
            <a:srgbClr val="D18E68"/>
          </a:solidFill>
          <a:ln w="12700">
            <a:solidFill>
              <a:srgbClr val="FFFFFF"/>
            </a:solidFill>
            <a:prstDash val="solid"/>
          </a:ln>
        </p:spPr>
      </p:sp>
      <p:sp>
        <p:nvSpPr>
          <p:cNvPr id="43" name="Text 41"/>
          <p:cNvSpPr/>
          <p:nvPr/>
        </p:nvSpPr>
        <p:spPr>
          <a:xfrm>
            <a:off x="1630299" y="4114800"/>
            <a:ext cx="3244977"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50.1 measured</a:t>
            </a:r>
            <a:endParaRPr lang="en-US" sz="950" dirty="0"/>
          </a:p>
        </p:txBody>
      </p:sp>
      <p:sp>
        <p:nvSpPr>
          <p:cNvPr id="44" name="Shape 42"/>
          <p:cNvSpPr/>
          <p:nvPr/>
        </p:nvSpPr>
        <p:spPr>
          <a:xfrm>
            <a:off x="4875276" y="4114800"/>
            <a:ext cx="1081659" cy="365760"/>
          </a:xfrm>
          <a:prstGeom prst="rect">
            <a:avLst/>
          </a:prstGeom>
          <a:solidFill>
            <a:srgbClr val="6FC2AA"/>
          </a:solidFill>
          <a:ln w="12700">
            <a:solidFill>
              <a:srgbClr val="FFFFFF"/>
            </a:solidFill>
            <a:prstDash val="solid"/>
          </a:ln>
        </p:spPr>
      </p:sp>
      <p:sp>
        <p:nvSpPr>
          <p:cNvPr id="45" name="Text 43"/>
          <p:cNvSpPr/>
          <p:nvPr/>
        </p:nvSpPr>
        <p:spPr>
          <a:xfrm>
            <a:off x="4875276"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Scan 16.7</a:t>
            </a:r>
            <a:endParaRPr lang="en-US" sz="950" dirty="0"/>
          </a:p>
        </p:txBody>
      </p:sp>
      <p:sp>
        <p:nvSpPr>
          <p:cNvPr id="46" name="Text 44"/>
          <p:cNvSpPr/>
          <p:nvPr/>
        </p:nvSpPr>
        <p:spPr>
          <a:xfrm>
            <a:off x="548640" y="4535424"/>
            <a:ext cx="7772400" cy="237744"/>
          </a:xfrm>
          <a:prstGeom prst="rect">
            <a:avLst/>
          </a:prstGeom>
          <a:noFill/>
          <a:ln/>
        </p:spPr>
        <p:txBody>
          <a:bodyPr wrap="square" lIns="0" tIns="0" rIns="0" bIns="0" rtlCol="0" anchor="ctr"/>
          <a:lstStyle/>
          <a:p>
            <a:pPr indent="0" marL="0">
              <a:buNone/>
            </a:pPr>
            <a:r>
              <a:rPr lang="en-US" sz="1000" i="1" dirty="0">
                <a:solidFill>
                  <a:srgbClr val="6B7C97"/>
                </a:solidFill>
                <a:latin typeface="Calibri" pitchFamily="34" charset="0"/>
                <a:ea typeface="Calibri" pitchFamily="34" charset="-122"/>
                <a:cs typeface="Calibri" pitchFamily="34" charset="-120"/>
              </a:rPr>
              <a:t>IR frames are small enough to hold on-chip, so this path never touches external memory.</a:t>
            </a:r>
            <a:endParaRPr lang="en-US" sz="1000" dirty="0"/>
          </a:p>
        </p:txBody>
      </p:sp>
      <p:sp>
        <p:nvSpPr>
          <p:cNvPr id="47" name="Shape 45"/>
          <p:cNvSpPr/>
          <p:nvPr/>
        </p:nvSpPr>
        <p:spPr>
          <a:xfrm>
            <a:off x="8595360" y="3767328"/>
            <a:ext cx="1481328" cy="1371600"/>
          </a:xfrm>
          <a:prstGeom prst="roundRect">
            <a:avLst>
              <a:gd name="adj" fmla="val 4000"/>
            </a:avLst>
          </a:prstGeom>
          <a:solidFill>
            <a:srgbClr val="F2F5FA"/>
          </a:solidFill>
          <a:ln w="12700">
            <a:solidFill>
              <a:srgbClr val="D3DCEA"/>
            </a:solidFill>
            <a:prstDash val="solid"/>
          </a:ln>
        </p:spPr>
      </p:sp>
      <p:sp>
        <p:nvSpPr>
          <p:cNvPr id="48" name="Text 46"/>
          <p:cNvSpPr/>
          <p:nvPr/>
        </p:nvSpPr>
        <p:spPr>
          <a:xfrm>
            <a:off x="8650224" y="3913632"/>
            <a:ext cx="1371600" cy="658368"/>
          </a:xfrm>
          <a:prstGeom prst="rect">
            <a:avLst/>
          </a:prstGeom>
          <a:noFill/>
          <a:ln/>
        </p:spPr>
        <p:txBody>
          <a:bodyPr wrap="square" lIns="0" tIns="0" rIns="0" bIns="0" rtlCol="0" anchor="ctr"/>
          <a:lstStyle/>
          <a:p>
            <a:pPr algn="ctr" indent="0" marL="0">
              <a:buNone/>
            </a:pPr>
            <a:r>
              <a:rPr lang="en-US" sz="2500" b="1" dirty="0">
                <a:solidFill>
                  <a:srgbClr val="02A37A"/>
                </a:solidFill>
                <a:latin typeface="Cambria" pitchFamily="34" charset="0"/>
                <a:ea typeface="Cambria" pitchFamily="34" charset="-122"/>
                <a:cs typeface="Cambria" pitchFamily="34" charset="-120"/>
              </a:rPr>
              <a:t>50 ms</a:t>
            </a:r>
            <a:endParaRPr lang="en-US" sz="2500" dirty="0"/>
          </a:p>
        </p:txBody>
      </p:sp>
      <p:sp>
        <p:nvSpPr>
          <p:cNvPr id="49" name="Text 47"/>
          <p:cNvSpPr/>
          <p:nvPr/>
        </p:nvSpPr>
        <p:spPr>
          <a:xfrm>
            <a:off x="8705088"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best case</a:t>
            </a:r>
            <a:endParaRPr lang="en-US" sz="1050" dirty="0"/>
          </a:p>
        </p:txBody>
      </p:sp>
      <p:sp>
        <p:nvSpPr>
          <p:cNvPr id="50" name="Shape 48"/>
          <p:cNvSpPr/>
          <p:nvPr/>
        </p:nvSpPr>
        <p:spPr>
          <a:xfrm>
            <a:off x="10204704" y="3767328"/>
            <a:ext cx="1481328" cy="1371600"/>
          </a:xfrm>
          <a:prstGeom prst="roundRect">
            <a:avLst>
              <a:gd name="adj" fmla="val 4000"/>
            </a:avLst>
          </a:prstGeom>
          <a:solidFill>
            <a:srgbClr val="F2F5FA"/>
          </a:solidFill>
          <a:ln w="12700">
            <a:solidFill>
              <a:srgbClr val="D3DCEA"/>
            </a:solidFill>
            <a:prstDash val="solid"/>
          </a:ln>
        </p:spPr>
      </p:sp>
      <p:sp>
        <p:nvSpPr>
          <p:cNvPr id="51" name="Text 49"/>
          <p:cNvSpPr/>
          <p:nvPr/>
        </p:nvSpPr>
        <p:spPr>
          <a:xfrm>
            <a:off x="10259568" y="3913632"/>
            <a:ext cx="1371600" cy="658368"/>
          </a:xfrm>
          <a:prstGeom prst="rect">
            <a:avLst/>
          </a:prstGeom>
          <a:noFill/>
          <a:ln/>
        </p:spPr>
        <p:txBody>
          <a:bodyPr wrap="square" lIns="0" tIns="0" rIns="0" bIns="0" rtlCol="0" anchor="ctr"/>
          <a:lstStyle/>
          <a:p>
            <a:pPr algn="ctr" indent="0" marL="0">
              <a:buNone/>
            </a:pPr>
            <a:r>
              <a:rPr lang="en-US" sz="2500" b="1" dirty="0">
                <a:solidFill>
                  <a:srgbClr val="C1663A"/>
                </a:solidFill>
                <a:latin typeface="Cambria" pitchFamily="34" charset="0"/>
                <a:ea typeface="Cambria" pitchFamily="34" charset="-122"/>
                <a:cs typeface="Cambria" pitchFamily="34" charset="-120"/>
              </a:rPr>
              <a:t>117 ms</a:t>
            </a:r>
            <a:endParaRPr lang="en-US" sz="2500" dirty="0"/>
          </a:p>
        </p:txBody>
      </p:sp>
      <p:sp>
        <p:nvSpPr>
          <p:cNvPr id="52" name="Text 50"/>
          <p:cNvSpPr/>
          <p:nvPr/>
        </p:nvSpPr>
        <p:spPr>
          <a:xfrm>
            <a:off x="10314432"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worst case</a:t>
            </a:r>
            <a:endParaRPr lang="en-US" sz="1050" dirty="0"/>
          </a:p>
        </p:txBody>
      </p:sp>
      <p:sp>
        <p:nvSpPr>
          <p:cNvPr id="53" name="Shape 51"/>
          <p:cNvSpPr/>
          <p:nvPr/>
        </p:nvSpPr>
        <p:spPr>
          <a:xfrm>
            <a:off x="8595360" y="5285232"/>
            <a:ext cx="3090672" cy="786384"/>
          </a:xfrm>
          <a:prstGeom prst="roundRect">
            <a:avLst>
              <a:gd name="adj" fmla="val 6977"/>
            </a:avLst>
          </a:prstGeom>
          <a:solidFill>
            <a:srgbClr val="0E1C36"/>
          </a:solidFill>
          <a:ln w="12700">
            <a:solidFill>
              <a:srgbClr val="0E1C36"/>
            </a:solidFill>
            <a:prstDash val="solid"/>
          </a:ln>
        </p:spPr>
      </p:sp>
      <p:sp>
        <p:nvSpPr>
          <p:cNvPr id="54" name="Text 52"/>
          <p:cNvSpPr/>
          <p:nvPr/>
        </p:nvSpPr>
        <p:spPr>
          <a:xfrm>
            <a:off x="8595360" y="5285232"/>
            <a:ext cx="3090672"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84 ms  </a:t>
            </a:r>
            <a:pPr algn="ctr" indent="0" marL="0">
              <a:buNone/>
            </a:pPr>
            <a:r>
              <a:rPr lang="en-US" sz="1200" dirty="0">
                <a:solidFill>
                  <a:srgbClr val="9FB4D4"/>
                </a:solidFill>
                <a:latin typeface="Calibri" pitchFamily="34" charset="0"/>
                <a:ea typeface="Calibri" pitchFamily="34" charset="-122"/>
                <a:cs typeface="Calibri" pitchFamily="34" charset="-120"/>
              </a:rPr>
              <a:t>typical</a:t>
            </a:r>
            <a:endParaRPr lang="en-US" sz="2200" dirty="0"/>
          </a:p>
        </p:txBody>
      </p:sp>
      <p:sp>
        <p:nvSpPr>
          <p:cNvPr id="55" name="Shape 53"/>
          <p:cNvSpPr/>
          <p:nvPr/>
        </p:nvSpPr>
        <p:spPr>
          <a:xfrm>
            <a:off x="548640" y="4956048"/>
            <a:ext cx="7772400" cy="1115568"/>
          </a:xfrm>
          <a:prstGeom prst="roundRect">
            <a:avLst>
              <a:gd name="adj" fmla="val 4918"/>
            </a:avLst>
          </a:prstGeom>
          <a:solidFill>
            <a:srgbClr val="F2F5FA"/>
          </a:solidFill>
          <a:ln w="12700">
            <a:solidFill>
              <a:srgbClr val="D3DCEA"/>
            </a:solidFill>
            <a:prstDash val="solid"/>
          </a:ln>
        </p:spPr>
      </p:sp>
      <p:sp>
        <p:nvSpPr>
          <p:cNvPr id="56" name="Text 54"/>
          <p:cNvSpPr/>
          <p:nvPr/>
        </p:nvSpPr>
        <p:spPr>
          <a:xfrm>
            <a:off x="804672" y="5120640"/>
            <a:ext cx="7269480" cy="82296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What sets it:  </a:t>
            </a:r>
            <a:pPr indent="0" marL="0">
              <a:buNone/>
            </a:pPr>
            <a:r>
              <a:rPr lang="en-US" sz="1200" dirty="0">
                <a:solidFill>
                  <a:srgbClr val="27374F"/>
                </a:solidFill>
                <a:latin typeface="Calibri" pitchFamily="34" charset="0"/>
                <a:ea typeface="Calibri" pitchFamily="34" charset="-122"/>
                <a:cs typeface="Calibri" pitchFamily="34" charset="-120"/>
              </a:rPr>
              <a:t>the same store-and-forward structure as EO single, on-chip rather than external. Measured 50.1 ms to publication at a full 30.01 new frames per second.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MODE 0X14</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IR panorama - direct ingress</a:t>
            </a:r>
            <a:endParaRPr lang="en-US" sz="3200" dirty="0"/>
          </a:p>
        </p:txBody>
      </p:sp>
      <p:sp>
        <p:nvSpPr>
          <p:cNvPr id="4" name="Text 2"/>
          <p:cNvSpPr/>
          <p:nvPr/>
        </p:nvSpPr>
        <p:spPr>
          <a:xfrm>
            <a:off x="548640" y="1298448"/>
            <a:ext cx="11064240" cy="420624"/>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All six IR cameras stitched live, with rendering overlapped onto the arriving rows instead of waiting for whole frames.</a:t>
            </a:r>
            <a:endParaRPr lang="en-US" sz="1350" dirty="0"/>
          </a:p>
        </p:txBody>
      </p:sp>
      <p:sp>
        <p:nvSpPr>
          <p:cNvPr id="5" name="Shape 3"/>
          <p:cNvSpPr/>
          <p:nvPr/>
        </p:nvSpPr>
        <p:spPr>
          <a:xfrm>
            <a:off x="548640" y="1874520"/>
            <a:ext cx="2022653" cy="1645920"/>
          </a:xfrm>
          <a:prstGeom prst="roundRect">
            <a:avLst>
              <a:gd name="adj" fmla="val 4444"/>
            </a:avLst>
          </a:prstGeom>
          <a:solidFill>
            <a:srgbClr val="DCEAF0"/>
          </a:solidFill>
          <a:ln w="15875">
            <a:solidFill>
              <a:srgbClr val="1C7293"/>
            </a:solidFill>
            <a:prstDash val="solid"/>
          </a:ln>
        </p:spPr>
      </p:sp>
      <p:sp>
        <p:nvSpPr>
          <p:cNvPr id="6" name="Shape 4"/>
          <p:cNvSpPr/>
          <p:nvPr/>
        </p:nvSpPr>
        <p:spPr>
          <a:xfrm>
            <a:off x="658368" y="1984248"/>
            <a:ext cx="274320" cy="274320"/>
          </a:xfrm>
          <a:prstGeom prst="ellipse">
            <a:avLst/>
          </a:prstGeom>
          <a:solidFill>
            <a:srgbClr val="1C7293"/>
          </a:solidFill>
          <a:ln w="12700">
            <a:solidFill>
              <a:srgbClr val="1C7293"/>
            </a:solidFill>
            <a:prstDash val="solid"/>
          </a:ln>
        </p:spPr>
      </p:sp>
      <p:sp>
        <p:nvSpPr>
          <p:cNvPr id="7" name="Text 5"/>
          <p:cNvSpPr/>
          <p:nvPr/>
        </p:nvSpPr>
        <p:spPr>
          <a:xfrm>
            <a:off x="65836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Ingest</a:t>
            </a:r>
            <a:endParaRPr lang="en-US" sz="1250" dirty="0"/>
          </a:p>
        </p:txBody>
      </p:sp>
      <p:sp>
        <p:nvSpPr>
          <p:cNvPr id="9" name="Text 7"/>
          <p:cNvSpPr/>
          <p:nvPr/>
        </p:nvSpPr>
        <p:spPr>
          <a:xfrm>
            <a:off x="67665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Rows feed rolling line buffers; rendering starts after 35 rows</a:t>
            </a:r>
            <a:endParaRPr lang="en-US" sz="1000" dirty="0"/>
          </a:p>
        </p:txBody>
      </p:sp>
      <p:sp>
        <p:nvSpPr>
          <p:cNvPr id="10" name="Text 8"/>
          <p:cNvSpPr/>
          <p:nvPr/>
        </p:nvSpPr>
        <p:spPr>
          <a:xfrm>
            <a:off x="676656" y="313639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2.3 ms</a:t>
            </a:r>
            <a:endParaRPr lang="en-US" sz="1200" dirty="0"/>
          </a:p>
        </p:txBody>
      </p:sp>
      <p:sp>
        <p:nvSpPr>
          <p:cNvPr id="11" name="Shape 9"/>
          <p:cNvSpPr/>
          <p:nvPr/>
        </p:nvSpPr>
        <p:spPr>
          <a:xfrm>
            <a:off x="2598725" y="2615184"/>
            <a:ext cx="182880" cy="164592"/>
          </a:xfrm>
          <a:prstGeom prst="rightArrow">
            <a:avLst/>
          </a:prstGeom>
          <a:solidFill>
            <a:srgbClr val="D3DCEA"/>
          </a:solidFill>
          <a:ln w="12700">
            <a:solidFill>
              <a:srgbClr val="D3DCEA"/>
            </a:solidFill>
            <a:prstDash val="solid"/>
          </a:ln>
        </p:spPr>
      </p:sp>
      <p:sp>
        <p:nvSpPr>
          <p:cNvPr id="12" name="Shape 10"/>
          <p:cNvSpPr/>
          <p:nvPr/>
        </p:nvSpPr>
        <p:spPr>
          <a:xfrm>
            <a:off x="2809037" y="1874520"/>
            <a:ext cx="2022653" cy="1645920"/>
          </a:xfrm>
          <a:prstGeom prst="roundRect">
            <a:avLst>
              <a:gd name="adj" fmla="val 4444"/>
            </a:avLst>
          </a:prstGeom>
          <a:solidFill>
            <a:srgbClr val="F2F5FA"/>
          </a:solidFill>
          <a:ln w="15875">
            <a:solidFill>
              <a:srgbClr val="D3DCEA"/>
            </a:solidFill>
            <a:prstDash val="solid"/>
          </a:ln>
        </p:spPr>
      </p:sp>
      <p:sp>
        <p:nvSpPr>
          <p:cNvPr id="13" name="Shape 11"/>
          <p:cNvSpPr/>
          <p:nvPr/>
        </p:nvSpPr>
        <p:spPr>
          <a:xfrm>
            <a:off x="2918765" y="1984248"/>
            <a:ext cx="274320" cy="274320"/>
          </a:xfrm>
          <a:prstGeom prst="ellipse">
            <a:avLst/>
          </a:prstGeom>
          <a:solidFill>
            <a:srgbClr val="D3DCEA"/>
          </a:solidFill>
          <a:ln w="12700">
            <a:solidFill>
              <a:srgbClr val="D3DCEA"/>
            </a:solidFill>
            <a:prstDash val="solid"/>
          </a:ln>
        </p:spPr>
      </p:sp>
      <p:sp>
        <p:nvSpPr>
          <p:cNvPr id="14" name="Text 12"/>
          <p:cNvSpPr/>
          <p:nvPr/>
        </p:nvSpPr>
        <p:spPr>
          <a:xfrm>
            <a:off x="291876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326623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Align</a:t>
            </a:r>
            <a:endParaRPr lang="en-US" sz="1250" dirty="0"/>
          </a:p>
        </p:txBody>
      </p:sp>
      <p:sp>
        <p:nvSpPr>
          <p:cNvPr id="16" name="Text 14"/>
          <p:cNvSpPr/>
          <p:nvPr/>
        </p:nvSpPr>
        <p:spPr>
          <a:xfrm>
            <a:off x="293705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Not required - the six IR cameras are genlocked by the FPGA</a:t>
            </a:r>
            <a:endParaRPr lang="en-US" sz="1000" dirty="0"/>
          </a:p>
        </p:txBody>
      </p:sp>
      <p:sp>
        <p:nvSpPr>
          <p:cNvPr id="17" name="Text 15"/>
          <p:cNvSpPr/>
          <p:nvPr/>
        </p:nvSpPr>
        <p:spPr>
          <a:xfrm>
            <a:off x="2937053" y="3136392"/>
            <a:ext cx="1766621" cy="274320"/>
          </a:xfrm>
          <a:prstGeom prst="rect">
            <a:avLst/>
          </a:prstGeom>
          <a:noFill/>
          <a:ln/>
        </p:spPr>
        <p:txBody>
          <a:bodyPr wrap="square" lIns="0" tIns="0" rIns="0" bIns="0" rtlCol="0" anchor="ctr"/>
          <a:lstStyle/>
          <a:p>
            <a:pPr indent="0" marL="0">
              <a:buNone/>
            </a:pPr>
            <a:r>
              <a:rPr lang="en-US" sz="1200" b="1" dirty="0">
                <a:solidFill>
                  <a:srgbClr val="D3DCEA"/>
                </a:solidFill>
                <a:latin typeface="Calibri" pitchFamily="34" charset="0"/>
                <a:ea typeface="Calibri" pitchFamily="34" charset="-122"/>
                <a:cs typeface="Calibri" pitchFamily="34" charset="-120"/>
              </a:rPr>
              <a:t>none</a:t>
            </a:r>
            <a:endParaRPr lang="en-US" sz="1200" dirty="0"/>
          </a:p>
        </p:txBody>
      </p:sp>
      <p:sp>
        <p:nvSpPr>
          <p:cNvPr id="18" name="Shape 16"/>
          <p:cNvSpPr/>
          <p:nvPr/>
        </p:nvSpPr>
        <p:spPr>
          <a:xfrm>
            <a:off x="4859122" y="2615184"/>
            <a:ext cx="182880" cy="164592"/>
          </a:xfrm>
          <a:prstGeom prst="rightArrow">
            <a:avLst/>
          </a:prstGeom>
          <a:solidFill>
            <a:srgbClr val="D3DCEA"/>
          </a:solidFill>
          <a:ln w="12700">
            <a:solidFill>
              <a:srgbClr val="D3DCEA"/>
            </a:solidFill>
            <a:prstDash val="solid"/>
          </a:ln>
        </p:spPr>
      </p:sp>
      <p:sp>
        <p:nvSpPr>
          <p:cNvPr id="19" name="Shape 17"/>
          <p:cNvSpPr/>
          <p:nvPr/>
        </p:nvSpPr>
        <p:spPr>
          <a:xfrm>
            <a:off x="5069434" y="1874520"/>
            <a:ext cx="2022653" cy="1645920"/>
          </a:xfrm>
          <a:prstGeom prst="roundRect">
            <a:avLst>
              <a:gd name="adj" fmla="val 4444"/>
            </a:avLst>
          </a:prstGeom>
          <a:solidFill>
            <a:srgbClr val="F6E7DE"/>
          </a:solidFill>
          <a:ln w="15875">
            <a:solidFill>
              <a:srgbClr val="C1663A"/>
            </a:solidFill>
            <a:prstDash val="solid"/>
          </a:ln>
        </p:spPr>
      </p:sp>
      <p:sp>
        <p:nvSpPr>
          <p:cNvPr id="20" name="Shape 18"/>
          <p:cNvSpPr/>
          <p:nvPr/>
        </p:nvSpPr>
        <p:spPr>
          <a:xfrm>
            <a:off x="5179162" y="1984248"/>
            <a:ext cx="274320" cy="274320"/>
          </a:xfrm>
          <a:prstGeom prst="ellipse">
            <a:avLst/>
          </a:prstGeom>
          <a:solidFill>
            <a:srgbClr val="C1663A"/>
          </a:solidFill>
          <a:ln w="12700">
            <a:solidFill>
              <a:srgbClr val="C1663A"/>
            </a:solidFill>
            <a:prstDash val="solid"/>
          </a:ln>
        </p:spPr>
      </p:sp>
      <p:sp>
        <p:nvSpPr>
          <p:cNvPr id="21" name="Text 19"/>
          <p:cNvSpPr/>
          <p:nvPr/>
        </p:nvSpPr>
        <p:spPr>
          <a:xfrm>
            <a:off x="5179162"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5526634"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Render</a:t>
            </a:r>
            <a:endParaRPr lang="en-US" sz="1250" dirty="0"/>
          </a:p>
        </p:txBody>
      </p:sp>
      <p:sp>
        <p:nvSpPr>
          <p:cNvPr id="23" name="Text 21"/>
          <p:cNvSpPr/>
          <p:nvPr/>
        </p:nvSpPr>
        <p:spPr>
          <a:xfrm>
            <a:off x="5197450"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Warp, blend and fold, paced by the incoming rows</a:t>
            </a:r>
            <a:endParaRPr lang="en-US" sz="1000" dirty="0"/>
          </a:p>
        </p:txBody>
      </p:sp>
      <p:sp>
        <p:nvSpPr>
          <p:cNvPr id="24" name="Text 22"/>
          <p:cNvSpPr/>
          <p:nvPr/>
        </p:nvSpPr>
        <p:spPr>
          <a:xfrm>
            <a:off x="5197450" y="3136392"/>
            <a:ext cx="1766621" cy="274320"/>
          </a:xfrm>
          <a:prstGeom prst="rect">
            <a:avLst/>
          </a:prstGeom>
          <a:noFill/>
          <a:ln/>
        </p:spPr>
        <p:txBody>
          <a:bodyPr wrap="square" lIns="0" tIns="0" rIns="0" bIns="0" rtlCol="0" anchor="ctr"/>
          <a:lstStyle/>
          <a:p>
            <a:pPr indent="0" marL="0">
              <a:buNone/>
            </a:pPr>
            <a:r>
              <a:rPr lang="en-US" sz="1200" b="1" dirty="0">
                <a:solidFill>
                  <a:srgbClr val="C1663A"/>
                </a:solidFill>
                <a:latin typeface="Calibri" pitchFamily="34" charset="0"/>
                <a:ea typeface="Calibri" pitchFamily="34" charset="-122"/>
                <a:cs typeface="Calibri" pitchFamily="34" charset="-120"/>
              </a:rPr>
              <a:t>41.6 ms measured</a:t>
            </a:r>
            <a:endParaRPr lang="en-US" sz="1200" dirty="0"/>
          </a:p>
        </p:txBody>
      </p:sp>
      <p:sp>
        <p:nvSpPr>
          <p:cNvPr id="25" name="Shape 23"/>
          <p:cNvSpPr/>
          <p:nvPr/>
        </p:nvSpPr>
        <p:spPr>
          <a:xfrm>
            <a:off x="7119518" y="2615184"/>
            <a:ext cx="182880" cy="164592"/>
          </a:xfrm>
          <a:prstGeom prst="rightArrow">
            <a:avLst/>
          </a:prstGeom>
          <a:solidFill>
            <a:srgbClr val="D3DCEA"/>
          </a:solidFill>
          <a:ln w="12700">
            <a:solidFill>
              <a:srgbClr val="D3DCEA"/>
            </a:solidFill>
            <a:prstDash val="solid"/>
          </a:ln>
        </p:spPr>
      </p:sp>
      <p:sp>
        <p:nvSpPr>
          <p:cNvPr id="26" name="Shape 24"/>
          <p:cNvSpPr/>
          <p:nvPr/>
        </p:nvSpPr>
        <p:spPr>
          <a:xfrm>
            <a:off x="7329830" y="1874520"/>
            <a:ext cx="2022653" cy="1645920"/>
          </a:xfrm>
          <a:prstGeom prst="roundRect">
            <a:avLst>
              <a:gd name="adj" fmla="val 4444"/>
            </a:avLst>
          </a:prstGeom>
          <a:solidFill>
            <a:srgbClr val="DAF2EB"/>
          </a:solidFill>
          <a:ln w="15875">
            <a:solidFill>
              <a:srgbClr val="02A37A"/>
            </a:solidFill>
            <a:prstDash val="solid"/>
          </a:ln>
        </p:spPr>
      </p:sp>
      <p:sp>
        <p:nvSpPr>
          <p:cNvPr id="27" name="Shape 25"/>
          <p:cNvSpPr/>
          <p:nvPr/>
        </p:nvSpPr>
        <p:spPr>
          <a:xfrm>
            <a:off x="7439558" y="1984248"/>
            <a:ext cx="274320" cy="274320"/>
          </a:xfrm>
          <a:prstGeom prst="ellipse">
            <a:avLst/>
          </a:prstGeom>
          <a:solidFill>
            <a:srgbClr val="02A37A"/>
          </a:solidFill>
          <a:ln w="12700">
            <a:solidFill>
              <a:srgbClr val="02A37A"/>
            </a:solidFill>
            <a:prstDash val="solid"/>
          </a:ln>
        </p:spPr>
      </p:sp>
      <p:sp>
        <p:nvSpPr>
          <p:cNvPr id="28" name="Text 26"/>
          <p:cNvSpPr/>
          <p:nvPr/>
        </p:nvSpPr>
        <p:spPr>
          <a:xfrm>
            <a:off x="743955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78703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Commit</a:t>
            </a:r>
            <a:endParaRPr lang="en-US" sz="1250" dirty="0"/>
          </a:p>
        </p:txBody>
      </p:sp>
      <p:sp>
        <p:nvSpPr>
          <p:cNvPr id="30" name="Text 28"/>
          <p:cNvSpPr/>
          <p:nvPr/>
        </p:nvSpPr>
        <p:spPr>
          <a:xfrm>
            <a:off x="745784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Published at the next output frame edge</a:t>
            </a:r>
            <a:endParaRPr lang="en-US" sz="1000" dirty="0"/>
          </a:p>
        </p:txBody>
      </p:sp>
      <p:sp>
        <p:nvSpPr>
          <p:cNvPr id="31" name="Text 29"/>
          <p:cNvSpPr/>
          <p:nvPr/>
        </p:nvSpPr>
        <p:spPr>
          <a:xfrm>
            <a:off x="7457846"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2" name="Shape 30"/>
          <p:cNvSpPr/>
          <p:nvPr/>
        </p:nvSpPr>
        <p:spPr>
          <a:xfrm>
            <a:off x="9379915" y="2615184"/>
            <a:ext cx="182880" cy="164592"/>
          </a:xfrm>
          <a:prstGeom prst="rightArrow">
            <a:avLst/>
          </a:prstGeom>
          <a:solidFill>
            <a:srgbClr val="D3DCEA"/>
          </a:solidFill>
          <a:ln w="12700">
            <a:solidFill>
              <a:srgbClr val="D3DCEA"/>
            </a:solidFill>
            <a:prstDash val="solid"/>
          </a:ln>
        </p:spPr>
      </p:sp>
      <p:sp>
        <p:nvSpPr>
          <p:cNvPr id="33" name="Shape 31"/>
          <p:cNvSpPr/>
          <p:nvPr/>
        </p:nvSpPr>
        <p:spPr>
          <a:xfrm>
            <a:off x="9590227" y="1874520"/>
            <a:ext cx="2022653" cy="1645920"/>
          </a:xfrm>
          <a:prstGeom prst="roundRect">
            <a:avLst>
              <a:gd name="adj" fmla="val 4444"/>
            </a:avLst>
          </a:prstGeom>
          <a:solidFill>
            <a:srgbClr val="DAF2EB"/>
          </a:solidFill>
          <a:ln w="15875">
            <a:solidFill>
              <a:srgbClr val="02A37A"/>
            </a:solidFill>
            <a:prstDash val="solid"/>
          </a:ln>
        </p:spPr>
      </p:sp>
      <p:sp>
        <p:nvSpPr>
          <p:cNvPr id="34" name="Shape 32"/>
          <p:cNvSpPr/>
          <p:nvPr/>
        </p:nvSpPr>
        <p:spPr>
          <a:xfrm>
            <a:off x="9699955" y="1984248"/>
            <a:ext cx="274320" cy="274320"/>
          </a:xfrm>
          <a:prstGeom prst="ellipse">
            <a:avLst/>
          </a:prstGeom>
          <a:solidFill>
            <a:srgbClr val="02A37A"/>
          </a:solidFill>
          <a:ln w="12700">
            <a:solidFill>
              <a:srgbClr val="02A37A"/>
            </a:solidFill>
            <a:prstDash val="solid"/>
          </a:ln>
        </p:spPr>
      </p:sp>
      <p:sp>
        <p:nvSpPr>
          <p:cNvPr id="35" name="Text 33"/>
          <p:cNvSpPr/>
          <p:nvPr/>
        </p:nvSpPr>
        <p:spPr>
          <a:xfrm>
            <a:off x="969995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4"/>
          <p:cNvSpPr/>
          <p:nvPr/>
        </p:nvSpPr>
        <p:spPr>
          <a:xfrm>
            <a:off x="1004742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Scan-out</a:t>
            </a:r>
            <a:endParaRPr lang="en-US" sz="1250" dirty="0"/>
          </a:p>
        </p:txBody>
      </p:sp>
      <p:sp>
        <p:nvSpPr>
          <p:cNvPr id="37" name="Text 35"/>
          <p:cNvSpPr/>
          <p:nvPr/>
        </p:nvSpPr>
        <p:spPr>
          <a:xfrm>
            <a:off x="971824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Transmitted in the HD-SDI raster</a:t>
            </a:r>
            <a:endParaRPr lang="en-US" sz="1000" dirty="0"/>
          </a:p>
        </p:txBody>
      </p:sp>
      <p:sp>
        <p:nvSpPr>
          <p:cNvPr id="38" name="Text 36"/>
          <p:cNvSpPr/>
          <p:nvPr/>
        </p:nvSpPr>
        <p:spPr>
          <a:xfrm>
            <a:off x="9718243"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9" name="Text 37"/>
          <p:cNvSpPr/>
          <p:nvPr/>
        </p:nvSpPr>
        <p:spPr>
          <a:xfrm>
            <a:off x="548640" y="3767328"/>
            <a:ext cx="3657600" cy="274320"/>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Time budget</a:t>
            </a:r>
            <a:endParaRPr lang="en-US" sz="1300" dirty="0"/>
          </a:p>
        </p:txBody>
      </p:sp>
      <p:sp>
        <p:nvSpPr>
          <p:cNvPr id="40" name="Shape 38"/>
          <p:cNvSpPr/>
          <p:nvPr/>
        </p:nvSpPr>
        <p:spPr>
          <a:xfrm>
            <a:off x="548640" y="4114800"/>
            <a:ext cx="1081659" cy="365760"/>
          </a:xfrm>
          <a:prstGeom prst="rect">
            <a:avLst/>
          </a:prstGeom>
          <a:solidFill>
            <a:srgbClr val="C1663A"/>
          </a:solidFill>
          <a:ln w="12700">
            <a:solidFill>
              <a:srgbClr val="FFFFFF"/>
            </a:solidFill>
            <a:prstDash val="solid"/>
          </a:ln>
        </p:spPr>
      </p:sp>
      <p:sp>
        <p:nvSpPr>
          <p:cNvPr id="41" name="Text 39"/>
          <p:cNvSpPr/>
          <p:nvPr/>
        </p:nvSpPr>
        <p:spPr>
          <a:xfrm>
            <a:off x="548640"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Row age 16.7</a:t>
            </a:r>
            <a:endParaRPr lang="en-US" sz="950" dirty="0"/>
          </a:p>
        </p:txBody>
      </p:sp>
      <p:sp>
        <p:nvSpPr>
          <p:cNvPr id="42" name="Shape 40"/>
          <p:cNvSpPr/>
          <p:nvPr/>
        </p:nvSpPr>
        <p:spPr>
          <a:xfrm>
            <a:off x="1630299" y="4114800"/>
            <a:ext cx="2914650" cy="365760"/>
          </a:xfrm>
          <a:prstGeom prst="rect">
            <a:avLst/>
          </a:prstGeom>
          <a:solidFill>
            <a:srgbClr val="D18E68"/>
          </a:solidFill>
          <a:ln w="12700">
            <a:solidFill>
              <a:srgbClr val="FFFFFF"/>
            </a:solidFill>
            <a:prstDash val="solid"/>
          </a:ln>
        </p:spPr>
      </p:sp>
      <p:sp>
        <p:nvSpPr>
          <p:cNvPr id="43" name="Text 41"/>
          <p:cNvSpPr/>
          <p:nvPr/>
        </p:nvSpPr>
        <p:spPr>
          <a:xfrm>
            <a:off x="1630299" y="4114800"/>
            <a:ext cx="2914650"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45.0 measured</a:t>
            </a:r>
            <a:endParaRPr lang="en-US" sz="950" dirty="0"/>
          </a:p>
        </p:txBody>
      </p:sp>
      <p:sp>
        <p:nvSpPr>
          <p:cNvPr id="44" name="Shape 42"/>
          <p:cNvSpPr/>
          <p:nvPr/>
        </p:nvSpPr>
        <p:spPr>
          <a:xfrm>
            <a:off x="4544949" y="4114800"/>
            <a:ext cx="1081659" cy="365760"/>
          </a:xfrm>
          <a:prstGeom prst="rect">
            <a:avLst/>
          </a:prstGeom>
          <a:solidFill>
            <a:srgbClr val="6FC2AA"/>
          </a:solidFill>
          <a:ln w="12700">
            <a:solidFill>
              <a:srgbClr val="FFFFFF"/>
            </a:solidFill>
            <a:prstDash val="solid"/>
          </a:ln>
        </p:spPr>
      </p:sp>
      <p:sp>
        <p:nvSpPr>
          <p:cNvPr id="45" name="Text 43"/>
          <p:cNvSpPr/>
          <p:nvPr/>
        </p:nvSpPr>
        <p:spPr>
          <a:xfrm>
            <a:off x="4544949"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Scan 16.7</a:t>
            </a:r>
            <a:endParaRPr lang="en-US" sz="950" dirty="0"/>
          </a:p>
        </p:txBody>
      </p:sp>
      <p:sp>
        <p:nvSpPr>
          <p:cNvPr id="46" name="Text 44"/>
          <p:cNvSpPr/>
          <p:nvPr/>
        </p:nvSpPr>
        <p:spPr>
          <a:xfrm>
            <a:off x="548640" y="4535424"/>
            <a:ext cx="7772400" cy="237744"/>
          </a:xfrm>
          <a:prstGeom prst="rect">
            <a:avLst/>
          </a:prstGeom>
          <a:noFill/>
          <a:ln/>
        </p:spPr>
        <p:txBody>
          <a:bodyPr wrap="square" lIns="0" tIns="0" rIns="0" bIns="0" rtlCol="0" anchor="ctr"/>
          <a:lstStyle/>
          <a:p>
            <a:pPr indent="0" marL="0">
              <a:buNone/>
            </a:pPr>
            <a:r>
              <a:rPr lang="en-US" sz="1000" i="1" dirty="0">
                <a:solidFill>
                  <a:srgbClr val="6B7C97"/>
                </a:solidFill>
                <a:latin typeface="Calibri" pitchFamily="34" charset="0"/>
                <a:ea typeface="Calibri" pitchFamily="34" charset="-122"/>
                <a:cs typeface="Calibri" pitchFamily="34" charset="-120"/>
              </a:rPr>
              <a:t>Measured immediately after programming, the only state in which this mode currently runs.</a:t>
            </a:r>
            <a:endParaRPr lang="en-US" sz="1000" dirty="0"/>
          </a:p>
        </p:txBody>
      </p:sp>
      <p:sp>
        <p:nvSpPr>
          <p:cNvPr id="47" name="Shape 45"/>
          <p:cNvSpPr/>
          <p:nvPr/>
        </p:nvSpPr>
        <p:spPr>
          <a:xfrm>
            <a:off x="8595360" y="3767328"/>
            <a:ext cx="1481328" cy="1371600"/>
          </a:xfrm>
          <a:prstGeom prst="roundRect">
            <a:avLst>
              <a:gd name="adj" fmla="val 4000"/>
            </a:avLst>
          </a:prstGeom>
          <a:solidFill>
            <a:srgbClr val="F2F5FA"/>
          </a:solidFill>
          <a:ln w="12700">
            <a:solidFill>
              <a:srgbClr val="D3DCEA"/>
            </a:solidFill>
            <a:prstDash val="solid"/>
          </a:ln>
        </p:spPr>
      </p:sp>
      <p:sp>
        <p:nvSpPr>
          <p:cNvPr id="48" name="Text 46"/>
          <p:cNvSpPr/>
          <p:nvPr/>
        </p:nvSpPr>
        <p:spPr>
          <a:xfrm>
            <a:off x="8650224" y="3913632"/>
            <a:ext cx="1371600" cy="658368"/>
          </a:xfrm>
          <a:prstGeom prst="rect">
            <a:avLst/>
          </a:prstGeom>
          <a:noFill/>
          <a:ln/>
        </p:spPr>
        <p:txBody>
          <a:bodyPr wrap="square" lIns="0" tIns="0" rIns="0" bIns="0" rtlCol="0" anchor="ctr"/>
          <a:lstStyle/>
          <a:p>
            <a:pPr algn="ctr" indent="0" marL="0">
              <a:buNone/>
            </a:pPr>
            <a:r>
              <a:rPr lang="en-US" sz="2500" b="1" dirty="0">
                <a:solidFill>
                  <a:srgbClr val="02A37A"/>
                </a:solidFill>
                <a:latin typeface="Cambria" pitchFamily="34" charset="0"/>
                <a:ea typeface="Cambria" pitchFamily="34" charset="-122"/>
                <a:cs typeface="Cambria" pitchFamily="34" charset="-120"/>
              </a:rPr>
              <a:t>45 ms</a:t>
            </a:r>
            <a:endParaRPr lang="en-US" sz="2500" dirty="0"/>
          </a:p>
        </p:txBody>
      </p:sp>
      <p:sp>
        <p:nvSpPr>
          <p:cNvPr id="49" name="Text 47"/>
          <p:cNvSpPr/>
          <p:nvPr/>
        </p:nvSpPr>
        <p:spPr>
          <a:xfrm>
            <a:off x="8705088"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best case</a:t>
            </a:r>
            <a:endParaRPr lang="en-US" sz="1050" dirty="0"/>
          </a:p>
        </p:txBody>
      </p:sp>
      <p:sp>
        <p:nvSpPr>
          <p:cNvPr id="50" name="Shape 48"/>
          <p:cNvSpPr/>
          <p:nvPr/>
        </p:nvSpPr>
        <p:spPr>
          <a:xfrm>
            <a:off x="10204704" y="3767328"/>
            <a:ext cx="1481328" cy="1371600"/>
          </a:xfrm>
          <a:prstGeom prst="roundRect">
            <a:avLst>
              <a:gd name="adj" fmla="val 4000"/>
            </a:avLst>
          </a:prstGeom>
          <a:solidFill>
            <a:srgbClr val="F2F5FA"/>
          </a:solidFill>
          <a:ln w="12700">
            <a:solidFill>
              <a:srgbClr val="D3DCEA"/>
            </a:solidFill>
            <a:prstDash val="solid"/>
          </a:ln>
        </p:spPr>
      </p:sp>
      <p:sp>
        <p:nvSpPr>
          <p:cNvPr id="51" name="Text 49"/>
          <p:cNvSpPr/>
          <p:nvPr/>
        </p:nvSpPr>
        <p:spPr>
          <a:xfrm>
            <a:off x="10259568" y="3913632"/>
            <a:ext cx="1371600" cy="658368"/>
          </a:xfrm>
          <a:prstGeom prst="rect">
            <a:avLst/>
          </a:prstGeom>
          <a:noFill/>
          <a:ln/>
        </p:spPr>
        <p:txBody>
          <a:bodyPr wrap="square" lIns="0" tIns="0" rIns="0" bIns="0" rtlCol="0" anchor="ctr"/>
          <a:lstStyle/>
          <a:p>
            <a:pPr algn="ctr" indent="0" marL="0">
              <a:buNone/>
            </a:pPr>
            <a:r>
              <a:rPr lang="en-US" sz="2500" b="1" dirty="0">
                <a:solidFill>
                  <a:srgbClr val="C1663A"/>
                </a:solidFill>
                <a:latin typeface="Cambria" pitchFamily="34" charset="0"/>
                <a:ea typeface="Cambria" pitchFamily="34" charset="-122"/>
                <a:cs typeface="Cambria" pitchFamily="34" charset="-120"/>
              </a:rPr>
              <a:t>112 ms</a:t>
            </a:r>
            <a:endParaRPr lang="en-US" sz="2500" dirty="0"/>
          </a:p>
        </p:txBody>
      </p:sp>
      <p:sp>
        <p:nvSpPr>
          <p:cNvPr id="52" name="Text 50"/>
          <p:cNvSpPr/>
          <p:nvPr/>
        </p:nvSpPr>
        <p:spPr>
          <a:xfrm>
            <a:off x="10314432"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worst case</a:t>
            </a:r>
            <a:endParaRPr lang="en-US" sz="1050" dirty="0"/>
          </a:p>
        </p:txBody>
      </p:sp>
      <p:sp>
        <p:nvSpPr>
          <p:cNvPr id="53" name="Shape 51"/>
          <p:cNvSpPr/>
          <p:nvPr/>
        </p:nvSpPr>
        <p:spPr>
          <a:xfrm>
            <a:off x="8595360" y="5285232"/>
            <a:ext cx="3090672" cy="786384"/>
          </a:xfrm>
          <a:prstGeom prst="roundRect">
            <a:avLst>
              <a:gd name="adj" fmla="val 6977"/>
            </a:avLst>
          </a:prstGeom>
          <a:solidFill>
            <a:srgbClr val="0E1C36"/>
          </a:solidFill>
          <a:ln w="12700">
            <a:solidFill>
              <a:srgbClr val="0E1C36"/>
            </a:solidFill>
            <a:prstDash val="solid"/>
          </a:ln>
        </p:spPr>
      </p:sp>
      <p:sp>
        <p:nvSpPr>
          <p:cNvPr id="54" name="Text 52"/>
          <p:cNvSpPr/>
          <p:nvPr/>
        </p:nvSpPr>
        <p:spPr>
          <a:xfrm>
            <a:off x="8595360" y="5285232"/>
            <a:ext cx="3090672"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78 ms  </a:t>
            </a:r>
            <a:pPr algn="ctr" indent="0" marL="0">
              <a:buNone/>
            </a:pPr>
            <a:r>
              <a:rPr lang="en-US" sz="1200" dirty="0">
                <a:solidFill>
                  <a:srgbClr val="9FB4D4"/>
                </a:solidFill>
                <a:latin typeface="Calibri" pitchFamily="34" charset="0"/>
                <a:ea typeface="Calibri" pitchFamily="34" charset="-122"/>
                <a:cs typeface="Calibri" pitchFamily="34" charset="-120"/>
              </a:rPr>
              <a:t>typical</a:t>
            </a:r>
            <a:endParaRPr lang="en-US" sz="2200" dirty="0"/>
          </a:p>
        </p:txBody>
      </p:sp>
      <p:sp>
        <p:nvSpPr>
          <p:cNvPr id="55" name="Shape 53"/>
          <p:cNvSpPr/>
          <p:nvPr/>
        </p:nvSpPr>
        <p:spPr>
          <a:xfrm>
            <a:off x="548640" y="4956048"/>
            <a:ext cx="7772400" cy="1115568"/>
          </a:xfrm>
          <a:prstGeom prst="roundRect">
            <a:avLst>
              <a:gd name="adj" fmla="val 4918"/>
            </a:avLst>
          </a:prstGeom>
          <a:solidFill>
            <a:srgbClr val="F6E7DE"/>
          </a:solidFill>
          <a:ln w="12700">
            <a:solidFill>
              <a:srgbClr val="C1663A"/>
            </a:solidFill>
            <a:prstDash val="solid"/>
          </a:ln>
        </p:spPr>
      </p:sp>
      <p:sp>
        <p:nvSpPr>
          <p:cNvPr id="56" name="Text 54"/>
          <p:cNvSpPr/>
          <p:nvPr/>
        </p:nvSpPr>
        <p:spPr>
          <a:xfrm>
            <a:off x="804672" y="5120640"/>
            <a:ext cx="7269480" cy="82296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Works from boot, stops on a mode switch.  </a:t>
            </a:r>
            <a:pPr indent="0" marL="0">
              <a:buNone/>
            </a:pPr>
            <a:r>
              <a:rPr lang="en-US" sz="1200" dirty="0">
                <a:solidFill>
                  <a:srgbClr val="27374F"/>
                </a:solidFill>
                <a:latin typeface="Calibri" pitchFamily="34" charset="0"/>
                <a:ea typeface="Calibri" pitchFamily="34" charset="-122"/>
                <a:cs typeface="Calibri" pitchFamily="34" charset="-120"/>
              </a:rPr>
              <a:t>Measured 45.0 ms and 15.03 new frames per second immediately after programming. After any change of mode it commits nothing at all, and no camera-side recovery restores it - the part must be reprogrammed.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COMPARISON</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All four modes side by side</a:t>
            </a:r>
            <a:endParaRPr lang="en-US" sz="3200" dirty="0"/>
          </a:p>
        </p:txBody>
      </p:sp>
      <p:sp>
        <p:nvSpPr>
          <p:cNvPr id="4" name="Text 2"/>
          <p:cNvSpPr/>
          <p:nvPr/>
        </p:nvSpPr>
        <p:spPr>
          <a:xfrm>
            <a:off x="548640" y="1298448"/>
            <a:ext cx="11064240" cy="329184"/>
          </a:xfrm>
          <a:prstGeom prst="rect">
            <a:avLst/>
          </a:prstGeom>
          <a:noFill/>
          <a:ln/>
        </p:spPr>
        <p:txBody>
          <a:bodyPr wrap="square" lIns="0" tIns="0" rIns="0" bIns="0" rtlCol="0" anchor="ctr"/>
          <a:lstStyle/>
          <a:p>
            <a:pPr indent="0" marL="0">
              <a:buNone/>
            </a:pPr>
            <a:r>
              <a:rPr lang="en-US" sz="1250" i="1" dirty="0">
                <a:solidFill>
                  <a:srgbClr val="6B7C97"/>
                </a:solidFill>
                <a:latin typeface="Calibri" pitchFamily="34" charset="0"/>
                <a:ea typeface="Calibri" pitchFamily="34" charset="-122"/>
                <a:cs typeface="Calibri" pitchFamily="34" charset="-120"/>
              </a:rPr>
              <a:t>Measured on hardware, 2026-08-19. FPGA-internal; camera sensor and ISP delay is additional and is the vendor's specification.</a:t>
            </a:r>
            <a:endParaRPr lang="en-US" sz="1250" dirty="0"/>
          </a:p>
        </p:txBody>
      </p:sp>
      <p:graphicFrame>
        <p:nvGraphicFramePr>
          <p:cNvPr id="5" name="Chart 0" descr=""/>
          <p:cNvGraphicFramePr/>
          <p:nvPr/>
        </p:nvGraphicFramePr>
        <p:xfrm>
          <a:off x="548640" y="1783080"/>
          <a:ext cx="640080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223760" y="1783080"/>
          <a:ext cx="4434840" cy="914400"/>
        </p:xfrm>
        <a:graphic>
          <a:graphicData uri="http://schemas.openxmlformats.org/drawingml/2006/table">
            <a:tbl>
              <a:tblPr/>
              <a:tblGrid>
                <a:gridCol w="1234440"/>
                <a:gridCol w="658368"/>
                <a:gridCol w="777240"/>
                <a:gridCol w="731520"/>
                <a:gridCol w="1033272"/>
              </a:tblGrid>
              <a:tr h="384048">
                <a:tc>
                  <a:txBody>
                    <a:bodyPr/>
                    <a:lstStyle/>
                    <a:p>
                      <a:pPr indent="0" marL="0">
                        <a:buNone/>
                      </a:pPr>
                      <a:r>
                        <a:rPr lang="en-US" sz="1050" b="1" dirty="0">
                          <a:solidFill>
                            <a:srgbClr val="27374F"/>
                          </a:solidFill>
                          <a:latin typeface="Calibri" pitchFamily="34" charset="0"/>
                          <a:ea typeface="Calibri" pitchFamily="34" charset="-122"/>
                          <a:cs typeface="Calibri" pitchFamily="34" charset="-120"/>
                        </a:rPr>
                        <a:t>Mode</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b="1" dirty="0">
                          <a:solidFill>
                            <a:srgbClr val="27374F"/>
                          </a:solidFill>
                          <a:latin typeface="Calibri" pitchFamily="34" charset="0"/>
                          <a:ea typeface="Calibri" pitchFamily="34" charset="-122"/>
                          <a:cs typeface="Calibri" pitchFamily="34" charset="-120"/>
                        </a:rPr>
                        <a:t>Best</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b="1" dirty="0">
                          <a:solidFill>
                            <a:srgbClr val="27374F"/>
                          </a:solidFill>
                          <a:latin typeface="Calibri" pitchFamily="34" charset="0"/>
                          <a:ea typeface="Calibri" pitchFamily="34" charset="-122"/>
                          <a:cs typeface="Calibri" pitchFamily="34" charset="-120"/>
                        </a:rPr>
                        <a:t>Typical</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b="1" dirty="0">
                          <a:solidFill>
                            <a:srgbClr val="27374F"/>
                          </a:solidFill>
                          <a:latin typeface="Calibri" pitchFamily="34" charset="0"/>
                          <a:ea typeface="Calibri" pitchFamily="34" charset="-122"/>
                          <a:cs typeface="Calibri" pitchFamily="34" charset="-120"/>
                        </a:rPr>
                        <a:t>Worst</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b="1" dirty="0">
                          <a:solidFill>
                            <a:srgbClr val="27374F"/>
                          </a:solidFill>
                          <a:latin typeface="Calibri" pitchFamily="34" charset="0"/>
                          <a:ea typeface="Calibri" pitchFamily="34" charset="-122"/>
                          <a:cs typeface="Calibri" pitchFamily="34" charset="-120"/>
                        </a:rPr>
                        <a:t>New frames/s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EO single</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16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50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83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29.75</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EO panorama</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41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75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108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15.03</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IR panorama</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45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78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112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15.03</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IR single</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50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84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117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30.01</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r>
            </a:tbl>
          </a:graphicData>
        </a:graphic>
      </p:graphicFrame>
      <p:sp>
        <p:nvSpPr>
          <p:cNvPr id="7" name="Shape 3"/>
          <p:cNvSpPr/>
          <p:nvPr/>
        </p:nvSpPr>
        <p:spPr>
          <a:xfrm>
            <a:off x="548640" y="5230368"/>
            <a:ext cx="11109960" cy="960120"/>
          </a:xfrm>
          <a:prstGeom prst="roundRect">
            <a:avLst>
              <a:gd name="adj" fmla="val 5714"/>
            </a:avLst>
          </a:prstGeom>
          <a:solidFill>
            <a:srgbClr val="F2F5FA"/>
          </a:solidFill>
          <a:ln w="12700">
            <a:solidFill>
              <a:srgbClr val="D3DCEA"/>
            </a:solidFill>
            <a:prstDash val="solid"/>
          </a:ln>
        </p:spPr>
      </p:sp>
      <p:sp>
        <p:nvSpPr>
          <p:cNvPr id="8" name="Text 4"/>
          <p:cNvSpPr/>
          <p:nvPr/>
        </p:nvSpPr>
        <p:spPr>
          <a:xfrm>
            <a:off x="822960" y="5394960"/>
            <a:ext cx="10561320" cy="640080"/>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The spread is one output frame in each direction. </a:t>
            </a:r>
            <a:pPr indent="0" marL="0">
              <a:buNone/>
            </a:pPr>
            <a:r>
              <a:rPr lang="en-US" sz="1250" dirty="0">
                <a:solidFill>
                  <a:srgbClr val="27374F"/>
                </a:solidFill>
                <a:latin typeface="Calibri" pitchFamily="34" charset="0"/>
                <a:ea typeface="Calibri" pitchFamily="34" charset="-122"/>
                <a:cs typeface="Calibri" pitchFamily="34" charset="-120"/>
              </a:rPr>
              <a:t>A row's age when its frame completes, and its position in the output raster, each range from zero to a full frame and are not controlled. Only the middle term is fixed by the design, and that is the part measured.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MEASURED</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A second effect: how often the picture changes</a:t>
            </a:r>
            <a:endParaRPr lang="en-US" sz="3200" dirty="0"/>
          </a:p>
        </p:txBody>
      </p:sp>
      <p:sp>
        <p:nvSpPr>
          <p:cNvPr id="4" name="Text 2"/>
          <p:cNvSpPr/>
          <p:nvPr/>
        </p:nvSpPr>
        <p:spPr>
          <a:xfrm>
            <a:off x="548640" y="1298448"/>
            <a:ext cx="11064240" cy="365760"/>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Latency is how old the picture is. Refresh is how often it is replaced. They are separate, and in the panorama modes they differ.</a:t>
            </a:r>
            <a:endParaRPr lang="en-US" sz="1350" dirty="0"/>
          </a:p>
        </p:txBody>
      </p:sp>
      <p:sp>
        <p:nvSpPr>
          <p:cNvPr id="5" name="Shape 3"/>
          <p:cNvSpPr/>
          <p:nvPr/>
        </p:nvSpPr>
        <p:spPr>
          <a:xfrm>
            <a:off x="548640" y="1828800"/>
            <a:ext cx="2377440" cy="1371600"/>
          </a:xfrm>
          <a:prstGeom prst="roundRect">
            <a:avLst>
              <a:gd name="adj" fmla="val 4000"/>
            </a:avLst>
          </a:prstGeom>
          <a:solidFill>
            <a:srgbClr val="F2F5FA"/>
          </a:solidFill>
          <a:ln w="12700">
            <a:solidFill>
              <a:srgbClr val="D3DCEA"/>
            </a:solidFill>
            <a:prstDash val="solid"/>
          </a:ln>
        </p:spPr>
      </p:sp>
      <p:sp>
        <p:nvSpPr>
          <p:cNvPr id="6" name="Text 4"/>
          <p:cNvSpPr/>
          <p:nvPr/>
        </p:nvSpPr>
        <p:spPr>
          <a:xfrm>
            <a:off x="603504" y="1975104"/>
            <a:ext cx="2267712" cy="658368"/>
          </a:xfrm>
          <a:prstGeom prst="rect">
            <a:avLst/>
          </a:prstGeom>
          <a:noFill/>
          <a:ln/>
        </p:spPr>
        <p:txBody>
          <a:bodyPr wrap="square" lIns="0" tIns="0" rIns="0" bIns="0" rtlCol="0" anchor="ctr"/>
          <a:lstStyle/>
          <a:p>
            <a:pPr algn="ctr" indent="0" marL="0">
              <a:buNone/>
            </a:pPr>
            <a:r>
              <a:rPr lang="en-US" sz="2500" b="1" dirty="0">
                <a:solidFill>
                  <a:srgbClr val="0E1C36"/>
                </a:solidFill>
                <a:latin typeface="Cambria" pitchFamily="34" charset="0"/>
                <a:ea typeface="Cambria" pitchFamily="34" charset="-122"/>
                <a:cs typeface="Cambria" pitchFamily="34" charset="-120"/>
              </a:rPr>
              <a:t>30 Hz</a:t>
            </a:r>
            <a:endParaRPr lang="en-US" sz="2500" dirty="0"/>
          </a:p>
        </p:txBody>
      </p:sp>
      <p:sp>
        <p:nvSpPr>
          <p:cNvPr id="7" name="Text 5"/>
          <p:cNvSpPr/>
          <p:nvPr/>
        </p:nvSpPr>
        <p:spPr>
          <a:xfrm>
            <a:off x="658368" y="2670048"/>
            <a:ext cx="2157984"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HD-SDI output raster</a:t>
            </a:r>
            <a:endParaRPr lang="en-US" sz="1050" dirty="0"/>
          </a:p>
        </p:txBody>
      </p:sp>
      <p:sp>
        <p:nvSpPr>
          <p:cNvPr id="8" name="Shape 6"/>
          <p:cNvSpPr/>
          <p:nvPr/>
        </p:nvSpPr>
        <p:spPr>
          <a:xfrm>
            <a:off x="3127248" y="1828800"/>
            <a:ext cx="2377440" cy="1371600"/>
          </a:xfrm>
          <a:prstGeom prst="roundRect">
            <a:avLst>
              <a:gd name="adj" fmla="val 4000"/>
            </a:avLst>
          </a:prstGeom>
          <a:solidFill>
            <a:srgbClr val="F2F5FA"/>
          </a:solidFill>
          <a:ln w="12700">
            <a:solidFill>
              <a:srgbClr val="D3DCEA"/>
            </a:solidFill>
            <a:prstDash val="solid"/>
          </a:ln>
        </p:spPr>
      </p:sp>
      <p:sp>
        <p:nvSpPr>
          <p:cNvPr id="9" name="Text 7"/>
          <p:cNvSpPr/>
          <p:nvPr/>
        </p:nvSpPr>
        <p:spPr>
          <a:xfrm>
            <a:off x="3182112" y="1975104"/>
            <a:ext cx="2267712" cy="658368"/>
          </a:xfrm>
          <a:prstGeom prst="rect">
            <a:avLst/>
          </a:prstGeom>
          <a:noFill/>
          <a:ln/>
        </p:spPr>
        <p:txBody>
          <a:bodyPr wrap="square" lIns="0" tIns="0" rIns="0" bIns="0" rtlCol="0" anchor="ctr"/>
          <a:lstStyle/>
          <a:p>
            <a:pPr algn="ctr" indent="0" marL="0">
              <a:buNone/>
            </a:pPr>
            <a:r>
              <a:rPr lang="en-US" sz="3400" b="1" dirty="0">
                <a:solidFill>
                  <a:srgbClr val="C2A33B"/>
                </a:solidFill>
                <a:latin typeface="Cambria" pitchFamily="34" charset="0"/>
                <a:ea typeface="Cambria" pitchFamily="34" charset="-122"/>
                <a:cs typeface="Cambria" pitchFamily="34" charset="-120"/>
              </a:rPr>
              <a:t>15.0</a:t>
            </a:r>
            <a:endParaRPr lang="en-US" sz="3400" dirty="0"/>
          </a:p>
        </p:txBody>
      </p:sp>
      <p:sp>
        <p:nvSpPr>
          <p:cNvPr id="10" name="Text 8"/>
          <p:cNvSpPr/>
          <p:nvPr/>
        </p:nvSpPr>
        <p:spPr>
          <a:xfrm>
            <a:off x="3236976" y="2670048"/>
            <a:ext cx="2157984"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new frames/s, both panorama modes</a:t>
            </a:r>
            <a:endParaRPr lang="en-US" sz="1050" dirty="0"/>
          </a:p>
        </p:txBody>
      </p:sp>
      <p:sp>
        <p:nvSpPr>
          <p:cNvPr id="11" name="Shape 9"/>
          <p:cNvSpPr/>
          <p:nvPr/>
        </p:nvSpPr>
        <p:spPr>
          <a:xfrm>
            <a:off x="5705856" y="1828800"/>
            <a:ext cx="2377440" cy="1371600"/>
          </a:xfrm>
          <a:prstGeom prst="roundRect">
            <a:avLst>
              <a:gd name="adj" fmla="val 4000"/>
            </a:avLst>
          </a:prstGeom>
          <a:solidFill>
            <a:srgbClr val="F2F5FA"/>
          </a:solidFill>
          <a:ln w="12700">
            <a:solidFill>
              <a:srgbClr val="D3DCEA"/>
            </a:solidFill>
            <a:prstDash val="solid"/>
          </a:ln>
        </p:spPr>
      </p:sp>
      <p:sp>
        <p:nvSpPr>
          <p:cNvPr id="12" name="Text 10"/>
          <p:cNvSpPr/>
          <p:nvPr/>
        </p:nvSpPr>
        <p:spPr>
          <a:xfrm>
            <a:off x="5760720" y="1975104"/>
            <a:ext cx="2267712" cy="658368"/>
          </a:xfrm>
          <a:prstGeom prst="rect">
            <a:avLst/>
          </a:prstGeom>
          <a:noFill/>
          <a:ln/>
        </p:spPr>
        <p:txBody>
          <a:bodyPr wrap="square" lIns="0" tIns="0" rIns="0" bIns="0" rtlCol="0" anchor="ctr"/>
          <a:lstStyle/>
          <a:p>
            <a:pPr algn="ctr" indent="0" marL="0">
              <a:buNone/>
            </a:pPr>
            <a:r>
              <a:rPr lang="en-US" sz="3400" b="1" dirty="0">
                <a:solidFill>
                  <a:srgbClr val="02A37A"/>
                </a:solidFill>
                <a:latin typeface="Cambria" pitchFamily="34" charset="0"/>
                <a:ea typeface="Cambria" pitchFamily="34" charset="-122"/>
                <a:cs typeface="Cambria" pitchFamily="34" charset="-120"/>
              </a:rPr>
              <a:t>30.0</a:t>
            </a:r>
            <a:endParaRPr lang="en-US" sz="3400" dirty="0"/>
          </a:p>
        </p:txBody>
      </p:sp>
      <p:sp>
        <p:nvSpPr>
          <p:cNvPr id="13" name="Text 11"/>
          <p:cNvSpPr/>
          <p:nvPr/>
        </p:nvSpPr>
        <p:spPr>
          <a:xfrm>
            <a:off x="5815584" y="2670048"/>
            <a:ext cx="2157984"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new frames/s, both single modes</a:t>
            </a:r>
            <a:endParaRPr lang="en-US" sz="1050" dirty="0"/>
          </a:p>
        </p:txBody>
      </p:sp>
      <p:sp>
        <p:nvSpPr>
          <p:cNvPr id="14" name="Shape 12"/>
          <p:cNvSpPr/>
          <p:nvPr/>
        </p:nvSpPr>
        <p:spPr>
          <a:xfrm>
            <a:off x="8284464" y="1828800"/>
            <a:ext cx="3383280" cy="1371600"/>
          </a:xfrm>
          <a:prstGeom prst="roundRect">
            <a:avLst>
              <a:gd name="adj" fmla="val 4000"/>
            </a:avLst>
          </a:prstGeom>
          <a:solidFill>
            <a:srgbClr val="F2F5FA"/>
          </a:solidFill>
          <a:ln w="12700">
            <a:solidFill>
              <a:srgbClr val="D3DCEA"/>
            </a:solidFill>
            <a:prstDash val="solid"/>
          </a:ln>
        </p:spPr>
      </p:sp>
      <p:sp>
        <p:nvSpPr>
          <p:cNvPr id="15" name="Text 13"/>
          <p:cNvSpPr/>
          <p:nvPr/>
        </p:nvSpPr>
        <p:spPr>
          <a:xfrm>
            <a:off x="8339328" y="1975104"/>
            <a:ext cx="3273552" cy="658368"/>
          </a:xfrm>
          <a:prstGeom prst="rect">
            <a:avLst/>
          </a:prstGeom>
          <a:noFill/>
          <a:ln/>
        </p:spPr>
        <p:txBody>
          <a:bodyPr wrap="square" lIns="0" tIns="0" rIns="0" bIns="0" rtlCol="0" anchor="ctr"/>
          <a:lstStyle/>
          <a:p>
            <a:pPr algn="ctr" indent="0" marL="0">
              <a:buNone/>
            </a:pPr>
            <a:r>
              <a:rPr lang="en-US" sz="2500" b="1" dirty="0">
                <a:solidFill>
                  <a:srgbClr val="C2A33B"/>
                </a:solidFill>
                <a:latin typeface="Cambria" pitchFamily="34" charset="0"/>
                <a:ea typeface="Cambria" pitchFamily="34" charset="-122"/>
                <a:cs typeface="Cambria" pitchFamily="34" charset="-120"/>
              </a:rPr>
              <a:t>+33 ms</a:t>
            </a:r>
            <a:endParaRPr lang="en-US" sz="2500" dirty="0"/>
          </a:p>
        </p:txBody>
      </p:sp>
      <p:sp>
        <p:nvSpPr>
          <p:cNvPr id="16" name="Text 14"/>
          <p:cNvSpPr/>
          <p:nvPr/>
        </p:nvSpPr>
        <p:spPr>
          <a:xfrm>
            <a:off x="8394192" y="2670048"/>
            <a:ext cx="3163824"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extra staleness in the panorama modes</a:t>
            </a:r>
            <a:endParaRPr lang="en-US" sz="1050" dirty="0"/>
          </a:p>
        </p:txBody>
      </p:sp>
      <p:sp>
        <p:nvSpPr>
          <p:cNvPr id="17" name="Text 15"/>
          <p:cNvSpPr/>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Why</a:t>
            </a:r>
            <a:endParaRPr lang="en-US" sz="1500" dirty="0"/>
          </a:p>
        </p:txBody>
      </p:sp>
      <p:sp>
        <p:nvSpPr>
          <p:cNvPr id="18" name="Text 16"/>
          <p:cNvSpPr/>
          <p:nvPr/>
        </p:nvSpPr>
        <p:spPr>
          <a:xfrm>
            <a:off x="548640" y="3886200"/>
            <a:ext cx="6858000" cy="1371600"/>
          </a:xfrm>
          <a:prstGeom prst="rect">
            <a:avLst/>
          </a:prstGeom>
          <a:noFill/>
          <a:ln/>
        </p:spPr>
        <p:txBody>
          <a:bodyPr wrap="square" lIns="0" tIns="0" rIns="0" bIns="0" rtlCol="0" anchor="ctr"/>
          <a:lstStyle/>
          <a:p>
            <a:pPr indent="0" marL="0">
              <a:buNone/>
            </a:pPr>
            <a:r>
              <a:rPr lang="en-US" sz="1250" dirty="0">
                <a:solidFill>
                  <a:srgbClr val="27374F"/>
                </a:solidFill>
                <a:latin typeface="Calibri" pitchFamily="34" charset="0"/>
                <a:ea typeface="Calibri" pitchFamily="34" charset="-122"/>
                <a:cs typeface="Calibri" pitchFamily="34" charset="-120"/>
              </a:rPr>
              <a:t>The single-camera modes keep up with the raster: 29.75 and 30.01 new frames per second, measured by counting published frames over a minute. Both panorama modes run at half that - 15.03 - because each publishes on every second output frame boundary.</a:t>
            </a:r>
            <a:endParaRPr lang="en-US" sz="1250" dirty="0"/>
          </a:p>
          <a:p>
            <a:pPr indent="0" marL="0">
              <a:buNone/>
            </a:pPr>
            <a:endParaRPr lang="en-US" sz="1250" dirty="0"/>
          </a:p>
          <a:p>
            <a:pPr indent="0" marL="0">
              <a:buNone/>
            </a:pPr>
            <a:r>
              <a:rPr lang="en-US" sz="1250" i="1" dirty="0">
                <a:solidFill>
                  <a:srgbClr val="6B7C97"/>
                </a:solidFill>
                <a:latin typeface="Calibri" pitchFamily="34" charset="0"/>
                <a:ea typeface="Calibri" pitchFamily="34" charset="-122"/>
                <a:cs typeface="Calibri" pitchFamily="34" charset="-120"/>
              </a:rPr>
              <a:t>In EO panorama this also throttles the input: the six source buffers are only recycled when a frame is published, so half of each camera's output is discarded for want of a free buffer. The cameras themselves run at 30 Hz throughout.</a:t>
            </a:r>
            <a:endParaRPr lang="en-US" sz="1250" dirty="0"/>
          </a:p>
        </p:txBody>
      </p:sp>
      <p:sp>
        <p:nvSpPr>
          <p:cNvPr id="19" name="Shape 17"/>
          <p:cNvSpPr/>
          <p:nvPr/>
        </p:nvSpPr>
        <p:spPr>
          <a:xfrm>
            <a:off x="7680960" y="3794760"/>
            <a:ext cx="3977640" cy="2148840"/>
          </a:xfrm>
          <a:prstGeom prst="roundRect">
            <a:avLst>
              <a:gd name="adj" fmla="val 2553"/>
            </a:avLst>
          </a:prstGeom>
          <a:solidFill>
            <a:srgbClr val="DAF2EB"/>
          </a:solidFill>
          <a:ln w="12700">
            <a:solidFill>
              <a:srgbClr val="02A37A"/>
            </a:solidFill>
            <a:prstDash val="solid"/>
          </a:ln>
        </p:spPr>
      </p:sp>
      <p:sp>
        <p:nvSpPr>
          <p:cNvPr id="20" name="Text 18"/>
          <p:cNvSpPr/>
          <p:nvPr/>
        </p:nvSpPr>
        <p:spPr>
          <a:xfrm>
            <a:off x="7936992" y="3977640"/>
            <a:ext cx="3474720" cy="292608"/>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Headroom already recovered</a:t>
            </a:r>
            <a:endParaRPr lang="en-US" sz="1300" dirty="0"/>
          </a:p>
        </p:txBody>
      </p:sp>
      <p:sp>
        <p:nvSpPr>
          <p:cNvPr id="21" name="Text 19"/>
          <p:cNvSpPr/>
          <p:nvPr/>
        </p:nvSpPr>
        <p:spPr>
          <a:xfrm>
            <a:off x="7936992" y="4315968"/>
            <a:ext cx="3474720" cy="150876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A defect fixed in August was issuing a large fraction of memory write commands twice. </a:t>
            </a:r>
            <a:endParaRPr lang="en-US" sz="1150" dirty="0"/>
          </a:p>
          <a:p>
            <a:pPr indent="0" marL="0">
              <a:buNone/>
            </a:pPr>
            <a:endParaRPr lang="en-US" sz="1150" dirty="0"/>
          </a:p>
          <a:p>
            <a:pPr indent="0" marL="0">
              <a:buNone/>
            </a:pPr>
            <a:r>
              <a:rPr lang="en-US" sz="1150" dirty="0">
                <a:solidFill>
                  <a:srgbClr val="27374F"/>
                </a:solidFill>
                <a:latin typeface="Calibri" pitchFamily="34" charset="0"/>
                <a:ea typeface="Calibri" pitchFamily="34" charset="-122"/>
                <a:cs typeface="Calibri" pitchFamily="34" charset="-120"/>
              </a:rPr>
              <a:t>Removing them raised measured memory write throughput from 36.7 to 94.1 commands per 1000 cycles - most of the way to what a 30 Hz refresh needs.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OUTLOOK</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Where the remaining time is, and what would remove it</a:t>
            </a:r>
            <a:endParaRPr lang="en-US" sz="3200" dirty="0"/>
          </a:p>
        </p:txBody>
      </p:sp>
      <p:sp>
        <p:nvSpPr>
          <p:cNvPr id="4" name="Shape 2"/>
          <p:cNvSpPr/>
          <p:nvPr/>
        </p:nvSpPr>
        <p:spPr>
          <a:xfrm>
            <a:off x="548640" y="1417320"/>
            <a:ext cx="11109960" cy="1024128"/>
          </a:xfrm>
          <a:prstGeom prst="roundRect">
            <a:avLst>
              <a:gd name="adj" fmla="val 5357"/>
            </a:avLst>
          </a:prstGeom>
          <a:solidFill>
            <a:srgbClr val="F2F5FA"/>
          </a:solidFill>
          <a:ln w="12700">
            <a:solidFill>
              <a:srgbClr val="D3DCEA"/>
            </a:solidFill>
            <a:prstDash val="solid"/>
          </a:ln>
        </p:spPr>
      </p:sp>
      <p:sp>
        <p:nvSpPr>
          <p:cNvPr id="5" name="Shape 3"/>
          <p:cNvSpPr/>
          <p:nvPr/>
        </p:nvSpPr>
        <p:spPr>
          <a:xfrm>
            <a:off x="804672" y="1728216"/>
            <a:ext cx="402336" cy="402336"/>
          </a:xfrm>
          <a:prstGeom prst="ellipse">
            <a:avLst/>
          </a:prstGeom>
          <a:solidFill>
            <a:srgbClr val="02A37A"/>
          </a:solidFill>
          <a:ln w="12700">
            <a:solidFill>
              <a:srgbClr val="02A37A"/>
            </a:solidFill>
            <a:prstDash val="solid"/>
          </a:ln>
        </p:spPr>
      </p:sp>
      <p:sp>
        <p:nvSpPr>
          <p:cNvPr id="6" name="Text 4"/>
          <p:cNvSpPr/>
          <p:nvPr/>
        </p:nvSpPr>
        <p:spPr>
          <a:xfrm>
            <a:off x="804672" y="172821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371600" y="1581912"/>
            <a:ext cx="7680960" cy="310896"/>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Overlap rendering with ingest</a:t>
            </a:r>
            <a:endParaRPr lang="en-US" sz="1400" dirty="0"/>
          </a:p>
        </p:txBody>
      </p:sp>
      <p:sp>
        <p:nvSpPr>
          <p:cNvPr id="8" name="Text 6"/>
          <p:cNvSpPr/>
          <p:nvPr/>
        </p:nvSpPr>
        <p:spPr>
          <a:xfrm>
            <a:off x="1371600" y="1901952"/>
            <a:ext cx="7772400" cy="45720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Render onto arriving rows instead of storing whole frames first. The largest single term left in the panorama modes is the wait for a complete, matched set of frames.</a:t>
            </a:r>
            <a:endParaRPr lang="en-US" sz="1150" dirty="0"/>
          </a:p>
        </p:txBody>
      </p:sp>
      <p:sp>
        <p:nvSpPr>
          <p:cNvPr id="9" name="Shape 7"/>
          <p:cNvSpPr/>
          <p:nvPr/>
        </p:nvSpPr>
        <p:spPr>
          <a:xfrm>
            <a:off x="9464040" y="1728216"/>
            <a:ext cx="1920240" cy="420624"/>
          </a:xfrm>
          <a:prstGeom prst="roundRect">
            <a:avLst>
              <a:gd name="adj" fmla="val 17391"/>
            </a:avLst>
          </a:prstGeom>
          <a:solidFill>
            <a:srgbClr val="FFFFFF"/>
          </a:solidFill>
          <a:ln w="15875">
            <a:solidFill>
              <a:srgbClr val="02A37A"/>
            </a:solidFill>
            <a:prstDash val="solid"/>
          </a:ln>
        </p:spPr>
      </p:sp>
      <p:sp>
        <p:nvSpPr>
          <p:cNvPr id="10" name="Text 8"/>
          <p:cNvSpPr/>
          <p:nvPr/>
        </p:nvSpPr>
        <p:spPr>
          <a:xfrm>
            <a:off x="9464040" y="1728216"/>
            <a:ext cx="1920240" cy="420624"/>
          </a:xfrm>
          <a:prstGeom prst="rect">
            <a:avLst/>
          </a:prstGeom>
          <a:noFill/>
          <a:ln/>
        </p:spPr>
        <p:txBody>
          <a:bodyPr wrap="square" lIns="0" tIns="0" rIns="0" bIns="0" rtlCol="0" anchor="ctr"/>
          <a:lstStyle/>
          <a:p>
            <a:pPr algn="ctr" indent="0" marL="0">
              <a:buNone/>
            </a:pPr>
            <a:r>
              <a:rPr lang="en-US" sz="1100" b="1" dirty="0">
                <a:solidFill>
                  <a:srgbClr val="02A37A"/>
                </a:solidFill>
                <a:latin typeface="Calibri" pitchFamily="34" charset="0"/>
                <a:ea typeface="Calibri" pitchFamily="34" charset="-122"/>
                <a:cs typeface="Calibri" pitchFamily="34" charset="-120"/>
              </a:rPr>
              <a:t>removes ~33 ms</a:t>
            </a:r>
            <a:endParaRPr lang="en-US" sz="1100" dirty="0"/>
          </a:p>
        </p:txBody>
      </p:sp>
      <p:sp>
        <p:nvSpPr>
          <p:cNvPr id="11" name="Shape 9"/>
          <p:cNvSpPr/>
          <p:nvPr/>
        </p:nvSpPr>
        <p:spPr>
          <a:xfrm>
            <a:off x="548640" y="2606040"/>
            <a:ext cx="11109960" cy="1024128"/>
          </a:xfrm>
          <a:prstGeom prst="roundRect">
            <a:avLst>
              <a:gd name="adj" fmla="val 5357"/>
            </a:avLst>
          </a:prstGeom>
          <a:solidFill>
            <a:srgbClr val="F2F5FA"/>
          </a:solidFill>
          <a:ln w="12700">
            <a:solidFill>
              <a:srgbClr val="D3DCEA"/>
            </a:solidFill>
            <a:prstDash val="solid"/>
          </a:ln>
        </p:spPr>
      </p:sp>
      <p:sp>
        <p:nvSpPr>
          <p:cNvPr id="12" name="Shape 10"/>
          <p:cNvSpPr/>
          <p:nvPr/>
        </p:nvSpPr>
        <p:spPr>
          <a:xfrm>
            <a:off x="804672" y="2916936"/>
            <a:ext cx="402336" cy="402336"/>
          </a:xfrm>
          <a:prstGeom prst="ellipse">
            <a:avLst/>
          </a:prstGeom>
          <a:solidFill>
            <a:srgbClr val="02A37A"/>
          </a:solidFill>
          <a:ln w="12700">
            <a:solidFill>
              <a:srgbClr val="02A37A"/>
            </a:solidFill>
            <a:prstDash val="solid"/>
          </a:ln>
        </p:spPr>
      </p:sp>
      <p:sp>
        <p:nvSpPr>
          <p:cNvPr id="13" name="Text 11"/>
          <p:cNvSpPr/>
          <p:nvPr/>
        </p:nvSpPr>
        <p:spPr>
          <a:xfrm>
            <a:off x="804672" y="29169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1371600" y="2770632"/>
            <a:ext cx="7680960" cy="310896"/>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Publish the panorama modes every frame</a:t>
            </a:r>
            <a:endParaRPr lang="en-US" sz="1400" dirty="0"/>
          </a:p>
        </p:txBody>
      </p:sp>
      <p:sp>
        <p:nvSpPr>
          <p:cNvPr id="15" name="Text 13"/>
          <p:cNvSpPr/>
          <p:nvPr/>
        </p:nvSpPr>
        <p:spPr>
          <a:xfrm>
            <a:off x="1371600" y="3090672"/>
            <a:ext cx="7772400" cy="45720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The single-camera modes already achieve 30 new frames per second. Bringing the panorama modes to the same rate removes their extra 33 ms of staleness, and in EO panorama stops half the camera output being discarded.</a:t>
            </a:r>
            <a:endParaRPr lang="en-US" sz="1150" dirty="0"/>
          </a:p>
        </p:txBody>
      </p:sp>
      <p:sp>
        <p:nvSpPr>
          <p:cNvPr id="16" name="Shape 14"/>
          <p:cNvSpPr/>
          <p:nvPr/>
        </p:nvSpPr>
        <p:spPr>
          <a:xfrm>
            <a:off x="9464040" y="2916936"/>
            <a:ext cx="1920240" cy="420624"/>
          </a:xfrm>
          <a:prstGeom prst="roundRect">
            <a:avLst>
              <a:gd name="adj" fmla="val 17391"/>
            </a:avLst>
          </a:prstGeom>
          <a:solidFill>
            <a:srgbClr val="FFFFFF"/>
          </a:solidFill>
          <a:ln w="15875">
            <a:solidFill>
              <a:srgbClr val="02A37A"/>
            </a:solidFill>
            <a:prstDash val="solid"/>
          </a:ln>
        </p:spPr>
      </p:sp>
      <p:sp>
        <p:nvSpPr>
          <p:cNvPr id="17" name="Text 15"/>
          <p:cNvSpPr/>
          <p:nvPr/>
        </p:nvSpPr>
        <p:spPr>
          <a:xfrm>
            <a:off x="9464040" y="2916936"/>
            <a:ext cx="1920240" cy="420624"/>
          </a:xfrm>
          <a:prstGeom prst="rect">
            <a:avLst/>
          </a:prstGeom>
          <a:noFill/>
          <a:ln/>
        </p:spPr>
        <p:txBody>
          <a:bodyPr wrap="square" lIns="0" tIns="0" rIns="0" bIns="0" rtlCol="0" anchor="ctr"/>
          <a:lstStyle/>
          <a:p>
            <a:pPr algn="ctr" indent="0" marL="0">
              <a:buNone/>
            </a:pPr>
            <a:r>
              <a:rPr lang="en-US" sz="1100" b="1" dirty="0">
                <a:solidFill>
                  <a:srgbClr val="02A37A"/>
                </a:solidFill>
                <a:latin typeface="Calibri" pitchFamily="34" charset="0"/>
                <a:ea typeface="Calibri" pitchFamily="34" charset="-122"/>
                <a:cs typeface="Calibri" pitchFamily="34" charset="-120"/>
              </a:rPr>
              <a:t>removes ~33 ms</a:t>
            </a:r>
            <a:endParaRPr lang="en-US" sz="1100" dirty="0"/>
          </a:p>
        </p:txBody>
      </p:sp>
      <p:sp>
        <p:nvSpPr>
          <p:cNvPr id="18" name="Shape 16"/>
          <p:cNvSpPr/>
          <p:nvPr/>
        </p:nvSpPr>
        <p:spPr>
          <a:xfrm>
            <a:off x="548640" y="3794760"/>
            <a:ext cx="11109960" cy="1024128"/>
          </a:xfrm>
          <a:prstGeom prst="roundRect">
            <a:avLst>
              <a:gd name="adj" fmla="val 5357"/>
            </a:avLst>
          </a:prstGeom>
          <a:solidFill>
            <a:srgbClr val="F2F5FA"/>
          </a:solidFill>
          <a:ln w="12700">
            <a:solidFill>
              <a:srgbClr val="D3DCEA"/>
            </a:solidFill>
            <a:prstDash val="solid"/>
          </a:ln>
        </p:spPr>
      </p:sp>
      <p:sp>
        <p:nvSpPr>
          <p:cNvPr id="19" name="Shape 17"/>
          <p:cNvSpPr/>
          <p:nvPr/>
        </p:nvSpPr>
        <p:spPr>
          <a:xfrm>
            <a:off x="804672" y="4105656"/>
            <a:ext cx="402336" cy="402336"/>
          </a:xfrm>
          <a:prstGeom prst="ellipse">
            <a:avLst/>
          </a:prstGeom>
          <a:solidFill>
            <a:srgbClr val="C2A33B"/>
          </a:solidFill>
          <a:ln w="12700">
            <a:solidFill>
              <a:srgbClr val="C2A33B"/>
            </a:solidFill>
            <a:prstDash val="solid"/>
          </a:ln>
        </p:spPr>
      </p:sp>
      <p:sp>
        <p:nvSpPr>
          <p:cNvPr id="20" name="Text 18"/>
          <p:cNvSpPr/>
          <p:nvPr/>
        </p:nvSpPr>
        <p:spPr>
          <a:xfrm>
            <a:off x="804672" y="41056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p:nvPr/>
        </p:nvSpPr>
        <p:spPr>
          <a:xfrm>
            <a:off x="1371600" y="3959352"/>
            <a:ext cx="7680960" cy="310896"/>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Genlock the EO cameras</a:t>
            </a:r>
            <a:endParaRPr lang="en-US" sz="1400" dirty="0"/>
          </a:p>
        </p:txBody>
      </p:sp>
      <p:sp>
        <p:nvSpPr>
          <p:cNvPr id="22" name="Text 20"/>
          <p:cNvSpPr/>
          <p:nvPr/>
        </p:nvSpPr>
        <p:spPr>
          <a:xfrm>
            <a:off x="1371600" y="4279392"/>
            <a:ext cx="7772400" cy="45720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Would remove the alignment wait on EO panorama. Requires camera support that the current EO units do not offer.</a:t>
            </a:r>
            <a:endParaRPr lang="en-US" sz="1150" dirty="0"/>
          </a:p>
        </p:txBody>
      </p:sp>
      <p:sp>
        <p:nvSpPr>
          <p:cNvPr id="23" name="Shape 21"/>
          <p:cNvSpPr/>
          <p:nvPr/>
        </p:nvSpPr>
        <p:spPr>
          <a:xfrm>
            <a:off x="9464040" y="4105656"/>
            <a:ext cx="1920240" cy="420624"/>
          </a:xfrm>
          <a:prstGeom prst="roundRect">
            <a:avLst>
              <a:gd name="adj" fmla="val 17391"/>
            </a:avLst>
          </a:prstGeom>
          <a:solidFill>
            <a:srgbClr val="FFFFFF"/>
          </a:solidFill>
          <a:ln w="15875">
            <a:solidFill>
              <a:srgbClr val="C2A33B"/>
            </a:solidFill>
            <a:prstDash val="solid"/>
          </a:ln>
        </p:spPr>
      </p:sp>
      <p:sp>
        <p:nvSpPr>
          <p:cNvPr id="24" name="Text 22"/>
          <p:cNvSpPr/>
          <p:nvPr/>
        </p:nvSpPr>
        <p:spPr>
          <a:xfrm>
            <a:off x="9464040" y="4105656"/>
            <a:ext cx="1920240" cy="420624"/>
          </a:xfrm>
          <a:prstGeom prst="rect">
            <a:avLst/>
          </a:prstGeom>
          <a:noFill/>
          <a:ln/>
        </p:spPr>
        <p:txBody>
          <a:bodyPr wrap="square" lIns="0" tIns="0" rIns="0" bIns="0" rtlCol="0" anchor="ctr"/>
          <a:lstStyle/>
          <a:p>
            <a:pPr algn="ctr" indent="0" marL="0">
              <a:buNone/>
            </a:pPr>
            <a:r>
              <a:rPr lang="en-US" sz="1100" b="1" dirty="0">
                <a:solidFill>
                  <a:srgbClr val="C2A33B"/>
                </a:solidFill>
                <a:latin typeface="Calibri" pitchFamily="34" charset="0"/>
                <a:ea typeface="Calibri" pitchFamily="34" charset="-122"/>
                <a:cs typeface="Calibri" pitchFamily="34" charset="-120"/>
              </a:rPr>
              <a:t>removes ~17 ms</a:t>
            </a:r>
            <a:endParaRPr lang="en-US" sz="1100" dirty="0"/>
          </a:p>
        </p:txBody>
      </p:sp>
      <p:sp>
        <p:nvSpPr>
          <p:cNvPr id="25" name="Shape 23"/>
          <p:cNvSpPr/>
          <p:nvPr/>
        </p:nvSpPr>
        <p:spPr>
          <a:xfrm>
            <a:off x="548640" y="4983480"/>
            <a:ext cx="11109960" cy="1024128"/>
          </a:xfrm>
          <a:prstGeom prst="roundRect">
            <a:avLst>
              <a:gd name="adj" fmla="val 5357"/>
            </a:avLst>
          </a:prstGeom>
          <a:solidFill>
            <a:srgbClr val="F2F5FA"/>
          </a:solidFill>
          <a:ln w="12700">
            <a:solidFill>
              <a:srgbClr val="D3DCEA"/>
            </a:solidFill>
            <a:prstDash val="solid"/>
          </a:ln>
        </p:spPr>
      </p:sp>
      <p:sp>
        <p:nvSpPr>
          <p:cNvPr id="26" name="Shape 24"/>
          <p:cNvSpPr/>
          <p:nvPr/>
        </p:nvSpPr>
        <p:spPr>
          <a:xfrm>
            <a:off x="804672" y="5294376"/>
            <a:ext cx="402336" cy="402336"/>
          </a:xfrm>
          <a:prstGeom prst="ellipse">
            <a:avLst/>
          </a:prstGeom>
          <a:solidFill>
            <a:srgbClr val="6B7C97"/>
          </a:solidFill>
          <a:ln w="12700">
            <a:solidFill>
              <a:srgbClr val="6B7C97"/>
            </a:solidFill>
            <a:prstDash val="solid"/>
          </a:ln>
        </p:spPr>
      </p:sp>
      <p:sp>
        <p:nvSpPr>
          <p:cNvPr id="27" name="Text 25"/>
          <p:cNvSpPr/>
          <p:nvPr/>
        </p:nvSpPr>
        <p:spPr>
          <a:xfrm>
            <a:off x="804672" y="529437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6"/>
          <p:cNvSpPr/>
          <p:nvPr/>
        </p:nvSpPr>
        <p:spPr>
          <a:xfrm>
            <a:off x="1371600" y="5148072"/>
            <a:ext cx="7680960" cy="310896"/>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Output stage</a:t>
            </a:r>
            <a:endParaRPr lang="en-US" sz="1400" dirty="0"/>
          </a:p>
        </p:txBody>
      </p:sp>
      <p:sp>
        <p:nvSpPr>
          <p:cNvPr id="29" name="Text 27"/>
          <p:cNvSpPr/>
          <p:nvPr/>
        </p:nvSpPr>
        <p:spPr>
          <a:xfrm>
            <a:off x="1371600" y="5468112"/>
            <a:ext cx="7772400" cy="45720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Commit and scan-out are fixed by driving a 30 Hz raster from a frame store. Only a change of output format would reduce this.</a:t>
            </a:r>
            <a:endParaRPr lang="en-US" sz="1150" dirty="0"/>
          </a:p>
        </p:txBody>
      </p:sp>
      <p:sp>
        <p:nvSpPr>
          <p:cNvPr id="30" name="Shape 28"/>
          <p:cNvSpPr/>
          <p:nvPr/>
        </p:nvSpPr>
        <p:spPr>
          <a:xfrm>
            <a:off x="9464040" y="5294376"/>
            <a:ext cx="1920240" cy="420624"/>
          </a:xfrm>
          <a:prstGeom prst="roundRect">
            <a:avLst>
              <a:gd name="adj" fmla="val 17391"/>
            </a:avLst>
          </a:prstGeom>
          <a:solidFill>
            <a:srgbClr val="FFFFFF"/>
          </a:solidFill>
          <a:ln w="15875">
            <a:solidFill>
              <a:srgbClr val="6B7C97"/>
            </a:solidFill>
            <a:prstDash val="solid"/>
          </a:ln>
        </p:spPr>
      </p:sp>
      <p:sp>
        <p:nvSpPr>
          <p:cNvPr id="31" name="Text 29"/>
          <p:cNvSpPr/>
          <p:nvPr/>
        </p:nvSpPr>
        <p:spPr>
          <a:xfrm>
            <a:off x="9464040" y="5294376"/>
            <a:ext cx="1920240" cy="420624"/>
          </a:xfrm>
          <a:prstGeom prst="rect">
            <a:avLst/>
          </a:prstGeom>
          <a:noFill/>
          <a:ln/>
        </p:spPr>
        <p:txBody>
          <a:bodyPr wrap="square" lIns="0" tIns="0" rIns="0" bIns="0" rtlCol="0" anchor="ctr"/>
          <a:lstStyle/>
          <a:p>
            <a:pPr algn="ctr" indent="0" marL="0">
              <a:buNone/>
            </a:pPr>
            <a:r>
              <a:rPr lang="en-US" sz="1100" b="1" dirty="0">
                <a:solidFill>
                  <a:srgbClr val="6B7C97"/>
                </a:solidFill>
                <a:latin typeface="Calibri" pitchFamily="34" charset="0"/>
                <a:ea typeface="Calibri" pitchFamily="34" charset="-122"/>
                <a:cs typeface="Calibri" pitchFamily="34" charset="-120"/>
              </a:rPr>
              <a:t>floor: ~33 ms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ASSURANCE</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Basis of these numbers</a:t>
            </a:r>
            <a:endParaRPr lang="en-US" sz="3200" dirty="0"/>
          </a:p>
        </p:txBody>
      </p:sp>
      <p:sp>
        <p:nvSpPr>
          <p:cNvPr id="4" name="Text 2"/>
          <p:cNvSpPr/>
          <p:nvPr/>
        </p:nvSpPr>
        <p:spPr>
          <a:xfrm>
            <a:off x="548640" y="1298448"/>
            <a:ext cx="11064240" cy="329184"/>
          </a:xfrm>
          <a:prstGeom prst="rect">
            <a:avLst/>
          </a:prstGeom>
          <a:noFill/>
          <a:ln/>
        </p:spPr>
        <p:txBody>
          <a:bodyPr wrap="square" lIns="0" tIns="0" rIns="0" bIns="0" rtlCol="0" anchor="ctr"/>
          <a:lstStyle/>
          <a:p>
            <a:pPr indent="0" marL="0">
              <a:buNone/>
            </a:pPr>
            <a:r>
              <a:rPr lang="en-US" sz="1300" i="1" dirty="0">
                <a:solidFill>
                  <a:srgbClr val="6B7C97"/>
                </a:solidFill>
                <a:latin typeface="Calibri" pitchFamily="34" charset="0"/>
                <a:ea typeface="Calibri" pitchFamily="34" charset="-122"/>
                <a:cs typeface="Calibri" pitchFamily="34" charset="-120"/>
              </a:rPr>
              <a:t>Revised 2026-08-19: the figures below replace an earlier derived set, which overstated the EO latencies by 30 to 50 ms.</a:t>
            </a:r>
            <a:endParaRPr lang="en-US" sz="1300" dirty="0"/>
          </a:p>
        </p:txBody>
      </p:sp>
      <p:sp>
        <p:nvSpPr>
          <p:cNvPr id="5" name="Shape 3"/>
          <p:cNvSpPr/>
          <p:nvPr/>
        </p:nvSpPr>
        <p:spPr>
          <a:xfrm>
            <a:off x="548640" y="1783080"/>
            <a:ext cx="3547872" cy="2743200"/>
          </a:xfrm>
          <a:prstGeom prst="roundRect">
            <a:avLst>
              <a:gd name="adj" fmla="val 2000"/>
            </a:avLst>
          </a:prstGeom>
          <a:solidFill>
            <a:srgbClr val="FFFFFF"/>
          </a:solidFill>
          <a:ln w="19050">
            <a:solidFill>
              <a:srgbClr val="02A37A"/>
            </a:solidFill>
            <a:prstDash val="solid"/>
          </a:ln>
        </p:spPr>
      </p:sp>
      <p:sp>
        <p:nvSpPr>
          <p:cNvPr id="6" name="Shape 4"/>
          <p:cNvSpPr/>
          <p:nvPr/>
        </p:nvSpPr>
        <p:spPr>
          <a:xfrm>
            <a:off x="804672" y="2029968"/>
            <a:ext cx="310896" cy="310896"/>
          </a:xfrm>
          <a:prstGeom prst="ellipse">
            <a:avLst/>
          </a:prstGeom>
          <a:solidFill>
            <a:srgbClr val="02A37A"/>
          </a:solidFill>
          <a:ln w="12700">
            <a:solidFill>
              <a:srgbClr val="02A37A"/>
            </a:solidFill>
            <a:prstDash val="solid"/>
          </a:ln>
        </p:spPr>
      </p:sp>
      <p:sp>
        <p:nvSpPr>
          <p:cNvPr id="7" name="Text 5"/>
          <p:cNvSpPr/>
          <p:nvPr/>
        </p:nvSpPr>
        <p:spPr>
          <a:xfrm>
            <a:off x="1225296" y="2011680"/>
            <a:ext cx="2743200" cy="347472"/>
          </a:xfrm>
          <a:prstGeom prst="rect">
            <a:avLst/>
          </a:prstGeom>
          <a:noFill/>
          <a:ln/>
        </p:spPr>
        <p:txBody>
          <a:bodyPr wrap="square" lIns="0" tIns="0" rIns="0" bIns="0" rtlCol="0" anchor="ctr"/>
          <a:lstStyle/>
          <a:p>
            <a:pPr indent="0" marL="0">
              <a:buNone/>
            </a:pPr>
            <a:r>
              <a:rPr lang="en-US" sz="1350" b="1" dirty="0">
                <a:solidFill>
                  <a:srgbClr val="0E1C36"/>
                </a:solidFill>
                <a:latin typeface="Calibri" pitchFamily="34" charset="0"/>
                <a:ea typeface="Calibri" pitchFamily="34" charset="-122"/>
                <a:cs typeface="Calibri" pitchFamily="34" charset="-120"/>
              </a:rPr>
              <a:t>Measured on hardware</a:t>
            </a:r>
            <a:endParaRPr lang="en-US" sz="1350" dirty="0"/>
          </a:p>
        </p:txBody>
      </p:sp>
      <p:sp>
        <p:nvSpPr>
          <p:cNvPr id="8" name="Text 6"/>
          <p:cNvSpPr/>
          <p:nvPr/>
        </p:nvSpPr>
        <p:spPr>
          <a:xfrm>
            <a:off x="822960" y="2514600"/>
            <a:ext cx="3017520" cy="192024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Frame rates and latency from a timing block in the FPGA, since a debug capture window is 8.8 us and cannot see a 33 ms interval</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That block is itself calibrated against known intervals before being trusted</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Publication rates counted over a full minute, not inferred from one interval</a:t>
            </a:r>
            <a:endParaRPr lang="en-US" sz="1100" dirty="0"/>
          </a:p>
        </p:txBody>
      </p:sp>
      <p:sp>
        <p:nvSpPr>
          <p:cNvPr id="9" name="Shape 7"/>
          <p:cNvSpPr/>
          <p:nvPr/>
        </p:nvSpPr>
        <p:spPr>
          <a:xfrm>
            <a:off x="4325112" y="1783080"/>
            <a:ext cx="3547872" cy="2743200"/>
          </a:xfrm>
          <a:prstGeom prst="roundRect">
            <a:avLst>
              <a:gd name="adj" fmla="val 2000"/>
            </a:avLst>
          </a:prstGeom>
          <a:solidFill>
            <a:srgbClr val="FFFFFF"/>
          </a:solidFill>
          <a:ln w="19050">
            <a:solidFill>
              <a:srgbClr val="1C7293"/>
            </a:solidFill>
            <a:prstDash val="solid"/>
          </a:ln>
        </p:spPr>
      </p:sp>
      <p:sp>
        <p:nvSpPr>
          <p:cNvPr id="10" name="Shape 8"/>
          <p:cNvSpPr/>
          <p:nvPr/>
        </p:nvSpPr>
        <p:spPr>
          <a:xfrm>
            <a:off x="4581144" y="2029968"/>
            <a:ext cx="310896" cy="310896"/>
          </a:xfrm>
          <a:prstGeom prst="ellipse">
            <a:avLst/>
          </a:prstGeom>
          <a:solidFill>
            <a:srgbClr val="1C7293"/>
          </a:solidFill>
          <a:ln w="12700">
            <a:solidFill>
              <a:srgbClr val="1C7293"/>
            </a:solidFill>
            <a:prstDash val="solid"/>
          </a:ln>
        </p:spPr>
      </p:sp>
      <p:sp>
        <p:nvSpPr>
          <p:cNvPr id="11" name="Text 9"/>
          <p:cNvSpPr/>
          <p:nvPr/>
        </p:nvSpPr>
        <p:spPr>
          <a:xfrm>
            <a:off x="5001768" y="2011680"/>
            <a:ext cx="2743200" cy="347472"/>
          </a:xfrm>
          <a:prstGeom prst="rect">
            <a:avLst/>
          </a:prstGeom>
          <a:noFill/>
          <a:ln/>
        </p:spPr>
        <p:txBody>
          <a:bodyPr wrap="square" lIns="0" tIns="0" rIns="0" bIns="0" rtlCol="0" anchor="ctr"/>
          <a:lstStyle/>
          <a:p>
            <a:pPr indent="0" marL="0">
              <a:buNone/>
            </a:pPr>
            <a:r>
              <a:rPr lang="en-US" sz="1350" b="1" dirty="0">
                <a:solidFill>
                  <a:srgbClr val="0E1C36"/>
                </a:solidFill>
                <a:latin typeface="Calibri" pitchFamily="34" charset="0"/>
                <a:ea typeface="Calibri" pitchFamily="34" charset="-122"/>
                <a:cs typeface="Calibri" pitchFamily="34" charset="-120"/>
              </a:rPr>
              <a:t>Design constants</a:t>
            </a:r>
            <a:endParaRPr lang="en-US" sz="1350" dirty="0"/>
          </a:p>
        </p:txBody>
      </p:sp>
      <p:sp>
        <p:nvSpPr>
          <p:cNvPr id="12" name="Text 10"/>
          <p:cNvSpPr/>
          <p:nvPr/>
        </p:nvSpPr>
        <p:spPr>
          <a:xfrm>
            <a:off x="4599432" y="2514600"/>
            <a:ext cx="3017520" cy="192024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Output frame period 33.33 ms</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Camera formats and frame rates</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Read directly from the design and its generated geometry tables</a:t>
            </a:r>
            <a:endParaRPr lang="en-US" sz="1100" dirty="0"/>
          </a:p>
        </p:txBody>
      </p:sp>
      <p:sp>
        <p:nvSpPr>
          <p:cNvPr id="13" name="Shape 11"/>
          <p:cNvSpPr/>
          <p:nvPr/>
        </p:nvSpPr>
        <p:spPr>
          <a:xfrm>
            <a:off x="8101584" y="1783080"/>
            <a:ext cx="3547872" cy="2743200"/>
          </a:xfrm>
          <a:prstGeom prst="roundRect">
            <a:avLst>
              <a:gd name="adj" fmla="val 2000"/>
            </a:avLst>
          </a:prstGeom>
          <a:solidFill>
            <a:srgbClr val="FFFFFF"/>
          </a:solidFill>
          <a:ln w="19050">
            <a:solidFill>
              <a:srgbClr val="C2A33B"/>
            </a:solidFill>
            <a:prstDash val="solid"/>
          </a:ln>
        </p:spPr>
      </p:sp>
      <p:sp>
        <p:nvSpPr>
          <p:cNvPr id="14" name="Shape 12"/>
          <p:cNvSpPr/>
          <p:nvPr/>
        </p:nvSpPr>
        <p:spPr>
          <a:xfrm>
            <a:off x="8357616" y="2029968"/>
            <a:ext cx="310896" cy="310896"/>
          </a:xfrm>
          <a:prstGeom prst="ellipse">
            <a:avLst/>
          </a:prstGeom>
          <a:solidFill>
            <a:srgbClr val="C2A33B"/>
          </a:solidFill>
          <a:ln w="12700">
            <a:solidFill>
              <a:srgbClr val="C2A33B"/>
            </a:solidFill>
            <a:prstDash val="solid"/>
          </a:ln>
        </p:spPr>
      </p:sp>
      <p:sp>
        <p:nvSpPr>
          <p:cNvPr id="15" name="Text 13"/>
          <p:cNvSpPr/>
          <p:nvPr/>
        </p:nvSpPr>
        <p:spPr>
          <a:xfrm>
            <a:off x="8778240" y="2011680"/>
            <a:ext cx="2743200" cy="347472"/>
          </a:xfrm>
          <a:prstGeom prst="rect">
            <a:avLst/>
          </a:prstGeom>
          <a:noFill/>
          <a:ln/>
        </p:spPr>
        <p:txBody>
          <a:bodyPr wrap="square" lIns="0" tIns="0" rIns="0" bIns="0" rtlCol="0" anchor="ctr"/>
          <a:lstStyle/>
          <a:p>
            <a:pPr indent="0" marL="0">
              <a:buNone/>
            </a:pPr>
            <a:r>
              <a:rPr lang="en-US" sz="1350" b="1" dirty="0">
                <a:solidFill>
                  <a:srgbClr val="0E1C36"/>
                </a:solidFill>
                <a:latin typeface="Calibri" pitchFamily="34" charset="0"/>
                <a:ea typeface="Calibri" pitchFamily="34" charset="-122"/>
                <a:cs typeface="Calibri" pitchFamily="34" charset="-120"/>
              </a:rPr>
              <a:t>Stated assumptions</a:t>
            </a:r>
            <a:endParaRPr lang="en-US" sz="1350" dirty="0"/>
          </a:p>
        </p:txBody>
      </p:sp>
      <p:sp>
        <p:nvSpPr>
          <p:cNvPr id="16" name="Text 14"/>
          <p:cNvSpPr/>
          <p:nvPr/>
        </p:nvSpPr>
        <p:spPr>
          <a:xfrm>
            <a:off x="8375904" y="2514600"/>
            <a:ext cx="3017520" cy="192024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Camera sensor and ISP delay is excluded - vendor specification</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A row's age when its frame completes, and its scan position, are quoted at their average; each ranges 0 to one frame</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EO panorama is a lower bound: the matched set displayed can be older than the frame timed from</a:t>
            </a:r>
            <a:endParaRPr lang="en-US" sz="1100" dirty="0"/>
          </a:p>
        </p:txBody>
      </p:sp>
      <p:sp>
        <p:nvSpPr>
          <p:cNvPr id="17" name="Text 15"/>
          <p:cNvSpPr/>
          <p:nvPr/>
        </p:nvSpPr>
        <p:spPr>
          <a:xfrm>
            <a:off x="548640" y="4773168"/>
            <a:ext cx="11109960" cy="457200"/>
          </a:xfrm>
          <a:prstGeom prst="rect">
            <a:avLst/>
          </a:prstGeom>
          <a:noFill/>
          <a:ln/>
        </p:spPr>
        <p:txBody>
          <a:bodyPr wrap="square" lIns="0" tIns="0" rIns="0" bIns="0" rtlCol="0" anchor="ctr"/>
          <a:lstStyle/>
          <a:p>
            <a:pPr indent="0" marL="0">
              <a:buNone/>
            </a:pPr>
            <a:r>
              <a:rPr lang="en-US" sz="1150" i="1" dirty="0">
                <a:solidFill>
                  <a:srgbClr val="6B7C97"/>
                </a:solidFill>
                <a:latin typeface="Calibri" pitchFamily="34" charset="0"/>
                <a:ea typeface="Calibri" pitchFamily="34" charset="-122"/>
                <a:cs typeface="Calibri" pitchFamily="34" charset="-120"/>
              </a:rPr>
              <a:t>The middle term of every figure is measured inside the FPGA. An end-to-end sensor-to-display number would additionally need an external optical reference, which has not been run.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Latency Analysis</dc:title>
  <dc:subject>PptxGenJS Presentation</dc:subject>
  <dc:creator>EO/IR Panorama V19</dc:creator>
  <cp:lastModifiedBy>EO/IR Panorama V19</cp:lastModifiedBy>
  <cp:revision>1</cp:revision>
  <dcterms:created xsi:type="dcterms:W3CDTF">2026-08-19T10:46:15Z</dcterms:created>
  <dcterms:modified xsi:type="dcterms:W3CDTF">2026-08-19T10:46:15Z</dcterms:modified>
</cp:coreProperties>
</file>