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for the single-camera modes, where output row r comes from source row r. In the panorama modes the warp lets a source row land within a band of output rows, so the cancellation is approximate - bounded by the row-window span of about 13 source rows, under 0.5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IR panorama reference event read 15 Hz in that capture where the genlock says 30 - already recorded as untrustworthy in MEASURED_20260819. Re-measuring latency on the IR-DDR branch needs the timing probe ported to it; that branch has never carried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36"/>
        </a:solidFill>
      </p:bgPr>
    </p:bg>
    <p:spTree>
      <p:nvGrpSpPr>
        <p:cNvPr id="1" name=""/>
        <p:cNvGrpSpPr/>
        <p:nvPr/>
      </p:nvGrpSpPr>
      <p:grpSpPr>
        <a:xfrm>
          <a:off x="0" y="0"/>
          <a:ext cx="0" cy="0"/>
          <a:chOff x="0" y="0"/>
          <a:chExt cx="0" cy="0"/>
        </a:xfrm>
      </p:grpSpPr>
      <p:sp>
        <p:nvSpPr>
          <p:cNvPr id="2" name="Text 0"/>
          <p:cNvSpPr/>
          <p:nvPr/>
        </p:nvSpPr>
        <p:spPr>
          <a:xfrm>
            <a:off x="822960" y="1874520"/>
            <a:ext cx="1051560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Latency and Frame Rate</a:t>
            </a:r>
            <a:endParaRPr lang="en-US" sz="4600" dirty="0"/>
          </a:p>
        </p:txBody>
      </p:sp>
      <p:sp>
        <p:nvSpPr>
          <p:cNvPr id="3" name="Text 1"/>
          <p:cNvSpPr/>
          <p:nvPr/>
        </p:nvSpPr>
        <p:spPr>
          <a:xfrm>
            <a:off x="822960" y="2743200"/>
            <a:ext cx="10515600" cy="402336"/>
          </a:xfrm>
          <a:prstGeom prst="rect">
            <a:avLst/>
          </a:prstGeom>
          <a:noFill/>
          <a:ln/>
        </p:spPr>
        <p:txBody>
          <a:bodyPr wrap="square" lIns="0" tIns="0" rIns="0" bIns="0" rtlCol="0" anchor="ctr"/>
          <a:lstStyle/>
          <a:p>
            <a:pPr indent="0" marL="0">
              <a:buNone/>
            </a:pPr>
            <a:r>
              <a:rPr lang="en-US" sz="1900" dirty="0">
                <a:solidFill>
                  <a:srgbClr val="9FB4D4"/>
                </a:solidFill>
                <a:latin typeface="Calibri" pitchFamily="34" charset="0"/>
                <a:ea typeface="Calibri" pitchFamily="34" charset="-122"/>
                <a:cs typeface="Calibri" pitchFamily="34" charset="-120"/>
              </a:rPr>
              <a:t>Six-camera EO / IR panorama  ·  V19 Milestone 1</a:t>
            </a:r>
            <a:endParaRPr lang="en-US" sz="1900" dirty="0"/>
          </a:p>
        </p:txBody>
      </p:sp>
      <p:sp>
        <p:nvSpPr>
          <p:cNvPr id="4" name="Text 2"/>
          <p:cNvSpPr/>
          <p:nvPr/>
        </p:nvSpPr>
        <p:spPr>
          <a:xfrm>
            <a:off x="822960" y="3310128"/>
            <a:ext cx="9509760" cy="640080"/>
          </a:xfrm>
          <a:prstGeom prst="rect">
            <a:avLst/>
          </a:prstGeom>
          <a:noFill/>
          <a:ln/>
        </p:spPr>
        <p:txBody>
          <a:bodyPr wrap="square" lIns="0" tIns="0" rIns="0" bIns="0" rtlCol="0" anchor="ctr"/>
          <a:lstStyle/>
          <a:p>
            <a:pPr indent="0" marL="0">
              <a:buNone/>
            </a:pPr>
            <a:r>
              <a:rPr lang="en-US" sz="1350" dirty="0">
                <a:solidFill>
                  <a:srgbClr val="7E93B5"/>
                </a:solidFill>
                <a:latin typeface="Calibri" pitchFamily="34" charset="0"/>
                <a:ea typeface="Calibri" pitchFamily="34" charset="-122"/>
                <a:cs typeface="Calibri" pitchFamily="34" charset="-120"/>
              </a:rPr>
              <a:t>Measured three independent ways: the RTL and its simulation, an in-fabric timing probe read over JTAG, and the SDI output captured and analysed frame by frame.</a:t>
            </a:r>
            <a:endParaRPr lang="en-US" sz="1350" dirty="0"/>
          </a:p>
        </p:txBody>
      </p:sp>
      <p:sp>
        <p:nvSpPr>
          <p:cNvPr id="5" name="Shape 3"/>
          <p:cNvSpPr/>
          <p:nvPr/>
        </p:nvSpPr>
        <p:spPr>
          <a:xfrm>
            <a:off x="822960" y="4572000"/>
            <a:ext cx="3017520" cy="603504"/>
          </a:xfrm>
          <a:prstGeom prst="roundRect">
            <a:avLst>
              <a:gd name="adj" fmla="val 12121"/>
            </a:avLst>
          </a:prstGeom>
          <a:solidFill>
            <a:srgbClr val="16294A"/>
          </a:solidFill>
          <a:ln w="17780">
            <a:solidFill>
              <a:srgbClr val="1C7293"/>
            </a:solidFill>
            <a:prstDash val="solid"/>
          </a:ln>
        </p:spPr>
      </p:sp>
      <p:sp>
        <p:nvSpPr>
          <p:cNvPr id="6" name="Text 4"/>
          <p:cNvSpPr/>
          <p:nvPr/>
        </p:nvSpPr>
        <p:spPr>
          <a:xfrm>
            <a:off x="822960" y="4572000"/>
            <a:ext cx="301752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RTL + simulation</a:t>
            </a:r>
            <a:endParaRPr lang="en-US" sz="1250" dirty="0"/>
          </a:p>
        </p:txBody>
      </p:sp>
      <p:sp>
        <p:nvSpPr>
          <p:cNvPr id="7" name="Shape 5"/>
          <p:cNvSpPr/>
          <p:nvPr/>
        </p:nvSpPr>
        <p:spPr>
          <a:xfrm>
            <a:off x="4114800" y="4572000"/>
            <a:ext cx="3017520" cy="603504"/>
          </a:xfrm>
          <a:prstGeom prst="roundRect">
            <a:avLst>
              <a:gd name="adj" fmla="val 12121"/>
            </a:avLst>
          </a:prstGeom>
          <a:solidFill>
            <a:srgbClr val="16294A"/>
          </a:solidFill>
          <a:ln w="17780">
            <a:solidFill>
              <a:srgbClr val="C2A33B"/>
            </a:solidFill>
            <a:prstDash val="solid"/>
          </a:ln>
        </p:spPr>
      </p:sp>
      <p:sp>
        <p:nvSpPr>
          <p:cNvPr id="8" name="Text 6"/>
          <p:cNvSpPr/>
          <p:nvPr/>
        </p:nvSpPr>
        <p:spPr>
          <a:xfrm>
            <a:off x="4114800" y="4572000"/>
            <a:ext cx="301752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ILA / in-fabric probe</a:t>
            </a:r>
            <a:endParaRPr lang="en-US" sz="1250" dirty="0"/>
          </a:p>
        </p:txBody>
      </p:sp>
      <p:sp>
        <p:nvSpPr>
          <p:cNvPr id="9" name="Shape 7"/>
          <p:cNvSpPr/>
          <p:nvPr/>
        </p:nvSpPr>
        <p:spPr>
          <a:xfrm>
            <a:off x="7406640" y="4572000"/>
            <a:ext cx="3017520" cy="603504"/>
          </a:xfrm>
          <a:prstGeom prst="roundRect">
            <a:avLst>
              <a:gd name="adj" fmla="val 12121"/>
            </a:avLst>
          </a:prstGeom>
          <a:solidFill>
            <a:srgbClr val="16294A"/>
          </a:solidFill>
          <a:ln w="17780">
            <a:solidFill>
              <a:srgbClr val="02A37A"/>
            </a:solidFill>
            <a:prstDash val="solid"/>
          </a:ln>
        </p:spPr>
      </p:sp>
      <p:sp>
        <p:nvSpPr>
          <p:cNvPr id="10" name="Text 8"/>
          <p:cNvSpPr/>
          <p:nvPr/>
        </p:nvSpPr>
        <p:spPr>
          <a:xfrm>
            <a:off x="7406640" y="4572000"/>
            <a:ext cx="301752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Optical capture (Python)</a:t>
            </a:r>
            <a:endParaRPr lang="en-US" sz="1250" dirty="0"/>
          </a:p>
        </p:txBody>
      </p:sp>
      <p:sp>
        <p:nvSpPr>
          <p:cNvPr id="11" name="Text 9"/>
          <p:cNvSpPr/>
          <p:nvPr/>
        </p:nvSpPr>
        <p:spPr>
          <a:xfrm>
            <a:off x="822960" y="5897880"/>
            <a:ext cx="3657600" cy="274320"/>
          </a:xfrm>
          <a:prstGeom prst="rect">
            <a:avLst/>
          </a:prstGeom>
          <a:noFill/>
          <a:ln/>
        </p:spPr>
        <p:txBody>
          <a:bodyPr wrap="square" lIns="0" tIns="0" rIns="0" bIns="0" rtlCol="0" anchor="ctr"/>
          <a:lstStyle/>
          <a:p>
            <a:pPr indent="0" marL="0">
              <a:buNone/>
            </a:pPr>
            <a:r>
              <a:rPr lang="en-US" sz="1100" dirty="0">
                <a:solidFill>
                  <a:srgbClr val="6B7C97"/>
                </a:solidFill>
                <a:latin typeface="Calibri" pitchFamily="34" charset="0"/>
                <a:ea typeface="Calibri" pitchFamily="34" charset="-122"/>
                <a:cs typeface="Calibri" pitchFamily="34" charset="-120"/>
              </a:rPr>
              <a:t>2026-08-20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What the system does today</a:t>
            </a:r>
            <a:endParaRPr lang="en-US" sz="3000" dirty="0"/>
          </a:p>
        </p:txBody>
      </p:sp>
      <p:sp>
        <p:nvSpPr>
          <p:cNvPr id="4" name="Shape 2"/>
          <p:cNvSpPr/>
          <p:nvPr/>
        </p:nvSpPr>
        <p:spPr>
          <a:xfrm>
            <a:off x="548640" y="1234440"/>
            <a:ext cx="2212848" cy="1298448"/>
          </a:xfrm>
          <a:prstGeom prst="roundRect">
            <a:avLst>
              <a:gd name="adj" fmla="val 4225"/>
            </a:avLst>
          </a:prstGeom>
          <a:solidFill>
            <a:srgbClr val="F2F5FA"/>
          </a:solidFill>
          <a:ln w="12700">
            <a:solidFill>
              <a:srgbClr val="D3DCEA"/>
            </a:solidFill>
            <a:prstDash val="solid"/>
          </a:ln>
        </p:spPr>
      </p:sp>
      <p:sp>
        <p:nvSpPr>
          <p:cNvPr id="5" name="Text 3"/>
          <p:cNvSpPr/>
          <p:nvPr/>
        </p:nvSpPr>
        <p:spPr>
          <a:xfrm>
            <a:off x="603504" y="1362456"/>
            <a:ext cx="2103120" cy="603504"/>
          </a:xfrm>
          <a:prstGeom prst="rect">
            <a:avLst/>
          </a:prstGeom>
          <a:noFill/>
          <a:ln/>
        </p:spPr>
        <p:txBody>
          <a:bodyPr wrap="square" lIns="0" tIns="0" rIns="0" bIns="0" rtlCol="0" anchor="ctr"/>
          <a:lstStyle/>
          <a:p>
            <a:pPr algn="ctr" indent="0" marL="0">
              <a:buNone/>
            </a:pPr>
            <a:r>
              <a:rPr lang="en-US" sz="3200" b="1" dirty="0">
                <a:solidFill>
                  <a:srgbClr val="02A37A"/>
                </a:solidFill>
                <a:latin typeface="Cambria" pitchFamily="34" charset="0"/>
                <a:ea typeface="Cambria" pitchFamily="34" charset="-122"/>
                <a:cs typeface="Cambria" pitchFamily="34" charset="-120"/>
              </a:rPr>
              <a:t>30</a:t>
            </a:r>
            <a:endParaRPr lang="en-US" sz="3200" dirty="0"/>
          </a:p>
        </p:txBody>
      </p:sp>
      <p:sp>
        <p:nvSpPr>
          <p:cNvPr id="6" name="Text 4"/>
          <p:cNvSpPr/>
          <p:nvPr/>
        </p:nvSpPr>
        <p:spPr>
          <a:xfrm>
            <a:off x="640080" y="2002536"/>
            <a:ext cx="2029968" cy="457200"/>
          </a:xfrm>
          <a:prstGeom prst="rect">
            <a:avLst/>
          </a:prstGeom>
          <a:noFill/>
          <a:ln/>
        </p:spPr>
        <p:txBody>
          <a:bodyPr wrap="square" lIns="0" tIns="0" rIns="0" bIns="0" rtlCol="0" anchor="t"/>
          <a:lstStyle/>
          <a:p>
            <a:pPr algn="ctr" indent="0" marL="0">
              <a:buNone/>
            </a:pPr>
            <a:r>
              <a:rPr lang="en-US" sz="1000" dirty="0">
                <a:solidFill>
                  <a:srgbClr val="27374F"/>
                </a:solidFill>
                <a:latin typeface="Calibri" pitchFamily="34" charset="0"/>
                <a:ea typeface="Calibri" pitchFamily="34" charset="-122"/>
                <a:cs typeface="Calibri" pitchFamily="34" charset="-120"/>
              </a:rPr>
              <a:t>frames/s published</a:t>
            </a:r>
            <a:endParaRPr lang="en-US" sz="1000" dirty="0"/>
          </a:p>
          <a:p>
            <a:pPr algn="ctr" indent="0" marL="0">
              <a:buNone/>
            </a:pPr>
            <a:r>
              <a:rPr lang="en-US" sz="1000" dirty="0">
                <a:solidFill>
                  <a:srgbClr val="27374F"/>
                </a:solidFill>
                <a:latin typeface="Calibri" pitchFamily="34" charset="0"/>
                <a:ea typeface="Calibri" pitchFamily="34" charset="-122"/>
                <a:cs typeface="Calibri" pitchFamily="34" charset="-120"/>
              </a:rPr>
              <a:t>IR single</a:t>
            </a:r>
            <a:endParaRPr lang="en-US" sz="1000" dirty="0"/>
          </a:p>
        </p:txBody>
      </p:sp>
      <p:sp>
        <p:nvSpPr>
          <p:cNvPr id="7" name="Shape 5"/>
          <p:cNvSpPr/>
          <p:nvPr/>
        </p:nvSpPr>
        <p:spPr>
          <a:xfrm>
            <a:off x="2852928" y="1234440"/>
            <a:ext cx="2212848" cy="1298448"/>
          </a:xfrm>
          <a:prstGeom prst="roundRect">
            <a:avLst>
              <a:gd name="adj" fmla="val 4225"/>
            </a:avLst>
          </a:prstGeom>
          <a:solidFill>
            <a:srgbClr val="F2F5FA"/>
          </a:solidFill>
          <a:ln w="12700">
            <a:solidFill>
              <a:srgbClr val="D3DCEA"/>
            </a:solidFill>
            <a:prstDash val="solid"/>
          </a:ln>
        </p:spPr>
      </p:sp>
      <p:sp>
        <p:nvSpPr>
          <p:cNvPr id="8" name="Text 6"/>
          <p:cNvSpPr/>
          <p:nvPr/>
        </p:nvSpPr>
        <p:spPr>
          <a:xfrm>
            <a:off x="2907792" y="1362456"/>
            <a:ext cx="2103120" cy="603504"/>
          </a:xfrm>
          <a:prstGeom prst="rect">
            <a:avLst/>
          </a:prstGeom>
          <a:noFill/>
          <a:ln/>
        </p:spPr>
        <p:txBody>
          <a:bodyPr wrap="square" lIns="0" tIns="0" rIns="0" bIns="0" rtlCol="0" anchor="ctr"/>
          <a:lstStyle/>
          <a:p>
            <a:pPr algn="ctr" indent="0" marL="0">
              <a:buNone/>
            </a:pPr>
            <a:r>
              <a:rPr lang="en-US" sz="3200" b="1" dirty="0">
                <a:solidFill>
                  <a:srgbClr val="02A37A"/>
                </a:solidFill>
                <a:latin typeface="Cambria" pitchFamily="34" charset="0"/>
                <a:ea typeface="Cambria" pitchFamily="34" charset="-122"/>
                <a:cs typeface="Cambria" pitchFamily="34" charset="-120"/>
              </a:rPr>
              <a:t>30</a:t>
            </a:r>
            <a:endParaRPr lang="en-US" sz="3200" dirty="0"/>
          </a:p>
        </p:txBody>
      </p:sp>
      <p:sp>
        <p:nvSpPr>
          <p:cNvPr id="9" name="Text 7"/>
          <p:cNvSpPr/>
          <p:nvPr/>
        </p:nvSpPr>
        <p:spPr>
          <a:xfrm>
            <a:off x="2944368" y="2002536"/>
            <a:ext cx="2029968" cy="457200"/>
          </a:xfrm>
          <a:prstGeom prst="rect">
            <a:avLst/>
          </a:prstGeom>
          <a:noFill/>
          <a:ln/>
        </p:spPr>
        <p:txBody>
          <a:bodyPr wrap="square" lIns="0" tIns="0" rIns="0" bIns="0" rtlCol="0" anchor="t"/>
          <a:lstStyle/>
          <a:p>
            <a:pPr algn="ctr" indent="0" marL="0">
              <a:buNone/>
            </a:pPr>
            <a:r>
              <a:rPr lang="en-US" sz="1000" dirty="0">
                <a:solidFill>
                  <a:srgbClr val="27374F"/>
                </a:solidFill>
                <a:latin typeface="Calibri" pitchFamily="34" charset="0"/>
                <a:ea typeface="Calibri" pitchFamily="34" charset="-122"/>
                <a:cs typeface="Calibri" pitchFamily="34" charset="-120"/>
              </a:rPr>
              <a:t>frames/s published</a:t>
            </a:r>
            <a:endParaRPr lang="en-US" sz="1000" dirty="0"/>
          </a:p>
          <a:p>
            <a:pPr algn="ctr" indent="0" marL="0">
              <a:buNone/>
            </a:pPr>
            <a:r>
              <a:rPr lang="en-US" sz="1000" dirty="0">
                <a:solidFill>
                  <a:srgbClr val="27374F"/>
                </a:solidFill>
                <a:latin typeface="Calibri" pitchFamily="34" charset="0"/>
                <a:ea typeface="Calibri" pitchFamily="34" charset="-122"/>
                <a:cs typeface="Calibri" pitchFamily="34" charset="-120"/>
              </a:rPr>
              <a:t>IR panorama</a:t>
            </a:r>
            <a:endParaRPr lang="en-US" sz="1000" dirty="0"/>
          </a:p>
        </p:txBody>
      </p:sp>
      <p:sp>
        <p:nvSpPr>
          <p:cNvPr id="10" name="Shape 8"/>
          <p:cNvSpPr/>
          <p:nvPr/>
        </p:nvSpPr>
        <p:spPr>
          <a:xfrm>
            <a:off x="5157216" y="1234440"/>
            <a:ext cx="2212848" cy="1298448"/>
          </a:xfrm>
          <a:prstGeom prst="roundRect">
            <a:avLst>
              <a:gd name="adj" fmla="val 4225"/>
            </a:avLst>
          </a:prstGeom>
          <a:solidFill>
            <a:srgbClr val="F2F5FA"/>
          </a:solidFill>
          <a:ln w="12700">
            <a:solidFill>
              <a:srgbClr val="D3DCEA"/>
            </a:solidFill>
            <a:prstDash val="solid"/>
          </a:ln>
        </p:spPr>
      </p:sp>
      <p:sp>
        <p:nvSpPr>
          <p:cNvPr id="11" name="Text 9"/>
          <p:cNvSpPr/>
          <p:nvPr/>
        </p:nvSpPr>
        <p:spPr>
          <a:xfrm>
            <a:off x="5212080" y="1362456"/>
            <a:ext cx="2103120" cy="603504"/>
          </a:xfrm>
          <a:prstGeom prst="rect">
            <a:avLst/>
          </a:prstGeom>
          <a:noFill/>
          <a:ln/>
        </p:spPr>
        <p:txBody>
          <a:bodyPr wrap="square" lIns="0" tIns="0" rIns="0" bIns="0" rtlCol="0" anchor="ctr"/>
          <a:lstStyle/>
          <a:p>
            <a:pPr algn="ctr" indent="0" marL="0">
              <a:buNone/>
            </a:pPr>
            <a:r>
              <a:rPr lang="en-US" sz="3200" b="1" dirty="0">
                <a:solidFill>
                  <a:srgbClr val="02A37A"/>
                </a:solidFill>
                <a:latin typeface="Cambria" pitchFamily="34" charset="0"/>
                <a:ea typeface="Cambria" pitchFamily="34" charset="-122"/>
                <a:cs typeface="Cambria" pitchFamily="34" charset="-120"/>
              </a:rPr>
              <a:t>30</a:t>
            </a:r>
            <a:endParaRPr lang="en-US" sz="3200" dirty="0"/>
          </a:p>
        </p:txBody>
      </p:sp>
      <p:sp>
        <p:nvSpPr>
          <p:cNvPr id="12" name="Text 10"/>
          <p:cNvSpPr/>
          <p:nvPr/>
        </p:nvSpPr>
        <p:spPr>
          <a:xfrm>
            <a:off x="5248656" y="2002536"/>
            <a:ext cx="2029968" cy="457200"/>
          </a:xfrm>
          <a:prstGeom prst="rect">
            <a:avLst/>
          </a:prstGeom>
          <a:noFill/>
          <a:ln/>
        </p:spPr>
        <p:txBody>
          <a:bodyPr wrap="square" lIns="0" tIns="0" rIns="0" bIns="0" rtlCol="0" anchor="t"/>
          <a:lstStyle/>
          <a:p>
            <a:pPr algn="ctr" indent="0" marL="0">
              <a:buNone/>
            </a:pPr>
            <a:r>
              <a:rPr lang="en-US" sz="1000" dirty="0">
                <a:solidFill>
                  <a:srgbClr val="27374F"/>
                </a:solidFill>
                <a:latin typeface="Calibri" pitchFamily="34" charset="0"/>
                <a:ea typeface="Calibri" pitchFamily="34" charset="-122"/>
                <a:cs typeface="Calibri" pitchFamily="34" charset="-120"/>
              </a:rPr>
              <a:t>frames/s published</a:t>
            </a:r>
            <a:endParaRPr lang="en-US" sz="1000" dirty="0"/>
          </a:p>
          <a:p>
            <a:pPr algn="ctr" indent="0" marL="0">
              <a:buNone/>
            </a:pPr>
            <a:r>
              <a:rPr lang="en-US" sz="1000" dirty="0">
                <a:solidFill>
                  <a:srgbClr val="27374F"/>
                </a:solidFill>
                <a:latin typeface="Calibri" pitchFamily="34" charset="0"/>
                <a:ea typeface="Calibri" pitchFamily="34" charset="-122"/>
                <a:cs typeface="Calibri" pitchFamily="34" charset="-120"/>
              </a:rPr>
              <a:t>EO single, all six</a:t>
            </a:r>
            <a:endParaRPr lang="en-US" sz="1000" dirty="0"/>
          </a:p>
        </p:txBody>
      </p:sp>
      <p:sp>
        <p:nvSpPr>
          <p:cNvPr id="13" name="Shape 11"/>
          <p:cNvSpPr/>
          <p:nvPr/>
        </p:nvSpPr>
        <p:spPr>
          <a:xfrm>
            <a:off x="7461504" y="1234440"/>
            <a:ext cx="2212848" cy="1298448"/>
          </a:xfrm>
          <a:prstGeom prst="roundRect">
            <a:avLst>
              <a:gd name="adj" fmla="val 4225"/>
            </a:avLst>
          </a:prstGeom>
          <a:solidFill>
            <a:srgbClr val="F2F5FA"/>
          </a:solidFill>
          <a:ln w="12700">
            <a:solidFill>
              <a:srgbClr val="D3DCEA"/>
            </a:solidFill>
            <a:prstDash val="solid"/>
          </a:ln>
        </p:spPr>
      </p:sp>
      <p:sp>
        <p:nvSpPr>
          <p:cNvPr id="14" name="Text 12"/>
          <p:cNvSpPr/>
          <p:nvPr/>
        </p:nvSpPr>
        <p:spPr>
          <a:xfrm>
            <a:off x="7516368" y="1362456"/>
            <a:ext cx="2103120" cy="603504"/>
          </a:xfrm>
          <a:prstGeom prst="rect">
            <a:avLst/>
          </a:prstGeom>
          <a:noFill/>
          <a:ln/>
        </p:spPr>
        <p:txBody>
          <a:bodyPr wrap="square" lIns="0" tIns="0" rIns="0" bIns="0" rtlCol="0" anchor="ctr"/>
          <a:lstStyle/>
          <a:p>
            <a:pPr algn="ctr" indent="0" marL="0">
              <a:buNone/>
            </a:pPr>
            <a:r>
              <a:rPr lang="en-US" sz="3200" b="1" dirty="0">
                <a:solidFill>
                  <a:srgbClr val="C2A33B"/>
                </a:solidFill>
                <a:latin typeface="Cambria" pitchFamily="34" charset="0"/>
                <a:ea typeface="Cambria" pitchFamily="34" charset="-122"/>
                <a:cs typeface="Cambria" pitchFamily="34" charset="-120"/>
              </a:rPr>
              <a:t>22.9</a:t>
            </a:r>
            <a:endParaRPr lang="en-US" sz="3200" dirty="0"/>
          </a:p>
        </p:txBody>
      </p:sp>
      <p:sp>
        <p:nvSpPr>
          <p:cNvPr id="15" name="Text 13"/>
          <p:cNvSpPr/>
          <p:nvPr/>
        </p:nvSpPr>
        <p:spPr>
          <a:xfrm>
            <a:off x="7552944" y="2002536"/>
            <a:ext cx="2029968" cy="457200"/>
          </a:xfrm>
          <a:prstGeom prst="rect">
            <a:avLst/>
          </a:prstGeom>
          <a:noFill/>
          <a:ln/>
        </p:spPr>
        <p:txBody>
          <a:bodyPr wrap="square" lIns="0" tIns="0" rIns="0" bIns="0" rtlCol="0" anchor="t"/>
          <a:lstStyle/>
          <a:p>
            <a:pPr algn="ctr" indent="0" marL="0">
              <a:buNone/>
            </a:pPr>
            <a:r>
              <a:rPr lang="en-US" sz="1000" dirty="0">
                <a:solidFill>
                  <a:srgbClr val="27374F"/>
                </a:solidFill>
                <a:latin typeface="Calibri" pitchFamily="34" charset="0"/>
                <a:ea typeface="Calibri" pitchFamily="34" charset="-122"/>
                <a:cs typeface="Calibri" pitchFamily="34" charset="-120"/>
              </a:rPr>
              <a:t>frames/s published</a:t>
            </a:r>
            <a:endParaRPr lang="en-US" sz="1000" dirty="0"/>
          </a:p>
          <a:p>
            <a:pPr algn="ctr" indent="0" marL="0">
              <a:buNone/>
            </a:pPr>
            <a:r>
              <a:rPr lang="en-US" sz="1000" dirty="0">
                <a:solidFill>
                  <a:srgbClr val="27374F"/>
                </a:solidFill>
                <a:latin typeface="Calibri" pitchFamily="34" charset="0"/>
                <a:ea typeface="Calibri" pitchFamily="34" charset="-122"/>
                <a:cs typeface="Calibri" pitchFamily="34" charset="-120"/>
              </a:rPr>
              <a:t>EO panorama</a:t>
            </a:r>
            <a:endParaRPr lang="en-US" sz="1000" dirty="0"/>
          </a:p>
        </p:txBody>
      </p:sp>
      <p:sp>
        <p:nvSpPr>
          <p:cNvPr id="16" name="Shape 14"/>
          <p:cNvSpPr/>
          <p:nvPr/>
        </p:nvSpPr>
        <p:spPr>
          <a:xfrm>
            <a:off x="9765792" y="1234440"/>
            <a:ext cx="1892808" cy="1298448"/>
          </a:xfrm>
          <a:prstGeom prst="roundRect">
            <a:avLst>
              <a:gd name="adj" fmla="val 4225"/>
            </a:avLst>
          </a:prstGeom>
          <a:solidFill>
            <a:srgbClr val="F2F5FA"/>
          </a:solidFill>
          <a:ln w="12700">
            <a:solidFill>
              <a:srgbClr val="D3DCEA"/>
            </a:solidFill>
            <a:prstDash val="solid"/>
          </a:ln>
        </p:spPr>
      </p:sp>
      <p:sp>
        <p:nvSpPr>
          <p:cNvPr id="17" name="Text 15"/>
          <p:cNvSpPr/>
          <p:nvPr/>
        </p:nvSpPr>
        <p:spPr>
          <a:xfrm>
            <a:off x="9820656" y="1362456"/>
            <a:ext cx="1783080" cy="603504"/>
          </a:xfrm>
          <a:prstGeom prst="rect">
            <a:avLst/>
          </a:prstGeom>
          <a:noFill/>
          <a:ln/>
        </p:spPr>
        <p:txBody>
          <a:bodyPr wrap="square" lIns="0" tIns="0" rIns="0" bIns="0" rtlCol="0" anchor="ctr"/>
          <a:lstStyle/>
          <a:p>
            <a:pPr algn="ctr" indent="0" marL="0">
              <a:buNone/>
            </a:pPr>
            <a:r>
              <a:rPr lang="en-US" sz="2400" b="1" dirty="0">
                <a:solidFill>
                  <a:srgbClr val="0E1C36"/>
                </a:solidFill>
                <a:latin typeface="Cambria" pitchFamily="34" charset="0"/>
                <a:ea typeface="Cambria" pitchFamily="34" charset="-122"/>
                <a:cs typeface="Cambria" pitchFamily="34" charset="-120"/>
              </a:rPr>
              <a:t>71 ms</a:t>
            </a:r>
            <a:endParaRPr lang="en-US" sz="2400" dirty="0"/>
          </a:p>
        </p:txBody>
      </p:sp>
      <p:sp>
        <p:nvSpPr>
          <p:cNvPr id="18" name="Text 16"/>
          <p:cNvSpPr/>
          <p:nvPr/>
        </p:nvSpPr>
        <p:spPr>
          <a:xfrm>
            <a:off x="9857232" y="2002536"/>
            <a:ext cx="1709928" cy="457200"/>
          </a:xfrm>
          <a:prstGeom prst="rect">
            <a:avLst/>
          </a:prstGeom>
          <a:noFill/>
          <a:ln/>
        </p:spPr>
        <p:txBody>
          <a:bodyPr wrap="square" lIns="0" tIns="0" rIns="0" bIns="0" rtlCol="0" anchor="t"/>
          <a:lstStyle/>
          <a:p>
            <a:pPr algn="ctr" indent="0" marL="0">
              <a:buNone/>
            </a:pPr>
            <a:r>
              <a:rPr lang="en-US" sz="1000" dirty="0">
                <a:solidFill>
                  <a:srgbClr val="27374F"/>
                </a:solidFill>
                <a:latin typeface="Calibri" pitchFamily="34" charset="0"/>
                <a:ea typeface="Calibri" pitchFamily="34" charset="-122"/>
                <a:cs typeface="Calibri" pitchFamily="34" charset="-120"/>
              </a:rPr>
              <a:t>capture to display</a:t>
            </a:r>
            <a:endParaRPr lang="en-US" sz="1000" dirty="0"/>
          </a:p>
          <a:p>
            <a:pPr algn="ctr" indent="0" marL="0">
              <a:buNone/>
            </a:pPr>
            <a:r>
              <a:rPr lang="en-US" sz="1000" dirty="0">
                <a:solidFill>
                  <a:srgbClr val="27374F"/>
                </a:solidFill>
                <a:latin typeface="Calibri" pitchFamily="34" charset="0"/>
                <a:ea typeface="Calibri" pitchFamily="34" charset="-122"/>
                <a:cs typeface="Calibri" pitchFamily="34" charset="-120"/>
              </a:rPr>
              <a:t>EO panorama, best</a:t>
            </a:r>
            <a:endParaRPr lang="en-US" sz="1000" dirty="0"/>
          </a:p>
        </p:txBody>
      </p:sp>
      <p:sp>
        <p:nvSpPr>
          <p:cNvPr id="19" name="Text 17"/>
          <p:cNvSpPr/>
          <p:nvPr/>
        </p:nvSpPr>
        <p:spPr>
          <a:xfrm>
            <a:off x="548640" y="2788920"/>
            <a:ext cx="11109960" cy="310896"/>
          </a:xfrm>
          <a:prstGeom prst="rect">
            <a:avLst/>
          </a:prstGeom>
          <a:noFill/>
          <a:ln/>
        </p:spPr>
        <p:txBody>
          <a:bodyPr wrap="square" lIns="0" tIns="0" rIns="0" bIns="0" rtlCol="0" anchor="ctr"/>
          <a:lstStyle/>
          <a:p>
            <a:pPr indent="0" marL="0">
              <a:buNone/>
            </a:pPr>
            <a:r>
              <a:rPr lang="en-US" sz="1500" b="1" dirty="0">
                <a:solidFill>
                  <a:srgbClr val="0E1C36"/>
                </a:solidFill>
                <a:latin typeface="Calibri" pitchFamily="34" charset="0"/>
                <a:ea typeface="Calibri" pitchFamily="34" charset="-122"/>
                <a:cs typeface="Calibri" pitchFamily="34" charset="-120"/>
              </a:rPr>
              <a:t>Latency is a fixed number per mode, not a range</a:t>
            </a:r>
            <a:endParaRPr lang="en-US" sz="1500" dirty="0"/>
          </a:p>
        </p:txBody>
      </p:sp>
      <p:sp>
        <p:nvSpPr>
          <p:cNvPr id="20" name="Text 18"/>
          <p:cNvSpPr/>
          <p:nvPr/>
        </p:nvSpPr>
        <p:spPr>
          <a:xfrm>
            <a:off x="548640" y="3127248"/>
            <a:ext cx="11109960" cy="731520"/>
          </a:xfrm>
          <a:prstGeom prst="rect">
            <a:avLst/>
          </a:prstGeom>
          <a:noFill/>
          <a:ln/>
        </p:spPr>
        <p:txBody>
          <a:bodyPr wrap="square" lIns="0" tIns="0" rIns="0" bIns="0" rtlCol="0" anchor="ctr"/>
          <a:lstStyle/>
          <a:p>
            <a:pPr indent="0" marL="0">
              <a:buNone/>
            </a:pPr>
            <a:r>
              <a:rPr lang="en-US" sz="1250" b="1" dirty="0">
                <a:solidFill>
                  <a:srgbClr val="27374F"/>
                </a:solidFill>
                <a:latin typeface="Calibri" pitchFamily="34" charset="0"/>
                <a:ea typeface="Calibri" pitchFamily="34" charset="-122"/>
                <a:cs typeface="Calibri" pitchFamily="34" charset="-120"/>
              </a:rPr>
              <a:t>Every row of the picture has the SAME capture-to-display latency. </a:t>
            </a:r>
            <a:pPr indent="0" marL="0">
              <a:buNone/>
            </a:pPr>
            <a:r>
              <a:rPr lang="en-US" sz="1250" dirty="0">
                <a:solidFill>
                  <a:srgbClr val="27374F"/>
                </a:solidFill>
                <a:latin typeface="Calibri" pitchFamily="34" charset="0"/>
                <a:ea typeface="Calibri" pitchFamily="34" charset="-122"/>
                <a:cs typeface="Calibri" pitchFamily="34" charset="-120"/>
              </a:rPr>
              <a:t>A row captured early waits longest for its frame to complete, and is then scanned out first; a row captured last waits least and is scanned out last. The two offsets cancel exactly. This is shown on the next slide and is the reason no "typical" figure appears anywhere in this deck: there is no spread to average over.</a:t>
            </a:r>
            <a:endParaRPr lang="en-US" sz="1250" dirty="0"/>
          </a:p>
        </p:txBody>
      </p:sp>
      <p:sp>
        <p:nvSpPr>
          <p:cNvPr id="21" name="Text 19"/>
          <p:cNvSpPr/>
          <p:nvPr/>
        </p:nvSpPr>
        <p:spPr>
          <a:xfrm>
            <a:off x="548640" y="3977640"/>
            <a:ext cx="11109960" cy="310896"/>
          </a:xfrm>
          <a:prstGeom prst="rect">
            <a:avLst/>
          </a:prstGeom>
          <a:noFill/>
          <a:ln/>
        </p:spPr>
        <p:txBody>
          <a:bodyPr wrap="square" lIns="0" tIns="0" rIns="0" bIns="0" rtlCol="0" anchor="ctr"/>
          <a:lstStyle/>
          <a:p>
            <a:pPr indent="0" marL="0">
              <a:buNone/>
            </a:pPr>
            <a:r>
              <a:rPr lang="en-US" sz="1500" b="1" dirty="0">
                <a:solidFill>
                  <a:srgbClr val="0E1C36"/>
                </a:solidFill>
                <a:latin typeface="Calibri" pitchFamily="34" charset="0"/>
                <a:ea typeface="Calibri" pitchFamily="34" charset="-122"/>
                <a:cs typeface="Calibri" pitchFamily="34" charset="-120"/>
              </a:rPr>
              <a:t>Where the remaining work is</a:t>
            </a:r>
            <a:endParaRPr lang="en-US" sz="1500" dirty="0"/>
          </a:p>
        </p:txBody>
      </p:sp>
      <p:sp>
        <p:nvSpPr>
          <p:cNvPr id="22" name="Text 20"/>
          <p:cNvSpPr/>
          <p:nvPr/>
        </p:nvSpPr>
        <p:spPr>
          <a:xfrm>
            <a:off x="548640" y="4315968"/>
            <a:ext cx="11109960" cy="731520"/>
          </a:xfrm>
          <a:prstGeom prst="rect">
            <a:avLst/>
          </a:prstGeom>
          <a:noFill/>
          <a:ln/>
        </p:spPr>
        <p:txBody>
          <a:bodyPr wrap="square" lIns="0" tIns="0" rIns="0" bIns="0" rtlCol="0" anchor="ctr"/>
          <a:lstStyle/>
          <a:p>
            <a:pPr indent="0" marL="0">
              <a:buNone/>
            </a:pPr>
            <a:r>
              <a:rPr lang="en-US" sz="1250" dirty="0">
                <a:solidFill>
                  <a:srgbClr val="27374F"/>
                </a:solidFill>
                <a:latin typeface="Calibri" pitchFamily="34" charset="0"/>
                <a:ea typeface="Calibri" pitchFamily="34" charset="-122"/>
                <a:cs typeface="Calibri" pitchFamily="34" charset="-120"/>
              </a:rPr>
              <a:t>Seven of the eight measured configurations publish at the rate their cameras produce. EO panorama publishes 22.9 against a 30 fps source: 78% of its frames arrive on the full 33.3 ms cadence and 22% slip by one or two frame periods. The cause is identified and is not the output stage - see the last two slides.</a:t>
            </a:r>
            <a:endParaRPr lang="en-US" sz="1250" dirty="0"/>
          </a:p>
        </p:txBody>
      </p:sp>
      <p:sp>
        <p:nvSpPr>
          <p:cNvPr id="23" name="Text 21"/>
          <p:cNvSpPr/>
          <p:nvPr/>
        </p:nvSpPr>
        <p:spPr>
          <a:xfrm>
            <a:off x="548640" y="5230368"/>
            <a:ext cx="11109960" cy="457200"/>
          </a:xfrm>
          <a:prstGeom prst="rect">
            <a:avLst/>
          </a:prstGeom>
          <a:noFill/>
          <a:ln/>
        </p:spPr>
        <p:txBody>
          <a:bodyPr wrap="square" lIns="0" tIns="0" rIns="0" bIns="0" rtlCol="0" anchor="t"/>
          <a:lstStyle/>
          <a:p>
            <a:pPr indent="0" marL="0">
              <a:buNone/>
            </a:pPr>
            <a:r>
              <a:rPr lang="en-US" sz="1150" i="1" dirty="0">
                <a:solidFill>
                  <a:srgbClr val="6B7C97"/>
                </a:solidFill>
                <a:latin typeface="Calibri" pitchFamily="34" charset="0"/>
                <a:ea typeface="Calibri" pitchFamily="34" charset="-122"/>
                <a:cs typeface="Calibri" pitchFamily="34" charset="-120"/>
              </a:rPr>
              <a:t>Frame rates: optical measurement, 2026-08-20, three-bank build 00e0c57. Latency: in-fabric timing probe, 2026-08-19, build 67955bc. Both are identified on the basis slide.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THE KEY PICTURE</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Why the stages must not be added up</a:t>
            </a:r>
            <a:endParaRPr lang="en-US" sz="3000" dirty="0"/>
          </a:p>
        </p:txBody>
      </p:sp>
      <p:sp>
        <p:nvSpPr>
          <p:cNvPr id="4" name="Text 2"/>
          <p:cNvSpPr/>
          <p:nvPr/>
        </p:nvSpPr>
        <p:spPr>
          <a:xfrm>
            <a:off x="548640" y="1133856"/>
            <a:ext cx="11109960" cy="310896"/>
          </a:xfrm>
          <a:prstGeom prst="rect">
            <a:avLst/>
          </a:prstGeom>
          <a:noFill/>
          <a:ln/>
        </p:spPr>
        <p:txBody>
          <a:bodyPr wrap="square" lIns="0" tIns="0" rIns="0" bIns="0" rtlCol="0" anchor="ctr"/>
          <a:lstStyle/>
          <a:p>
            <a:pPr indent="0" marL="0">
              <a:buNone/>
            </a:pPr>
            <a:r>
              <a:rPr lang="en-US" sz="1300" dirty="0">
                <a:solidFill>
                  <a:srgbClr val="27374F"/>
                </a:solidFill>
                <a:latin typeface="Calibri" pitchFamily="34" charset="0"/>
                <a:ea typeface="Calibri" pitchFamily="34" charset="-122"/>
                <a:cs typeface="Calibri" pitchFamily="34" charset="-120"/>
              </a:rPr>
              <a:t>Capture, render and scan-out overlap. Drawn end to end they read as 105 ms; drawn against one clock they are 71.5 ms.</a:t>
            </a:r>
            <a:endParaRPr lang="en-US" sz="1300" dirty="0"/>
          </a:p>
        </p:txBody>
      </p:sp>
      <p:sp>
        <p:nvSpPr>
          <p:cNvPr id="5" name="Shape 3"/>
          <p:cNvSpPr/>
          <p:nvPr/>
        </p:nvSpPr>
        <p:spPr>
          <a:xfrm>
            <a:off x="3154680" y="1965960"/>
            <a:ext cx="8138160" cy="0"/>
          </a:xfrm>
          <a:prstGeom prst="line">
            <a:avLst/>
          </a:prstGeom>
          <a:noFill/>
          <a:ln w="12700">
            <a:solidFill>
              <a:srgbClr val="6B7C97"/>
            </a:solidFill>
            <a:prstDash val="solid"/>
          </a:ln>
        </p:spPr>
      </p:sp>
      <p:sp>
        <p:nvSpPr>
          <p:cNvPr id="6" name="Shape 4"/>
          <p:cNvSpPr/>
          <p:nvPr/>
        </p:nvSpPr>
        <p:spPr>
          <a:xfrm>
            <a:off x="3154680" y="1883664"/>
            <a:ext cx="0" cy="82296"/>
          </a:xfrm>
          <a:prstGeom prst="line">
            <a:avLst/>
          </a:prstGeom>
          <a:noFill/>
          <a:ln w="12700">
            <a:solidFill>
              <a:srgbClr val="6B7C97"/>
            </a:solidFill>
            <a:prstDash val="solid"/>
          </a:ln>
        </p:spPr>
      </p:sp>
      <p:sp>
        <p:nvSpPr>
          <p:cNvPr id="7" name="Text 5"/>
          <p:cNvSpPr/>
          <p:nvPr/>
        </p:nvSpPr>
        <p:spPr>
          <a:xfrm>
            <a:off x="2770632" y="1655064"/>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0.0</a:t>
            </a:r>
            <a:endParaRPr lang="en-US" sz="850" dirty="0"/>
          </a:p>
        </p:txBody>
      </p:sp>
      <p:sp>
        <p:nvSpPr>
          <p:cNvPr id="8" name="Shape 6"/>
          <p:cNvSpPr/>
          <p:nvPr/>
        </p:nvSpPr>
        <p:spPr>
          <a:xfrm>
            <a:off x="5415257" y="1883664"/>
            <a:ext cx="0" cy="82296"/>
          </a:xfrm>
          <a:prstGeom prst="line">
            <a:avLst/>
          </a:prstGeom>
          <a:noFill/>
          <a:ln w="12700">
            <a:solidFill>
              <a:srgbClr val="6B7C97"/>
            </a:solidFill>
            <a:prstDash val="solid"/>
          </a:ln>
        </p:spPr>
      </p:sp>
      <p:sp>
        <p:nvSpPr>
          <p:cNvPr id="9" name="Text 7"/>
          <p:cNvSpPr/>
          <p:nvPr/>
        </p:nvSpPr>
        <p:spPr>
          <a:xfrm>
            <a:off x="5031209" y="1655064"/>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33.3</a:t>
            </a:r>
            <a:endParaRPr lang="en-US" sz="850" dirty="0"/>
          </a:p>
        </p:txBody>
      </p:sp>
      <p:sp>
        <p:nvSpPr>
          <p:cNvPr id="10" name="Shape 8"/>
          <p:cNvSpPr/>
          <p:nvPr/>
        </p:nvSpPr>
        <p:spPr>
          <a:xfrm>
            <a:off x="7675835" y="1883664"/>
            <a:ext cx="0" cy="82296"/>
          </a:xfrm>
          <a:prstGeom prst="line">
            <a:avLst/>
          </a:prstGeom>
          <a:noFill/>
          <a:ln w="12700">
            <a:solidFill>
              <a:srgbClr val="6B7C97"/>
            </a:solidFill>
            <a:prstDash val="solid"/>
          </a:ln>
        </p:spPr>
      </p:sp>
      <p:sp>
        <p:nvSpPr>
          <p:cNvPr id="11" name="Text 9"/>
          <p:cNvSpPr/>
          <p:nvPr/>
        </p:nvSpPr>
        <p:spPr>
          <a:xfrm>
            <a:off x="7291787" y="1655064"/>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66.7</a:t>
            </a:r>
            <a:endParaRPr lang="en-US" sz="850" dirty="0"/>
          </a:p>
        </p:txBody>
      </p:sp>
      <p:sp>
        <p:nvSpPr>
          <p:cNvPr id="12" name="Shape 10"/>
          <p:cNvSpPr/>
          <p:nvPr/>
        </p:nvSpPr>
        <p:spPr>
          <a:xfrm>
            <a:off x="9936412" y="1883664"/>
            <a:ext cx="0" cy="82296"/>
          </a:xfrm>
          <a:prstGeom prst="line">
            <a:avLst/>
          </a:prstGeom>
          <a:noFill/>
          <a:ln w="12700">
            <a:solidFill>
              <a:srgbClr val="6B7C97"/>
            </a:solidFill>
            <a:prstDash val="solid"/>
          </a:ln>
        </p:spPr>
      </p:sp>
      <p:sp>
        <p:nvSpPr>
          <p:cNvPr id="13" name="Text 11"/>
          <p:cNvSpPr/>
          <p:nvPr/>
        </p:nvSpPr>
        <p:spPr>
          <a:xfrm>
            <a:off x="9552364" y="1655064"/>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100.0</a:t>
            </a:r>
            <a:endParaRPr lang="en-US" sz="850" dirty="0"/>
          </a:p>
        </p:txBody>
      </p:sp>
      <p:sp>
        <p:nvSpPr>
          <p:cNvPr id="14" name="Text 12"/>
          <p:cNvSpPr/>
          <p:nvPr/>
        </p:nvSpPr>
        <p:spPr>
          <a:xfrm>
            <a:off x="8001000" y="2020824"/>
            <a:ext cx="3291840" cy="219456"/>
          </a:xfrm>
          <a:prstGeom prst="rect">
            <a:avLst/>
          </a:prstGeom>
          <a:noFill/>
          <a:ln/>
        </p:spPr>
        <p:txBody>
          <a:bodyPr wrap="square" lIns="0" tIns="0" rIns="0" bIns="0" rtlCol="0" anchor="ctr"/>
          <a:lstStyle/>
          <a:p>
            <a:pPr algn="r" indent="0" marL="0">
              <a:buNone/>
            </a:pPr>
            <a:r>
              <a:rPr lang="en-US" sz="900" i="1" dirty="0">
                <a:solidFill>
                  <a:srgbClr val="6B7C97"/>
                </a:solidFill>
                <a:latin typeface="Calibri" pitchFamily="34" charset="0"/>
                <a:ea typeface="Calibri" pitchFamily="34" charset="-122"/>
                <a:cs typeface="Calibri" pitchFamily="34" charset="-120"/>
              </a:rPr>
              <a:t>milliseconds — one shared clock</a:t>
            </a:r>
            <a:endParaRPr lang="en-US" sz="900" dirty="0"/>
          </a:p>
        </p:txBody>
      </p:sp>
      <p:sp>
        <p:nvSpPr>
          <p:cNvPr id="15" name="Text 13"/>
          <p:cNvSpPr/>
          <p:nvPr/>
        </p:nvSpPr>
        <p:spPr>
          <a:xfrm>
            <a:off x="896112" y="2221992"/>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Display frame edges</a:t>
            </a:r>
            <a:endParaRPr lang="en-US" sz="1050" dirty="0"/>
          </a:p>
        </p:txBody>
      </p:sp>
      <p:sp>
        <p:nvSpPr>
          <p:cNvPr id="16" name="Shape 14"/>
          <p:cNvSpPr/>
          <p:nvPr/>
        </p:nvSpPr>
        <p:spPr>
          <a:xfrm>
            <a:off x="3454984" y="2240280"/>
            <a:ext cx="64008" cy="292608"/>
          </a:xfrm>
          <a:prstGeom prst="rect">
            <a:avLst/>
          </a:prstGeom>
          <a:solidFill>
            <a:srgbClr val="16233A"/>
          </a:solidFill>
          <a:ln w="12700">
            <a:solidFill>
              <a:srgbClr val="333333"/>
            </a:solidFill>
            <a:prstDash val="solid"/>
          </a:ln>
        </p:spPr>
      </p:sp>
      <p:sp>
        <p:nvSpPr>
          <p:cNvPr id="17" name="Shape 15"/>
          <p:cNvSpPr/>
          <p:nvPr/>
        </p:nvSpPr>
        <p:spPr>
          <a:xfrm>
            <a:off x="5715562" y="2240280"/>
            <a:ext cx="64008" cy="292608"/>
          </a:xfrm>
          <a:prstGeom prst="rect">
            <a:avLst/>
          </a:prstGeom>
          <a:solidFill>
            <a:srgbClr val="16233A"/>
          </a:solidFill>
          <a:ln w="12700">
            <a:solidFill>
              <a:srgbClr val="333333"/>
            </a:solidFill>
            <a:prstDash val="solid"/>
          </a:ln>
        </p:spPr>
      </p:sp>
      <p:sp>
        <p:nvSpPr>
          <p:cNvPr id="18" name="Shape 16"/>
          <p:cNvSpPr/>
          <p:nvPr/>
        </p:nvSpPr>
        <p:spPr>
          <a:xfrm>
            <a:off x="7976139" y="2240280"/>
            <a:ext cx="64008" cy="292608"/>
          </a:xfrm>
          <a:prstGeom prst="rect">
            <a:avLst/>
          </a:prstGeom>
          <a:solidFill>
            <a:srgbClr val="16233A"/>
          </a:solidFill>
          <a:ln w="12700">
            <a:solidFill>
              <a:srgbClr val="333333"/>
            </a:solidFill>
            <a:prstDash val="solid"/>
          </a:ln>
        </p:spPr>
      </p:sp>
      <p:sp>
        <p:nvSpPr>
          <p:cNvPr id="19" name="Shape 17"/>
          <p:cNvSpPr/>
          <p:nvPr/>
        </p:nvSpPr>
        <p:spPr>
          <a:xfrm>
            <a:off x="10236716" y="2240280"/>
            <a:ext cx="64008" cy="292608"/>
          </a:xfrm>
          <a:prstGeom prst="rect">
            <a:avLst/>
          </a:prstGeom>
          <a:solidFill>
            <a:srgbClr val="16233A"/>
          </a:solidFill>
          <a:ln w="12700">
            <a:solidFill>
              <a:srgbClr val="333333"/>
            </a:solidFill>
            <a:prstDash val="solid"/>
          </a:ln>
        </p:spPr>
      </p:sp>
      <p:sp>
        <p:nvSpPr>
          <p:cNvPr id="20" name="Shape 18"/>
          <p:cNvSpPr/>
          <p:nvPr/>
        </p:nvSpPr>
        <p:spPr>
          <a:xfrm>
            <a:off x="3154680" y="2386584"/>
            <a:ext cx="8138160" cy="0"/>
          </a:xfrm>
          <a:prstGeom prst="line">
            <a:avLst/>
          </a:prstGeom>
          <a:noFill/>
          <a:ln w="12700">
            <a:solidFill>
              <a:srgbClr val="D3DCEA"/>
            </a:solidFill>
            <a:prstDash val="sysDot"/>
          </a:ln>
        </p:spPr>
      </p:sp>
      <p:sp>
        <p:nvSpPr>
          <p:cNvPr id="21" name="Text 19"/>
          <p:cNvSpPr/>
          <p:nvPr/>
        </p:nvSpPr>
        <p:spPr>
          <a:xfrm>
            <a:off x="896112" y="2624328"/>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Camera exposes and transfers</a:t>
            </a:r>
            <a:endParaRPr lang="en-US" sz="1050" dirty="0"/>
          </a:p>
        </p:txBody>
      </p:sp>
      <p:sp>
        <p:nvSpPr>
          <p:cNvPr id="22" name="Shape 20"/>
          <p:cNvSpPr/>
          <p:nvPr/>
        </p:nvSpPr>
        <p:spPr>
          <a:xfrm>
            <a:off x="3154680" y="2642616"/>
            <a:ext cx="2260577" cy="292608"/>
          </a:xfrm>
          <a:prstGeom prst="roundRect">
            <a:avLst>
              <a:gd name="adj" fmla="val 9375"/>
            </a:avLst>
          </a:prstGeom>
          <a:solidFill>
            <a:srgbClr val="1C7293"/>
          </a:solidFill>
          <a:ln w="12700">
            <a:solidFill>
              <a:srgbClr val="1C7293"/>
            </a:solidFill>
            <a:prstDash val="solid"/>
          </a:ln>
        </p:spPr>
      </p:sp>
      <p:sp>
        <p:nvSpPr>
          <p:cNvPr id="23" name="Text 21"/>
          <p:cNvSpPr/>
          <p:nvPr/>
        </p:nvSpPr>
        <p:spPr>
          <a:xfrm>
            <a:off x="3154680" y="2642616"/>
            <a:ext cx="2260577"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frame N   row 0 first → row 1079 last</a:t>
            </a:r>
            <a:endParaRPr lang="en-US" sz="900" dirty="0"/>
          </a:p>
        </p:txBody>
      </p:sp>
      <p:sp>
        <p:nvSpPr>
          <p:cNvPr id="24" name="Text 22"/>
          <p:cNvSpPr/>
          <p:nvPr/>
        </p:nvSpPr>
        <p:spPr>
          <a:xfrm>
            <a:off x="896112" y="3026664"/>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FPGA aligns, renders, writes</a:t>
            </a:r>
            <a:endParaRPr lang="en-US" sz="1050" dirty="0"/>
          </a:p>
        </p:txBody>
      </p:sp>
      <p:sp>
        <p:nvSpPr>
          <p:cNvPr id="25" name="Shape 23"/>
          <p:cNvSpPr/>
          <p:nvPr/>
        </p:nvSpPr>
        <p:spPr>
          <a:xfrm>
            <a:off x="5415257" y="3044952"/>
            <a:ext cx="2590648" cy="292608"/>
          </a:xfrm>
          <a:prstGeom prst="roundRect">
            <a:avLst>
              <a:gd name="adj" fmla="val 9375"/>
            </a:avLst>
          </a:prstGeom>
          <a:solidFill>
            <a:srgbClr val="C1663A"/>
          </a:solidFill>
          <a:ln w="12700">
            <a:solidFill>
              <a:srgbClr val="C1663A"/>
            </a:solidFill>
            <a:prstDash val="solid"/>
          </a:ln>
        </p:spPr>
      </p:sp>
      <p:sp>
        <p:nvSpPr>
          <p:cNvPr id="26" name="Text 24"/>
          <p:cNvSpPr/>
          <p:nvPr/>
        </p:nvSpPr>
        <p:spPr>
          <a:xfrm>
            <a:off x="5415257" y="3044952"/>
            <a:ext cx="259064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align + render into a free bank</a:t>
            </a:r>
            <a:endParaRPr lang="en-US" sz="900" dirty="0"/>
          </a:p>
        </p:txBody>
      </p:sp>
      <p:sp>
        <p:nvSpPr>
          <p:cNvPr id="27" name="Text 25"/>
          <p:cNvSpPr/>
          <p:nvPr/>
        </p:nvSpPr>
        <p:spPr>
          <a:xfrm>
            <a:off x="896112" y="3429000"/>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Published on the next edge</a:t>
            </a:r>
            <a:endParaRPr lang="en-US" sz="1050" dirty="0"/>
          </a:p>
        </p:txBody>
      </p:sp>
      <p:sp>
        <p:nvSpPr>
          <p:cNvPr id="28" name="Shape 26"/>
          <p:cNvSpPr/>
          <p:nvPr/>
        </p:nvSpPr>
        <p:spPr>
          <a:xfrm>
            <a:off x="8005702" y="3447288"/>
            <a:ext cx="94945" cy="292608"/>
          </a:xfrm>
          <a:prstGeom prst="roundRect">
            <a:avLst>
              <a:gd name="adj" fmla="val 28893"/>
            </a:avLst>
          </a:prstGeom>
          <a:solidFill>
            <a:srgbClr val="02A37A"/>
          </a:solidFill>
          <a:ln w="12700">
            <a:solidFill>
              <a:srgbClr val="02A37A"/>
            </a:solidFill>
            <a:prstDash val="solid"/>
          </a:ln>
        </p:spPr>
      </p:sp>
      <p:sp>
        <p:nvSpPr>
          <p:cNvPr id="29" name="Text 27"/>
          <p:cNvSpPr/>
          <p:nvPr/>
        </p:nvSpPr>
        <p:spPr>
          <a:xfrm>
            <a:off x="896112" y="3831336"/>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Display scans the frame out</a:t>
            </a:r>
            <a:endParaRPr lang="en-US" sz="1050" dirty="0"/>
          </a:p>
        </p:txBody>
      </p:sp>
      <p:sp>
        <p:nvSpPr>
          <p:cNvPr id="30" name="Shape 28"/>
          <p:cNvSpPr/>
          <p:nvPr/>
        </p:nvSpPr>
        <p:spPr>
          <a:xfrm>
            <a:off x="8005702" y="3849624"/>
            <a:ext cx="2260577" cy="292608"/>
          </a:xfrm>
          <a:prstGeom prst="roundRect">
            <a:avLst>
              <a:gd name="adj" fmla="val 9375"/>
            </a:avLst>
          </a:prstGeom>
          <a:solidFill>
            <a:srgbClr val="02A37A"/>
          </a:solidFill>
          <a:ln w="12700">
            <a:solidFill>
              <a:srgbClr val="02A37A"/>
            </a:solidFill>
            <a:prstDash val="solid"/>
          </a:ln>
        </p:spPr>
      </p:sp>
      <p:sp>
        <p:nvSpPr>
          <p:cNvPr id="31" name="Text 29"/>
          <p:cNvSpPr/>
          <p:nvPr/>
        </p:nvSpPr>
        <p:spPr>
          <a:xfrm>
            <a:off x="8005702" y="3849624"/>
            <a:ext cx="2260577"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row 0 first → row 1079 last</a:t>
            </a:r>
            <a:endParaRPr lang="en-US" sz="900" dirty="0"/>
          </a:p>
        </p:txBody>
      </p:sp>
      <p:sp>
        <p:nvSpPr>
          <p:cNvPr id="32" name="Shape 30"/>
          <p:cNvSpPr/>
          <p:nvPr/>
        </p:nvSpPr>
        <p:spPr>
          <a:xfrm>
            <a:off x="5415257" y="2148840"/>
            <a:ext cx="0" cy="2029968"/>
          </a:xfrm>
          <a:prstGeom prst="line">
            <a:avLst/>
          </a:prstGeom>
          <a:noFill/>
          <a:ln w="15875">
            <a:solidFill>
              <a:srgbClr val="0E1C36"/>
            </a:solidFill>
            <a:prstDash val="dash"/>
          </a:ln>
        </p:spPr>
      </p:sp>
      <p:sp>
        <p:nvSpPr>
          <p:cNvPr id="33" name="Text 31"/>
          <p:cNvSpPr/>
          <p:nvPr/>
        </p:nvSpPr>
        <p:spPr>
          <a:xfrm>
            <a:off x="4500857" y="1874520"/>
            <a:ext cx="1828800" cy="237744"/>
          </a:xfrm>
          <a:prstGeom prst="rect">
            <a:avLst/>
          </a:prstGeom>
          <a:noFill/>
          <a:ln/>
        </p:spPr>
        <p:txBody>
          <a:bodyPr wrap="square" lIns="0" tIns="0" rIns="0" bIns="0" rtlCol="0" anchor="ctr"/>
          <a:lstStyle/>
          <a:p>
            <a:pPr algn="ctr" indent="0" marL="0">
              <a:buNone/>
            </a:pPr>
            <a:r>
              <a:rPr lang="en-US" sz="900" b="1" dirty="0">
                <a:solidFill>
                  <a:srgbClr val="0E1C36"/>
                </a:solidFill>
                <a:latin typeface="Calibri" pitchFamily="34" charset="0"/>
                <a:ea typeface="Calibri" pitchFamily="34" charset="-122"/>
                <a:cs typeface="Calibri" pitchFamily="34" charset="-120"/>
              </a:rPr>
              <a:t>frame complete</a:t>
            </a:r>
            <a:endParaRPr lang="en-US" sz="900" dirty="0"/>
          </a:p>
        </p:txBody>
      </p:sp>
      <p:sp>
        <p:nvSpPr>
          <p:cNvPr id="34" name="Shape 32"/>
          <p:cNvSpPr/>
          <p:nvPr/>
        </p:nvSpPr>
        <p:spPr>
          <a:xfrm>
            <a:off x="8005702" y="2148840"/>
            <a:ext cx="0" cy="2029968"/>
          </a:xfrm>
          <a:prstGeom prst="line">
            <a:avLst/>
          </a:prstGeom>
          <a:noFill/>
          <a:ln w="15875">
            <a:solidFill>
              <a:srgbClr val="02A37A"/>
            </a:solidFill>
            <a:prstDash val="dash"/>
          </a:ln>
        </p:spPr>
      </p:sp>
      <p:sp>
        <p:nvSpPr>
          <p:cNvPr id="35" name="Text 33"/>
          <p:cNvSpPr/>
          <p:nvPr/>
        </p:nvSpPr>
        <p:spPr>
          <a:xfrm>
            <a:off x="7091302" y="1874520"/>
            <a:ext cx="1828800" cy="237744"/>
          </a:xfrm>
          <a:prstGeom prst="rect">
            <a:avLst/>
          </a:prstGeom>
          <a:noFill/>
          <a:ln/>
        </p:spPr>
        <p:txBody>
          <a:bodyPr wrap="square" lIns="0" tIns="0" rIns="0" bIns="0" rtlCol="0" anchor="ctr"/>
          <a:lstStyle/>
          <a:p>
            <a:pPr algn="ctr" indent="0" marL="0">
              <a:buNone/>
            </a:pPr>
            <a:r>
              <a:rPr lang="en-US" sz="900" b="1" dirty="0">
                <a:solidFill>
                  <a:srgbClr val="02A37A"/>
                </a:solidFill>
                <a:latin typeface="Calibri" pitchFamily="34" charset="0"/>
                <a:ea typeface="Calibri" pitchFamily="34" charset="-122"/>
                <a:cs typeface="Calibri" pitchFamily="34" charset="-120"/>
              </a:rPr>
              <a:t>published</a:t>
            </a:r>
            <a:endParaRPr lang="en-US" sz="900" dirty="0"/>
          </a:p>
        </p:txBody>
      </p:sp>
      <p:sp>
        <p:nvSpPr>
          <p:cNvPr id="36" name="Shape 34"/>
          <p:cNvSpPr/>
          <p:nvPr/>
        </p:nvSpPr>
        <p:spPr>
          <a:xfrm>
            <a:off x="3154680" y="4379976"/>
            <a:ext cx="4851022" cy="256032"/>
          </a:xfrm>
          <a:prstGeom prst="rightArrow">
            <a:avLst/>
          </a:prstGeom>
          <a:solidFill>
            <a:srgbClr val="16233A"/>
          </a:solidFill>
          <a:ln w="12700">
            <a:solidFill>
              <a:srgbClr val="16233A"/>
            </a:solidFill>
            <a:prstDash val="solid"/>
          </a:ln>
        </p:spPr>
      </p:sp>
      <p:sp>
        <p:nvSpPr>
          <p:cNvPr id="37" name="Text 35"/>
          <p:cNvSpPr/>
          <p:nvPr/>
        </p:nvSpPr>
        <p:spPr>
          <a:xfrm>
            <a:off x="3154680" y="4379976"/>
            <a:ext cx="485102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row 0     →  71.5 ms</a:t>
            </a:r>
            <a:endParaRPr lang="en-US" sz="900" dirty="0"/>
          </a:p>
        </p:txBody>
      </p:sp>
      <p:sp>
        <p:nvSpPr>
          <p:cNvPr id="38" name="Shape 36"/>
          <p:cNvSpPr/>
          <p:nvPr/>
        </p:nvSpPr>
        <p:spPr>
          <a:xfrm>
            <a:off x="5415257" y="4745736"/>
            <a:ext cx="4850818" cy="256032"/>
          </a:xfrm>
          <a:prstGeom prst="rightArrow">
            <a:avLst/>
          </a:prstGeom>
          <a:solidFill>
            <a:srgbClr val="16233A"/>
          </a:solidFill>
          <a:ln w="12700">
            <a:solidFill>
              <a:srgbClr val="16233A"/>
            </a:solidFill>
            <a:prstDash val="solid"/>
          </a:ln>
        </p:spPr>
      </p:sp>
      <p:sp>
        <p:nvSpPr>
          <p:cNvPr id="39" name="Text 37"/>
          <p:cNvSpPr/>
          <p:nvPr/>
        </p:nvSpPr>
        <p:spPr>
          <a:xfrm>
            <a:off x="5415257" y="4745736"/>
            <a:ext cx="485081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row 1079  →  71.5 ms</a:t>
            </a:r>
            <a:endParaRPr lang="en-US" sz="900" dirty="0"/>
          </a:p>
        </p:txBody>
      </p:sp>
      <p:sp>
        <p:nvSpPr>
          <p:cNvPr id="40" name="Text 38"/>
          <p:cNvSpPr/>
          <p:nvPr/>
        </p:nvSpPr>
        <p:spPr>
          <a:xfrm>
            <a:off x="548640" y="4416552"/>
            <a:ext cx="2377440" cy="658368"/>
          </a:xfrm>
          <a:prstGeom prst="rect">
            <a:avLst/>
          </a:prstGeom>
          <a:noFill/>
          <a:ln/>
        </p:spPr>
        <p:txBody>
          <a:bodyPr wrap="square" lIns="0" tIns="0" rIns="0" bIns="0" rtlCol="0" anchor="ctr"/>
          <a:lstStyle/>
          <a:p>
            <a:pPr algn="r" indent="0" marL="0">
              <a:buNone/>
            </a:pPr>
            <a:r>
              <a:rPr lang="en-US" sz="1000" b="1" i="1" dirty="0">
                <a:solidFill>
                  <a:srgbClr val="16233A"/>
                </a:solidFill>
                <a:latin typeface="Calibri" pitchFamily="34" charset="0"/>
                <a:ea typeface="Calibri" pitchFamily="34" charset="-122"/>
                <a:cs typeface="Calibri" pitchFamily="34" charset="-120"/>
              </a:rPr>
              <a:t>same length,</a:t>
            </a:r>
            <a:endParaRPr lang="en-US" sz="1000" dirty="0"/>
          </a:p>
          <a:p>
            <a:pPr algn="r" indent="0" marL="0">
              <a:buNone/>
            </a:pPr>
            <a:r>
              <a:rPr lang="en-US" sz="1000" b="1" i="1" dirty="0">
                <a:solidFill>
                  <a:srgbClr val="16233A"/>
                </a:solidFill>
                <a:latin typeface="Calibri" pitchFamily="34" charset="0"/>
                <a:ea typeface="Calibri" pitchFamily="34" charset="-122"/>
                <a:cs typeface="Calibri" pitchFamily="34" charset="-120"/>
              </a:rPr>
              <a:t>different start</a:t>
            </a:r>
            <a:endParaRPr lang="en-US" sz="1000" dirty="0"/>
          </a:p>
        </p:txBody>
      </p:sp>
      <p:sp>
        <p:nvSpPr>
          <p:cNvPr id="41" name="Shape 39"/>
          <p:cNvSpPr/>
          <p:nvPr/>
        </p:nvSpPr>
        <p:spPr>
          <a:xfrm>
            <a:off x="548640" y="5276088"/>
            <a:ext cx="11109960" cy="896112"/>
          </a:xfrm>
          <a:prstGeom prst="roundRect">
            <a:avLst>
              <a:gd name="adj" fmla="val 6122"/>
            </a:avLst>
          </a:prstGeom>
          <a:solidFill>
            <a:srgbClr val="DAF2EB"/>
          </a:solidFill>
          <a:ln w="15875">
            <a:solidFill>
              <a:srgbClr val="02A37A"/>
            </a:solidFill>
            <a:prstDash val="solid"/>
          </a:ln>
        </p:spPr>
      </p:sp>
      <p:sp>
        <p:nvSpPr>
          <p:cNvPr id="42" name="Text 40"/>
          <p:cNvSpPr/>
          <p:nvPr/>
        </p:nvSpPr>
        <p:spPr>
          <a:xfrm>
            <a:off x="777240" y="5385816"/>
            <a:ext cx="10607040" cy="694944"/>
          </a:xfrm>
          <a:prstGeom prst="rect">
            <a:avLst/>
          </a:prstGeom>
          <a:noFill/>
          <a:ln/>
        </p:spPr>
        <p:txBody>
          <a:bodyPr wrap="square" lIns="0" tIns="0" rIns="0" bIns="0" rtlCol="0" anchor="ctr"/>
          <a:lstStyle/>
          <a:p>
            <a:pPr indent="0" marL="0">
              <a:buNone/>
            </a:pPr>
            <a:r>
              <a:rPr lang="en-US" sz="1200" b="1" dirty="0">
                <a:solidFill>
                  <a:srgbClr val="0E1C36"/>
                </a:solidFill>
                <a:latin typeface="Calibri" pitchFamily="34" charset="0"/>
                <a:ea typeface="Calibri" pitchFamily="34" charset="-122"/>
                <a:cs typeface="Calibri" pitchFamily="34" charset="-120"/>
              </a:rPr>
              <a:t>The arithmetic. </a:t>
            </a:r>
            <a:pPr indent="0" marL="0">
              <a:buNone/>
            </a:pPr>
            <a:r>
              <a:rPr lang="en-US" sz="1200" dirty="0">
                <a:solidFill>
                  <a:srgbClr val="27374F"/>
                </a:solidFill>
                <a:latin typeface="Calibri" pitchFamily="34" charset="0"/>
                <a:ea typeface="Calibri" pitchFamily="34" charset="-122"/>
                <a:cs typeface="Calibri" pitchFamily="34" charset="-120"/>
              </a:rPr>
              <a:t>For row r of N:  age when the frame completes = (1 − r/N) × 33.3,  scan-out position = (r/N) × 33.3.  These sum to 33.3 for every r — the row that waits longest to be captured is displayed first. Total = 33.3 + render-and-publish, identical for every row. Checked over all 1080 rows: spread 0.00 ms.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MEASURED</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Latency: best case and worst case</a:t>
            </a:r>
            <a:endParaRPr lang="en-US" sz="3000" dirty="0"/>
          </a:p>
        </p:txBody>
      </p:sp>
      <p:sp>
        <p:nvSpPr>
          <p:cNvPr id="4" name="Text 2"/>
          <p:cNvSpPr/>
          <p:nvPr/>
        </p:nvSpPr>
        <p:spPr>
          <a:xfrm>
            <a:off x="548640" y="1133856"/>
            <a:ext cx="11109960" cy="457200"/>
          </a:xfrm>
          <a:prstGeom prst="rect">
            <a:avLst/>
          </a:prstGeom>
          <a:noFill/>
          <a:ln/>
        </p:spPr>
        <p:txBody>
          <a:bodyPr wrap="square" lIns="0" tIns="0" rIns="0" bIns="0" rtlCol="0" anchor="ctr"/>
          <a:lstStyle/>
          <a:p>
            <a:pPr indent="0" marL="0">
              <a:buNone/>
            </a:pPr>
            <a:r>
              <a:rPr lang="en-US" sz="1250" dirty="0">
                <a:solidFill>
                  <a:srgbClr val="27374F"/>
                </a:solidFill>
                <a:latin typeface="Calibri" pitchFamily="34" charset="0"/>
                <a:ea typeface="Calibri" pitchFamily="34" charset="-122"/>
                <a:cs typeface="Calibri" pitchFamily="34" charset="-120"/>
              </a:rPr>
              <a:t>A finished frame may only be published on a display frame edge, and the camera does not track the display. The wait for that edge is anywhere from nothing to a full frame period, and that is the entire difference between the two columns.</a:t>
            </a:r>
            <a:endParaRPr lang="en-US" sz="1250" dirty="0"/>
          </a:p>
        </p:txBody>
      </p:sp>
      <p:sp>
        <p:nvSpPr>
          <p:cNvPr id="5" name="Text 3"/>
          <p:cNvSpPr/>
          <p:nvPr/>
        </p:nvSpPr>
        <p:spPr>
          <a:xfrm>
            <a:off x="548640" y="1700784"/>
            <a:ext cx="2057400" cy="310896"/>
          </a:xfrm>
          <a:prstGeom prst="rect">
            <a:avLst/>
          </a:prstGeom>
          <a:noFill/>
          <a:ln/>
        </p:spPr>
        <p:txBody>
          <a:bodyPr wrap="square" lIns="0" tIns="0" rIns="0" bIns="0" rtlCol="0" anchor="ctr"/>
          <a:lstStyle/>
          <a:p>
            <a:pPr algn="l" indent="0" marL="0">
              <a:buNone/>
            </a:pPr>
            <a:r>
              <a:rPr lang="en-US" sz="1050" b="1" dirty="0">
                <a:solidFill>
                  <a:srgbClr val="6B7C97"/>
                </a:solidFill>
                <a:latin typeface="Calibri" pitchFamily="34" charset="0"/>
                <a:ea typeface="Calibri" pitchFamily="34" charset="-122"/>
                <a:cs typeface="Calibri" pitchFamily="34" charset="-120"/>
              </a:rPr>
              <a:t>Mode</a:t>
            </a:r>
            <a:endParaRPr lang="en-US" sz="1050" dirty="0"/>
          </a:p>
        </p:txBody>
      </p:sp>
      <p:sp>
        <p:nvSpPr>
          <p:cNvPr id="6" name="Text 4"/>
          <p:cNvSpPr/>
          <p:nvPr/>
        </p:nvSpPr>
        <p:spPr>
          <a:xfrm>
            <a:off x="2606040" y="1700784"/>
            <a:ext cx="196596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Render occupancy</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(ILA, untriggered)</a:t>
            </a:r>
            <a:endParaRPr lang="en-US" sz="1050" dirty="0"/>
          </a:p>
        </p:txBody>
      </p:sp>
      <p:sp>
        <p:nvSpPr>
          <p:cNvPr id="7" name="Text 5"/>
          <p:cNvSpPr/>
          <p:nvPr/>
        </p:nvSpPr>
        <p:spPr>
          <a:xfrm>
            <a:off x="4572000" y="1700784"/>
            <a:ext cx="214884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Frame → render done</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 fixed wait + render</a:t>
            </a:r>
            <a:endParaRPr lang="en-US" sz="1050" dirty="0"/>
          </a:p>
        </p:txBody>
      </p:sp>
      <p:sp>
        <p:nvSpPr>
          <p:cNvPr id="8" name="Text 6"/>
          <p:cNvSpPr/>
          <p:nvPr/>
        </p:nvSpPr>
        <p:spPr>
          <a:xfrm>
            <a:off x="6720840" y="1700784"/>
            <a:ext cx="169164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BEST CASE</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capture → display</a:t>
            </a:r>
            <a:endParaRPr lang="en-US" sz="1050" dirty="0"/>
          </a:p>
        </p:txBody>
      </p:sp>
      <p:sp>
        <p:nvSpPr>
          <p:cNvPr id="9" name="Text 7"/>
          <p:cNvSpPr/>
          <p:nvPr/>
        </p:nvSpPr>
        <p:spPr>
          <a:xfrm>
            <a:off x="8412480" y="1700784"/>
            <a:ext cx="169164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WORST CASE</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capture → display</a:t>
            </a:r>
            <a:endParaRPr lang="en-US" sz="1050" dirty="0"/>
          </a:p>
        </p:txBody>
      </p:sp>
      <p:sp>
        <p:nvSpPr>
          <p:cNvPr id="10" name="Text 8"/>
          <p:cNvSpPr/>
          <p:nvPr/>
        </p:nvSpPr>
        <p:spPr>
          <a:xfrm>
            <a:off x="10104120" y="1700784"/>
            <a:ext cx="155448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Publishing when</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this was measured</a:t>
            </a:r>
            <a:endParaRPr lang="en-US" sz="1050" dirty="0"/>
          </a:p>
        </p:txBody>
      </p:sp>
      <p:sp>
        <p:nvSpPr>
          <p:cNvPr id="11" name="Shape 9"/>
          <p:cNvSpPr/>
          <p:nvPr/>
        </p:nvSpPr>
        <p:spPr>
          <a:xfrm>
            <a:off x="548640" y="2029968"/>
            <a:ext cx="11109960" cy="0"/>
          </a:xfrm>
          <a:prstGeom prst="line">
            <a:avLst/>
          </a:prstGeom>
          <a:noFill/>
          <a:ln w="12700">
            <a:solidFill>
              <a:srgbClr val="D3DCEA"/>
            </a:solidFill>
            <a:prstDash val="solid"/>
          </a:ln>
        </p:spPr>
      </p:sp>
      <p:sp>
        <p:nvSpPr>
          <p:cNvPr id="12" name="Text 10"/>
          <p:cNvSpPr/>
          <p:nvPr/>
        </p:nvSpPr>
        <p:spPr>
          <a:xfrm>
            <a:off x="548640" y="2103120"/>
            <a:ext cx="2057400" cy="365760"/>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single</a:t>
            </a:r>
            <a:endParaRPr lang="en-US" sz="1050" dirty="0"/>
          </a:p>
        </p:txBody>
      </p:sp>
      <p:sp>
        <p:nvSpPr>
          <p:cNvPr id="13" name="Text 11"/>
          <p:cNvSpPr/>
          <p:nvPr/>
        </p:nvSpPr>
        <p:spPr>
          <a:xfrm>
            <a:off x="2606040" y="2103120"/>
            <a:ext cx="196596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~8.4 ms</a:t>
            </a:r>
            <a:endParaRPr lang="en-US" sz="1050" dirty="0"/>
          </a:p>
        </p:txBody>
      </p:sp>
      <p:sp>
        <p:nvSpPr>
          <p:cNvPr id="14" name="Text 12"/>
          <p:cNvSpPr/>
          <p:nvPr/>
        </p:nvSpPr>
        <p:spPr>
          <a:xfrm>
            <a:off x="4572000" y="2103120"/>
            <a:ext cx="214884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10.1 ms</a:t>
            </a:r>
            <a:endParaRPr lang="en-US" sz="1050" dirty="0"/>
          </a:p>
        </p:txBody>
      </p:sp>
      <p:sp>
        <p:nvSpPr>
          <p:cNvPr id="15" name="Text 13"/>
          <p:cNvSpPr/>
          <p:nvPr/>
        </p:nvSpPr>
        <p:spPr>
          <a:xfrm>
            <a:off x="6720840" y="2103120"/>
            <a:ext cx="1691640" cy="365760"/>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43.4 ms</a:t>
            </a:r>
            <a:endParaRPr lang="en-US" sz="1050" dirty="0"/>
          </a:p>
        </p:txBody>
      </p:sp>
      <p:sp>
        <p:nvSpPr>
          <p:cNvPr id="16" name="Text 14"/>
          <p:cNvSpPr/>
          <p:nvPr/>
        </p:nvSpPr>
        <p:spPr>
          <a:xfrm>
            <a:off x="8412480" y="2103120"/>
            <a:ext cx="1691640" cy="365760"/>
          </a:xfrm>
          <a:prstGeom prst="rect">
            <a:avLst/>
          </a:prstGeom>
          <a:noFill/>
          <a:ln/>
        </p:spPr>
        <p:txBody>
          <a:bodyPr wrap="square" lIns="0" tIns="0" rIns="0" bIns="0" rtlCol="0" anchor="ctr"/>
          <a:lstStyle/>
          <a:p>
            <a:pPr algn="ctr" indent="0" marL="0">
              <a:buNone/>
            </a:pPr>
            <a:r>
              <a:rPr lang="en-US" sz="1050" b="1" dirty="0">
                <a:solidFill>
                  <a:srgbClr val="C2A33B"/>
                </a:solidFill>
                <a:latin typeface="Calibri" pitchFamily="34" charset="0"/>
                <a:ea typeface="Calibri" pitchFamily="34" charset="-122"/>
                <a:cs typeface="Calibri" pitchFamily="34" charset="-120"/>
              </a:rPr>
              <a:t>76.8 ms</a:t>
            </a:r>
            <a:endParaRPr lang="en-US" sz="1050" dirty="0"/>
          </a:p>
        </p:txBody>
      </p:sp>
      <p:sp>
        <p:nvSpPr>
          <p:cNvPr id="17" name="Text 15"/>
          <p:cNvSpPr/>
          <p:nvPr/>
        </p:nvSpPr>
        <p:spPr>
          <a:xfrm>
            <a:off x="10104120" y="2103120"/>
            <a:ext cx="155448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29.75 fps</a:t>
            </a:r>
            <a:endParaRPr lang="en-US" sz="1050" dirty="0"/>
          </a:p>
        </p:txBody>
      </p:sp>
      <p:sp>
        <p:nvSpPr>
          <p:cNvPr id="18" name="Shape 16"/>
          <p:cNvSpPr/>
          <p:nvPr/>
        </p:nvSpPr>
        <p:spPr>
          <a:xfrm>
            <a:off x="475488" y="2478024"/>
            <a:ext cx="11256264" cy="384048"/>
          </a:xfrm>
          <a:prstGeom prst="rect">
            <a:avLst/>
          </a:prstGeom>
          <a:solidFill>
            <a:srgbClr val="F2F5FA"/>
          </a:solidFill>
          <a:ln w="12700">
            <a:solidFill>
              <a:srgbClr val="333333"/>
            </a:solidFill>
            <a:prstDash val="solid"/>
          </a:ln>
        </p:spPr>
      </p:sp>
      <p:sp>
        <p:nvSpPr>
          <p:cNvPr id="19" name="Text 17"/>
          <p:cNvSpPr/>
          <p:nvPr/>
        </p:nvSpPr>
        <p:spPr>
          <a:xfrm>
            <a:off x="548640" y="2505456"/>
            <a:ext cx="2057400" cy="365760"/>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panorama</a:t>
            </a:r>
            <a:endParaRPr lang="en-US" sz="1050" dirty="0"/>
          </a:p>
        </p:txBody>
      </p:sp>
      <p:sp>
        <p:nvSpPr>
          <p:cNvPr id="20" name="Text 18"/>
          <p:cNvSpPr/>
          <p:nvPr/>
        </p:nvSpPr>
        <p:spPr>
          <a:xfrm>
            <a:off x="2606040" y="2505456"/>
            <a:ext cx="196596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~24.9 ms</a:t>
            </a:r>
            <a:endParaRPr lang="en-US" sz="1050" dirty="0"/>
          </a:p>
        </p:txBody>
      </p:sp>
      <p:sp>
        <p:nvSpPr>
          <p:cNvPr id="21" name="Text 19"/>
          <p:cNvSpPr/>
          <p:nvPr/>
        </p:nvSpPr>
        <p:spPr>
          <a:xfrm>
            <a:off x="4572000" y="2505456"/>
            <a:ext cx="214884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38.2 ms</a:t>
            </a:r>
            <a:endParaRPr lang="en-US" sz="1050" dirty="0"/>
          </a:p>
        </p:txBody>
      </p:sp>
      <p:sp>
        <p:nvSpPr>
          <p:cNvPr id="22" name="Text 20"/>
          <p:cNvSpPr/>
          <p:nvPr/>
        </p:nvSpPr>
        <p:spPr>
          <a:xfrm>
            <a:off x="6720840" y="2505456"/>
            <a:ext cx="1691640" cy="365760"/>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71.5 ms</a:t>
            </a:r>
            <a:endParaRPr lang="en-US" sz="1050" dirty="0"/>
          </a:p>
        </p:txBody>
      </p:sp>
      <p:sp>
        <p:nvSpPr>
          <p:cNvPr id="23" name="Text 21"/>
          <p:cNvSpPr/>
          <p:nvPr/>
        </p:nvSpPr>
        <p:spPr>
          <a:xfrm>
            <a:off x="8412480" y="2505456"/>
            <a:ext cx="1691640" cy="365760"/>
          </a:xfrm>
          <a:prstGeom prst="rect">
            <a:avLst/>
          </a:prstGeom>
          <a:noFill/>
          <a:ln/>
        </p:spPr>
        <p:txBody>
          <a:bodyPr wrap="square" lIns="0" tIns="0" rIns="0" bIns="0" rtlCol="0" anchor="ctr"/>
          <a:lstStyle/>
          <a:p>
            <a:pPr algn="ctr" indent="0" marL="0">
              <a:buNone/>
            </a:pPr>
            <a:r>
              <a:rPr lang="en-US" sz="1050" b="1" dirty="0">
                <a:solidFill>
                  <a:srgbClr val="C2A33B"/>
                </a:solidFill>
                <a:latin typeface="Calibri" pitchFamily="34" charset="0"/>
                <a:ea typeface="Calibri" pitchFamily="34" charset="-122"/>
                <a:cs typeface="Calibri" pitchFamily="34" charset="-120"/>
              </a:rPr>
              <a:t>104.9 ms</a:t>
            </a:r>
            <a:endParaRPr lang="en-US" sz="1050" dirty="0"/>
          </a:p>
        </p:txBody>
      </p:sp>
      <p:sp>
        <p:nvSpPr>
          <p:cNvPr id="24" name="Text 22"/>
          <p:cNvSpPr/>
          <p:nvPr/>
        </p:nvSpPr>
        <p:spPr>
          <a:xfrm>
            <a:off x="10104120" y="2505456"/>
            <a:ext cx="1554480" cy="365760"/>
          </a:xfrm>
          <a:prstGeom prst="rect">
            <a:avLst/>
          </a:prstGeom>
          <a:noFill/>
          <a:ln/>
        </p:spPr>
        <p:txBody>
          <a:bodyPr wrap="square" lIns="0" tIns="0" rIns="0" bIns="0" rtlCol="0" anchor="ctr"/>
          <a:lstStyle/>
          <a:p>
            <a:pPr algn="ctr" indent="0" marL="0">
              <a:buNone/>
            </a:pPr>
            <a:r>
              <a:rPr lang="en-US" sz="1050" dirty="0">
                <a:solidFill>
                  <a:srgbClr val="B4443A"/>
                </a:solidFill>
                <a:latin typeface="Calibri" pitchFamily="34" charset="0"/>
                <a:ea typeface="Calibri" pitchFamily="34" charset="-122"/>
                <a:cs typeface="Calibri" pitchFamily="34" charset="-120"/>
              </a:rPr>
              <a:t>15.03 fps</a:t>
            </a:r>
            <a:endParaRPr lang="en-US" sz="1050" dirty="0"/>
          </a:p>
        </p:txBody>
      </p:sp>
      <p:sp>
        <p:nvSpPr>
          <p:cNvPr id="25" name="Text 23"/>
          <p:cNvSpPr/>
          <p:nvPr/>
        </p:nvSpPr>
        <p:spPr>
          <a:xfrm>
            <a:off x="548640" y="2907792"/>
            <a:ext cx="2057400" cy="365760"/>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IR single</a:t>
            </a:r>
            <a:endParaRPr lang="en-US" sz="1050" dirty="0"/>
          </a:p>
        </p:txBody>
      </p:sp>
      <p:sp>
        <p:nvSpPr>
          <p:cNvPr id="26" name="Text 24"/>
          <p:cNvSpPr/>
          <p:nvPr/>
        </p:nvSpPr>
        <p:spPr>
          <a:xfrm>
            <a:off x="2606040" y="2907792"/>
            <a:ext cx="196596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not measured</a:t>
            </a:r>
            <a:endParaRPr lang="en-US" sz="1050" dirty="0"/>
          </a:p>
        </p:txBody>
      </p:sp>
      <p:sp>
        <p:nvSpPr>
          <p:cNvPr id="27" name="Text 25"/>
          <p:cNvSpPr/>
          <p:nvPr/>
        </p:nvSpPr>
        <p:spPr>
          <a:xfrm>
            <a:off x="4572000" y="2907792"/>
            <a:ext cx="214884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25.8 ms</a:t>
            </a:r>
            <a:endParaRPr lang="en-US" sz="1050" dirty="0"/>
          </a:p>
        </p:txBody>
      </p:sp>
      <p:sp>
        <p:nvSpPr>
          <p:cNvPr id="28" name="Text 26"/>
          <p:cNvSpPr/>
          <p:nvPr/>
        </p:nvSpPr>
        <p:spPr>
          <a:xfrm>
            <a:off x="6720840" y="2907792"/>
            <a:ext cx="1691640" cy="365760"/>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59.1 ms</a:t>
            </a:r>
            <a:endParaRPr lang="en-US" sz="1050" dirty="0"/>
          </a:p>
        </p:txBody>
      </p:sp>
      <p:sp>
        <p:nvSpPr>
          <p:cNvPr id="29" name="Text 27"/>
          <p:cNvSpPr/>
          <p:nvPr/>
        </p:nvSpPr>
        <p:spPr>
          <a:xfrm>
            <a:off x="8412480" y="2907792"/>
            <a:ext cx="1691640" cy="365760"/>
          </a:xfrm>
          <a:prstGeom prst="rect">
            <a:avLst/>
          </a:prstGeom>
          <a:noFill/>
          <a:ln/>
        </p:spPr>
        <p:txBody>
          <a:bodyPr wrap="square" lIns="0" tIns="0" rIns="0" bIns="0" rtlCol="0" anchor="ctr"/>
          <a:lstStyle/>
          <a:p>
            <a:pPr algn="ctr" indent="0" marL="0">
              <a:buNone/>
            </a:pPr>
            <a:r>
              <a:rPr lang="en-US" sz="1050" b="1" dirty="0">
                <a:solidFill>
                  <a:srgbClr val="C2A33B"/>
                </a:solidFill>
                <a:latin typeface="Calibri" pitchFamily="34" charset="0"/>
                <a:ea typeface="Calibri" pitchFamily="34" charset="-122"/>
                <a:cs typeface="Calibri" pitchFamily="34" charset="-120"/>
              </a:rPr>
              <a:t>92.5 ms</a:t>
            </a:r>
            <a:endParaRPr lang="en-US" sz="1050" dirty="0"/>
          </a:p>
        </p:txBody>
      </p:sp>
      <p:sp>
        <p:nvSpPr>
          <p:cNvPr id="30" name="Text 28"/>
          <p:cNvSpPr/>
          <p:nvPr/>
        </p:nvSpPr>
        <p:spPr>
          <a:xfrm>
            <a:off x="10104120" y="2907792"/>
            <a:ext cx="155448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30.01 fps</a:t>
            </a:r>
            <a:endParaRPr lang="en-US" sz="1050" dirty="0"/>
          </a:p>
        </p:txBody>
      </p:sp>
      <p:sp>
        <p:nvSpPr>
          <p:cNvPr id="31" name="Shape 29"/>
          <p:cNvSpPr/>
          <p:nvPr/>
        </p:nvSpPr>
        <p:spPr>
          <a:xfrm>
            <a:off x="475488" y="3282696"/>
            <a:ext cx="11256264" cy="384048"/>
          </a:xfrm>
          <a:prstGeom prst="rect">
            <a:avLst/>
          </a:prstGeom>
          <a:solidFill>
            <a:srgbClr val="F2F5FA"/>
          </a:solidFill>
          <a:ln w="12700">
            <a:solidFill>
              <a:srgbClr val="333333"/>
            </a:solidFill>
            <a:prstDash val="solid"/>
          </a:ln>
        </p:spPr>
      </p:sp>
      <p:sp>
        <p:nvSpPr>
          <p:cNvPr id="32" name="Text 30"/>
          <p:cNvSpPr/>
          <p:nvPr/>
        </p:nvSpPr>
        <p:spPr>
          <a:xfrm>
            <a:off x="548640" y="3310128"/>
            <a:ext cx="2057400" cy="365760"/>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IR panorama</a:t>
            </a:r>
            <a:endParaRPr lang="en-US" sz="1050" dirty="0"/>
          </a:p>
        </p:txBody>
      </p:sp>
      <p:sp>
        <p:nvSpPr>
          <p:cNvPr id="33" name="Text 31"/>
          <p:cNvSpPr/>
          <p:nvPr/>
        </p:nvSpPr>
        <p:spPr>
          <a:xfrm>
            <a:off x="2606040" y="3310128"/>
            <a:ext cx="196596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~26.6 ms</a:t>
            </a:r>
            <a:endParaRPr lang="en-US" sz="1050" dirty="0"/>
          </a:p>
        </p:txBody>
      </p:sp>
      <p:sp>
        <p:nvSpPr>
          <p:cNvPr id="34" name="Text 32"/>
          <p:cNvSpPr/>
          <p:nvPr/>
        </p:nvSpPr>
        <p:spPr>
          <a:xfrm>
            <a:off x="4572000" y="3310128"/>
            <a:ext cx="2148840" cy="365760"/>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41.6 ms</a:t>
            </a:r>
            <a:endParaRPr lang="en-US" sz="1050" dirty="0"/>
          </a:p>
        </p:txBody>
      </p:sp>
      <p:sp>
        <p:nvSpPr>
          <p:cNvPr id="35" name="Text 33"/>
          <p:cNvSpPr/>
          <p:nvPr/>
        </p:nvSpPr>
        <p:spPr>
          <a:xfrm>
            <a:off x="6720840" y="3310128"/>
            <a:ext cx="1691640" cy="365760"/>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74.9 ms</a:t>
            </a:r>
            <a:endParaRPr lang="en-US" sz="1050" dirty="0"/>
          </a:p>
        </p:txBody>
      </p:sp>
      <p:sp>
        <p:nvSpPr>
          <p:cNvPr id="36" name="Text 34"/>
          <p:cNvSpPr/>
          <p:nvPr/>
        </p:nvSpPr>
        <p:spPr>
          <a:xfrm>
            <a:off x="8412480" y="3310128"/>
            <a:ext cx="1691640" cy="365760"/>
          </a:xfrm>
          <a:prstGeom prst="rect">
            <a:avLst/>
          </a:prstGeom>
          <a:noFill/>
          <a:ln/>
        </p:spPr>
        <p:txBody>
          <a:bodyPr wrap="square" lIns="0" tIns="0" rIns="0" bIns="0" rtlCol="0" anchor="ctr"/>
          <a:lstStyle/>
          <a:p>
            <a:pPr algn="ctr" indent="0" marL="0">
              <a:buNone/>
            </a:pPr>
            <a:r>
              <a:rPr lang="en-US" sz="1050" b="1" dirty="0">
                <a:solidFill>
                  <a:srgbClr val="C2A33B"/>
                </a:solidFill>
                <a:latin typeface="Calibri" pitchFamily="34" charset="0"/>
                <a:ea typeface="Calibri" pitchFamily="34" charset="-122"/>
                <a:cs typeface="Calibri" pitchFamily="34" charset="-120"/>
              </a:rPr>
              <a:t>108.3 ms</a:t>
            </a:r>
            <a:endParaRPr lang="en-US" sz="1050" dirty="0"/>
          </a:p>
        </p:txBody>
      </p:sp>
      <p:sp>
        <p:nvSpPr>
          <p:cNvPr id="37" name="Text 35"/>
          <p:cNvSpPr/>
          <p:nvPr/>
        </p:nvSpPr>
        <p:spPr>
          <a:xfrm>
            <a:off x="10104120" y="3310128"/>
            <a:ext cx="1554480" cy="365760"/>
          </a:xfrm>
          <a:prstGeom prst="rect">
            <a:avLst/>
          </a:prstGeom>
          <a:noFill/>
          <a:ln/>
        </p:spPr>
        <p:txBody>
          <a:bodyPr wrap="square" lIns="0" tIns="0" rIns="0" bIns="0" rtlCol="0" anchor="ctr"/>
          <a:lstStyle/>
          <a:p>
            <a:pPr algn="ctr" indent="0" marL="0">
              <a:buNone/>
            </a:pPr>
            <a:r>
              <a:rPr lang="en-US" sz="1050" dirty="0">
                <a:solidFill>
                  <a:srgbClr val="B4443A"/>
                </a:solidFill>
                <a:latin typeface="Calibri" pitchFamily="34" charset="0"/>
                <a:ea typeface="Calibri" pitchFamily="34" charset="-122"/>
                <a:cs typeface="Calibri" pitchFamily="34" charset="-120"/>
              </a:rPr>
              <a:t>15.03 fps</a:t>
            </a:r>
            <a:endParaRPr lang="en-US" sz="1050" dirty="0"/>
          </a:p>
        </p:txBody>
      </p:sp>
      <p:sp>
        <p:nvSpPr>
          <p:cNvPr id="38" name="Shape 36"/>
          <p:cNvSpPr/>
          <p:nvPr/>
        </p:nvSpPr>
        <p:spPr>
          <a:xfrm>
            <a:off x="548640" y="3611880"/>
            <a:ext cx="5532120" cy="1481328"/>
          </a:xfrm>
          <a:prstGeom prst="roundRect">
            <a:avLst>
              <a:gd name="adj" fmla="val 3704"/>
            </a:avLst>
          </a:prstGeom>
          <a:solidFill>
            <a:srgbClr val="DAF2EB"/>
          </a:solidFill>
          <a:ln w="15875">
            <a:solidFill>
              <a:srgbClr val="02A37A"/>
            </a:solidFill>
            <a:prstDash val="solid"/>
          </a:ln>
        </p:spPr>
      </p:sp>
      <p:sp>
        <p:nvSpPr>
          <p:cNvPr id="39" name="Text 37"/>
          <p:cNvSpPr/>
          <p:nvPr/>
        </p:nvSpPr>
        <p:spPr>
          <a:xfrm>
            <a:off x="777240" y="3712464"/>
            <a:ext cx="5074920" cy="274320"/>
          </a:xfrm>
          <a:prstGeom prst="rect">
            <a:avLst/>
          </a:prstGeom>
          <a:noFill/>
          <a:ln/>
        </p:spPr>
        <p:txBody>
          <a:bodyPr wrap="square" lIns="0" tIns="0" rIns="0" bIns="0" rtlCol="0" anchor="ctr"/>
          <a:lstStyle/>
          <a:p>
            <a:pPr indent="0" marL="0">
              <a:buNone/>
            </a:pPr>
            <a:r>
              <a:rPr lang="en-US" sz="1250" b="1" dirty="0">
                <a:solidFill>
                  <a:srgbClr val="0E1C36"/>
                </a:solidFill>
                <a:latin typeface="Calibri" pitchFamily="34" charset="0"/>
                <a:ea typeface="Calibri" pitchFamily="34" charset="-122"/>
                <a:cs typeface="Calibri" pitchFamily="34" charset="-120"/>
              </a:rPr>
              <a:t>Why 41.6 ms does not cap throughput at 24 fps</a:t>
            </a:r>
            <a:endParaRPr lang="en-US" sz="1250" dirty="0"/>
          </a:p>
        </p:txBody>
      </p:sp>
      <p:sp>
        <p:nvSpPr>
          <p:cNvPr id="40" name="Text 38"/>
          <p:cNvSpPr/>
          <p:nvPr/>
        </p:nvSpPr>
        <p:spPr>
          <a:xfrm>
            <a:off x="777240" y="4023360"/>
            <a:ext cx="5074920" cy="1005840"/>
          </a:xfrm>
          <a:prstGeom prst="rect">
            <a:avLst/>
          </a:prstGeom>
          <a:noFill/>
          <a:ln/>
        </p:spPr>
        <p:txBody>
          <a:bodyPr wrap="square" lIns="0" tIns="0" rIns="0" bIns="0" rtlCol="0" anchor="ctr"/>
          <a:lstStyle/>
          <a:p>
            <a:pPr indent="0" marL="0">
              <a:buNone/>
            </a:pPr>
            <a:r>
              <a:rPr lang="en-US" sz="1100" dirty="0">
                <a:solidFill>
                  <a:srgbClr val="27374F"/>
                </a:solidFill>
                <a:latin typeface="Calibri" pitchFamily="34" charset="0"/>
                <a:ea typeface="Calibri" pitchFamily="34" charset="-122"/>
                <a:cs typeface="Calibri" pitchFamily="34" charset="-120"/>
              </a:rPr>
              <a:t>The middle column is a latency, not an occupancy. It is a fixed phase wait plus the render — for IR panorama, about 15 ms of waiting for the row window to open, then a 26.6 ms render.</a:t>
            </a:r>
            <a:endParaRPr lang="en-US" sz="1100" dirty="0"/>
          </a:p>
          <a:p>
            <a:pPr indent="0" marL="0">
              <a:buNone/>
            </a:pPr>
            <a:r>
              <a:rPr lang="en-US" sz="1100" dirty="0">
                <a:solidFill>
                  <a:srgbClr val="27374F"/>
                </a:solidFill>
                <a:latin typeface="Calibri" pitchFamily="34" charset="0"/>
                <a:ea typeface="Calibri" pitchFamily="34" charset="-122"/>
                <a:cs typeface="Calibri" pitchFamily="34" charset="-120"/>
              </a:rPr>
              <a:t>Only the render occupies the engine, and 26.6 ms fits inside 33.3 ms. The wait is a constant offset: it delays every frame equally and costs nothing per frame. Renders never overlap, so throughput is set by the occupancy alone.</a:t>
            </a:r>
            <a:endParaRPr lang="en-US" sz="1100" dirty="0"/>
          </a:p>
        </p:txBody>
      </p:sp>
      <p:sp>
        <p:nvSpPr>
          <p:cNvPr id="41" name="Shape 39"/>
          <p:cNvSpPr/>
          <p:nvPr/>
        </p:nvSpPr>
        <p:spPr>
          <a:xfrm>
            <a:off x="6263640" y="3611880"/>
            <a:ext cx="5394960" cy="1481328"/>
          </a:xfrm>
          <a:prstGeom prst="roundRect">
            <a:avLst>
              <a:gd name="adj" fmla="val 3704"/>
            </a:avLst>
          </a:prstGeom>
          <a:solidFill>
            <a:srgbClr val="F7F0D8"/>
          </a:solidFill>
          <a:ln w="15875">
            <a:solidFill>
              <a:srgbClr val="C2A33B"/>
            </a:solidFill>
            <a:prstDash val="solid"/>
          </a:ln>
        </p:spPr>
      </p:sp>
      <p:sp>
        <p:nvSpPr>
          <p:cNvPr id="42" name="Text 40"/>
          <p:cNvSpPr/>
          <p:nvPr/>
        </p:nvSpPr>
        <p:spPr>
          <a:xfrm>
            <a:off x="6492240" y="3712464"/>
            <a:ext cx="4937760" cy="274320"/>
          </a:xfrm>
          <a:prstGeom prst="rect">
            <a:avLst/>
          </a:prstGeom>
          <a:noFill/>
          <a:ln/>
        </p:spPr>
        <p:txBody>
          <a:bodyPr wrap="square" lIns="0" tIns="0" rIns="0" bIns="0" rtlCol="0" anchor="ctr"/>
          <a:lstStyle/>
          <a:p>
            <a:pPr indent="0" marL="0">
              <a:buNone/>
            </a:pPr>
            <a:r>
              <a:rPr lang="en-US" sz="1250" b="1" dirty="0">
                <a:solidFill>
                  <a:srgbClr val="0E1C36"/>
                </a:solidFill>
                <a:latin typeface="Calibri" pitchFamily="34" charset="0"/>
                <a:ea typeface="Calibri" pitchFamily="34" charset="-122"/>
                <a:cs typeface="Calibri" pitchFamily="34" charset="-120"/>
              </a:rPr>
              <a:t>Why the worst case occurs</a:t>
            </a:r>
            <a:endParaRPr lang="en-US" sz="1250" dirty="0"/>
          </a:p>
        </p:txBody>
      </p:sp>
      <p:sp>
        <p:nvSpPr>
          <p:cNvPr id="43" name="Text 41"/>
          <p:cNvSpPr/>
          <p:nvPr/>
        </p:nvSpPr>
        <p:spPr>
          <a:xfrm>
            <a:off x="6492240" y="4023360"/>
            <a:ext cx="4937760" cy="1005840"/>
          </a:xfrm>
          <a:prstGeom prst="rect">
            <a:avLst/>
          </a:prstGeom>
          <a:noFill/>
          <a:ln/>
        </p:spPr>
        <p:txBody>
          <a:bodyPr wrap="square" lIns="0" tIns="0" rIns="0" bIns="0" rtlCol="0" anchor="ctr"/>
          <a:lstStyle/>
          <a:p>
            <a:pPr indent="0" marL="0">
              <a:buNone/>
            </a:pPr>
            <a:r>
              <a:rPr lang="en-US" sz="1100" dirty="0">
                <a:solidFill>
                  <a:srgbClr val="27374F"/>
                </a:solidFill>
                <a:latin typeface="Calibri" pitchFamily="34" charset="0"/>
                <a:ea typeface="Calibri" pitchFamily="34" charset="-122"/>
                <a:cs typeface="Calibri" pitchFamily="34" charset="-120"/>
              </a:rPr>
              <a:t>The render finishes at some moment inside the display's 33.3 ms cycle and cannot choose that moment. Finish just before an edge and the frame goes out at once; finish just after one and it is held a whole further period.</a:t>
            </a:r>
            <a:endParaRPr lang="en-US" sz="1100" dirty="0"/>
          </a:p>
          <a:p>
            <a:pPr indent="0" marL="0">
              <a:buNone/>
            </a:pPr>
            <a:r>
              <a:rPr lang="en-US" sz="1100" dirty="0">
                <a:solidFill>
                  <a:srgbClr val="27374F"/>
                </a:solidFill>
                <a:latin typeface="Calibri" pitchFamily="34" charset="0"/>
                <a:ea typeface="Calibri" pitchFamily="34" charset="-122"/>
                <a:cs typeface="Calibri" pitchFamily="34" charset="-120"/>
              </a:rPr>
              <a:t>This is a continuous drift, not an occasional fault — which is why no single "typical" value is quoted. Shortening the render moves both columns down; locking the camera to the display raster would collapse them to one.</a:t>
            </a:r>
            <a:endParaRPr lang="en-US" sz="1100" dirty="0"/>
          </a:p>
        </p:txBody>
      </p:sp>
      <p:sp>
        <p:nvSpPr>
          <p:cNvPr id="44" name="Shape 42"/>
          <p:cNvSpPr/>
          <p:nvPr/>
        </p:nvSpPr>
        <p:spPr>
          <a:xfrm>
            <a:off x="548640" y="5230368"/>
            <a:ext cx="11109960" cy="749808"/>
          </a:xfrm>
          <a:prstGeom prst="roundRect">
            <a:avLst>
              <a:gd name="adj" fmla="val 7317"/>
            </a:avLst>
          </a:prstGeom>
          <a:solidFill>
            <a:srgbClr val="F6E2E0"/>
          </a:solidFill>
          <a:ln w="15875">
            <a:solidFill>
              <a:srgbClr val="B4443A"/>
            </a:solidFill>
            <a:prstDash val="solid"/>
          </a:ln>
        </p:spPr>
      </p:sp>
      <p:sp>
        <p:nvSpPr>
          <p:cNvPr id="45" name="Text 43"/>
          <p:cNvSpPr/>
          <p:nvPr/>
        </p:nvSpPr>
        <p:spPr>
          <a:xfrm>
            <a:off x="777240" y="5321808"/>
            <a:ext cx="10652760" cy="603504"/>
          </a:xfrm>
          <a:prstGeom prst="rect">
            <a:avLst/>
          </a:prstGeom>
          <a:noFill/>
          <a:ln/>
        </p:spPr>
        <p:txBody>
          <a:bodyPr wrap="square" lIns="0" tIns="0" rIns="0" bIns="0" rtlCol="0" anchor="ctr"/>
          <a:lstStyle/>
          <a:p>
            <a:pPr indent="0" marL="0">
              <a:buNone/>
            </a:pPr>
            <a:r>
              <a:rPr lang="en-US" sz="1050" b="1" dirty="0">
                <a:solidFill>
                  <a:srgbClr val="0E1C36"/>
                </a:solidFill>
                <a:latin typeface="Calibri" pitchFamily="34" charset="0"/>
                <a:ea typeface="Calibri" pitchFamily="34" charset="-122"/>
                <a:cs typeface="Calibri" pitchFamily="34" charset="-120"/>
              </a:rPr>
              <a:t>Scope of the two flagged rows. </a:t>
            </a:r>
            <a:pPr indent="0" marL="0">
              <a:buNone/>
            </a:pPr>
            <a:r>
              <a:rPr lang="en-US" sz="1050" dirty="0">
                <a:solidFill>
                  <a:srgbClr val="27374F"/>
                </a:solidFill>
                <a:latin typeface="Calibri" pitchFamily="34" charset="0"/>
                <a:ea typeface="Calibri" pitchFamily="34" charset="-122"/>
                <a:cs typeface="Calibri" pitchFamily="34" charset="-120"/>
              </a:rPr>
              <a:t>Both panorama latencies were measured on the main branch while those modes published 15 fps. The 30 fps and 22.9 fps figures elsewhere in this deck come from the IR-DDR branch, which feeds IR panorama through DDR input buffers instead of live line caches. The render occupancies still fit 33.3 ms, so these bounds remain the best available, but they have not been re-measured on the branch that achieves 30 fps.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MECHANISM</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Best and worst, drawn on the same clock</a:t>
            </a:r>
            <a:endParaRPr lang="en-US" sz="3000" dirty="0"/>
          </a:p>
        </p:txBody>
      </p:sp>
      <p:sp>
        <p:nvSpPr>
          <p:cNvPr id="4" name="Text 2"/>
          <p:cNvSpPr/>
          <p:nvPr/>
        </p:nvSpPr>
        <p:spPr>
          <a:xfrm>
            <a:off x="548640" y="1133856"/>
            <a:ext cx="11109960" cy="310896"/>
          </a:xfrm>
          <a:prstGeom prst="rect">
            <a:avLst/>
          </a:prstGeom>
          <a:noFill/>
          <a:ln/>
        </p:spPr>
        <p:txBody>
          <a:bodyPr wrap="square" lIns="0" tIns="0" rIns="0" bIns="0" rtlCol="0" anchor="ctr"/>
          <a:lstStyle/>
          <a:p>
            <a:pPr indent="0" marL="0">
              <a:buNone/>
            </a:pPr>
            <a:r>
              <a:rPr lang="en-US" sz="1300" dirty="0">
                <a:solidFill>
                  <a:srgbClr val="27374F"/>
                </a:solidFill>
                <a:latin typeface="Calibri" pitchFamily="34" charset="0"/>
                <a:ea typeface="Calibri" pitchFamily="34" charset="-122"/>
                <a:cs typeface="Calibri" pitchFamily="34" charset="-120"/>
              </a:rPr>
              <a:t>Identical camera, identical render. The only difference is where the display's edge grid happens to fall — which nothing in the system controls.</a:t>
            </a:r>
            <a:endParaRPr lang="en-US" sz="1300" dirty="0"/>
          </a:p>
        </p:txBody>
      </p:sp>
      <p:sp>
        <p:nvSpPr>
          <p:cNvPr id="5" name="Text 3"/>
          <p:cNvSpPr/>
          <p:nvPr/>
        </p:nvSpPr>
        <p:spPr>
          <a:xfrm>
            <a:off x="548640" y="1572768"/>
            <a:ext cx="11109960" cy="256032"/>
          </a:xfrm>
          <a:prstGeom prst="rect">
            <a:avLst/>
          </a:prstGeom>
          <a:noFill/>
          <a:ln/>
        </p:spPr>
        <p:txBody>
          <a:bodyPr wrap="square" lIns="0" tIns="0" rIns="0" bIns="0" rtlCol="0" anchor="ctr"/>
          <a:lstStyle/>
          <a:p>
            <a:pPr indent="0" marL="0">
              <a:buNone/>
            </a:pPr>
            <a:r>
              <a:rPr lang="en-US" sz="1250" b="1" dirty="0">
                <a:solidFill>
                  <a:srgbClr val="02A37A"/>
                </a:solidFill>
                <a:latin typeface="Calibri" pitchFamily="34" charset="0"/>
                <a:ea typeface="Calibri" pitchFamily="34" charset="-122"/>
                <a:cs typeface="Calibri" pitchFamily="34" charset="-120"/>
              </a:rPr>
              <a:t>BEST CASE — the render lands just before an edge</a:t>
            </a:r>
            <a:endParaRPr lang="en-US" sz="1250" dirty="0"/>
          </a:p>
        </p:txBody>
      </p:sp>
      <p:sp>
        <p:nvSpPr>
          <p:cNvPr id="6" name="Text 4"/>
          <p:cNvSpPr/>
          <p:nvPr/>
        </p:nvSpPr>
        <p:spPr>
          <a:xfrm>
            <a:off x="896112" y="1938528"/>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Display edges</a:t>
            </a:r>
            <a:endParaRPr lang="en-US" sz="1050" dirty="0"/>
          </a:p>
        </p:txBody>
      </p:sp>
      <p:sp>
        <p:nvSpPr>
          <p:cNvPr id="7" name="Shape 5"/>
          <p:cNvSpPr/>
          <p:nvPr/>
        </p:nvSpPr>
        <p:spPr>
          <a:xfrm>
            <a:off x="3388523" y="1956816"/>
            <a:ext cx="64008" cy="292608"/>
          </a:xfrm>
          <a:prstGeom prst="rect">
            <a:avLst/>
          </a:prstGeom>
          <a:solidFill>
            <a:srgbClr val="16233A"/>
          </a:solidFill>
          <a:ln w="12700">
            <a:solidFill>
              <a:srgbClr val="333333"/>
            </a:solidFill>
            <a:prstDash val="solid"/>
          </a:ln>
        </p:spPr>
      </p:sp>
      <p:sp>
        <p:nvSpPr>
          <p:cNvPr id="8" name="Shape 6"/>
          <p:cNvSpPr/>
          <p:nvPr/>
        </p:nvSpPr>
        <p:spPr>
          <a:xfrm>
            <a:off x="5196984" y="1956816"/>
            <a:ext cx="64008" cy="292608"/>
          </a:xfrm>
          <a:prstGeom prst="rect">
            <a:avLst/>
          </a:prstGeom>
          <a:solidFill>
            <a:srgbClr val="16233A"/>
          </a:solidFill>
          <a:ln w="12700">
            <a:solidFill>
              <a:srgbClr val="333333"/>
            </a:solidFill>
            <a:prstDash val="solid"/>
          </a:ln>
        </p:spPr>
      </p:sp>
      <p:sp>
        <p:nvSpPr>
          <p:cNvPr id="9" name="Shape 7"/>
          <p:cNvSpPr/>
          <p:nvPr/>
        </p:nvSpPr>
        <p:spPr>
          <a:xfrm>
            <a:off x="7005446" y="1956816"/>
            <a:ext cx="64008" cy="292608"/>
          </a:xfrm>
          <a:prstGeom prst="rect">
            <a:avLst/>
          </a:prstGeom>
          <a:solidFill>
            <a:srgbClr val="16233A"/>
          </a:solidFill>
          <a:ln w="12700">
            <a:solidFill>
              <a:srgbClr val="333333"/>
            </a:solidFill>
            <a:prstDash val="solid"/>
          </a:ln>
        </p:spPr>
      </p:sp>
      <p:sp>
        <p:nvSpPr>
          <p:cNvPr id="10" name="Shape 8"/>
          <p:cNvSpPr/>
          <p:nvPr/>
        </p:nvSpPr>
        <p:spPr>
          <a:xfrm>
            <a:off x="8813908" y="1956816"/>
            <a:ext cx="64008" cy="292608"/>
          </a:xfrm>
          <a:prstGeom prst="rect">
            <a:avLst/>
          </a:prstGeom>
          <a:solidFill>
            <a:srgbClr val="16233A"/>
          </a:solidFill>
          <a:ln w="12700">
            <a:solidFill>
              <a:srgbClr val="333333"/>
            </a:solidFill>
            <a:prstDash val="solid"/>
          </a:ln>
        </p:spPr>
      </p:sp>
      <p:sp>
        <p:nvSpPr>
          <p:cNvPr id="11" name="Shape 9"/>
          <p:cNvSpPr/>
          <p:nvPr/>
        </p:nvSpPr>
        <p:spPr>
          <a:xfrm>
            <a:off x="10622370" y="1956816"/>
            <a:ext cx="64008" cy="292608"/>
          </a:xfrm>
          <a:prstGeom prst="rect">
            <a:avLst/>
          </a:prstGeom>
          <a:solidFill>
            <a:srgbClr val="16233A"/>
          </a:solidFill>
          <a:ln w="12700">
            <a:solidFill>
              <a:srgbClr val="333333"/>
            </a:solidFill>
            <a:prstDash val="solid"/>
          </a:ln>
        </p:spPr>
      </p:sp>
      <p:sp>
        <p:nvSpPr>
          <p:cNvPr id="12" name="Shape 10"/>
          <p:cNvSpPr/>
          <p:nvPr/>
        </p:nvSpPr>
        <p:spPr>
          <a:xfrm>
            <a:off x="3154680" y="2103120"/>
            <a:ext cx="8138160" cy="0"/>
          </a:xfrm>
          <a:prstGeom prst="line">
            <a:avLst/>
          </a:prstGeom>
          <a:noFill/>
          <a:ln w="12700">
            <a:solidFill>
              <a:srgbClr val="D3DCEA"/>
            </a:solidFill>
            <a:prstDash val="sysDot"/>
          </a:ln>
        </p:spPr>
      </p:sp>
      <p:sp>
        <p:nvSpPr>
          <p:cNvPr id="13" name="Text 11"/>
          <p:cNvSpPr/>
          <p:nvPr/>
        </p:nvSpPr>
        <p:spPr>
          <a:xfrm>
            <a:off x="896112" y="2304288"/>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Camera frame N</a:t>
            </a:r>
            <a:endParaRPr lang="en-US" sz="1050" dirty="0"/>
          </a:p>
        </p:txBody>
      </p:sp>
      <p:sp>
        <p:nvSpPr>
          <p:cNvPr id="14" name="Shape 12"/>
          <p:cNvSpPr/>
          <p:nvPr/>
        </p:nvSpPr>
        <p:spPr>
          <a:xfrm>
            <a:off x="3154680" y="2322576"/>
            <a:ext cx="1808462" cy="292608"/>
          </a:xfrm>
          <a:prstGeom prst="roundRect">
            <a:avLst>
              <a:gd name="adj" fmla="val 9375"/>
            </a:avLst>
          </a:prstGeom>
          <a:solidFill>
            <a:srgbClr val="1C7293"/>
          </a:solidFill>
          <a:ln w="12700">
            <a:solidFill>
              <a:srgbClr val="1C7293"/>
            </a:solidFill>
            <a:prstDash val="solid"/>
          </a:ln>
        </p:spPr>
      </p:sp>
      <p:sp>
        <p:nvSpPr>
          <p:cNvPr id="15" name="Text 13"/>
          <p:cNvSpPr/>
          <p:nvPr/>
        </p:nvSpPr>
        <p:spPr>
          <a:xfrm>
            <a:off x="896112" y="2670048"/>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Align + render</a:t>
            </a:r>
            <a:endParaRPr lang="en-US" sz="1050" dirty="0"/>
          </a:p>
        </p:txBody>
      </p:sp>
      <p:sp>
        <p:nvSpPr>
          <p:cNvPr id="16" name="Shape 14"/>
          <p:cNvSpPr/>
          <p:nvPr/>
        </p:nvSpPr>
        <p:spPr>
          <a:xfrm>
            <a:off x="4963142" y="2688336"/>
            <a:ext cx="2072518" cy="292608"/>
          </a:xfrm>
          <a:prstGeom prst="roundRect">
            <a:avLst>
              <a:gd name="adj" fmla="val 9375"/>
            </a:avLst>
          </a:prstGeom>
          <a:solidFill>
            <a:srgbClr val="C1663A"/>
          </a:solidFill>
          <a:ln w="12700">
            <a:solidFill>
              <a:srgbClr val="C1663A"/>
            </a:solidFill>
            <a:prstDash val="solid"/>
          </a:ln>
        </p:spPr>
      </p:sp>
      <p:sp>
        <p:nvSpPr>
          <p:cNvPr id="17" name="Text 15"/>
          <p:cNvSpPr/>
          <p:nvPr/>
        </p:nvSpPr>
        <p:spPr>
          <a:xfrm>
            <a:off x="4963142" y="2688336"/>
            <a:ext cx="207251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38.2 ms</a:t>
            </a:r>
            <a:endParaRPr lang="en-US" sz="900" dirty="0"/>
          </a:p>
        </p:txBody>
      </p:sp>
      <p:sp>
        <p:nvSpPr>
          <p:cNvPr id="18" name="Text 16"/>
          <p:cNvSpPr/>
          <p:nvPr/>
        </p:nvSpPr>
        <p:spPr>
          <a:xfrm>
            <a:off x="896112" y="3035808"/>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On screen</a:t>
            </a:r>
            <a:endParaRPr lang="en-US" sz="1050" dirty="0"/>
          </a:p>
        </p:txBody>
      </p:sp>
      <p:sp>
        <p:nvSpPr>
          <p:cNvPr id="19" name="Shape 17"/>
          <p:cNvSpPr/>
          <p:nvPr/>
        </p:nvSpPr>
        <p:spPr>
          <a:xfrm>
            <a:off x="7035497" y="3054096"/>
            <a:ext cx="1808462" cy="292608"/>
          </a:xfrm>
          <a:prstGeom prst="roundRect">
            <a:avLst>
              <a:gd name="adj" fmla="val 9375"/>
            </a:avLst>
          </a:prstGeom>
          <a:solidFill>
            <a:srgbClr val="02A37A"/>
          </a:solidFill>
          <a:ln w="12700">
            <a:solidFill>
              <a:srgbClr val="02A37A"/>
            </a:solidFill>
            <a:prstDash val="solid"/>
          </a:ln>
        </p:spPr>
      </p:sp>
      <p:sp>
        <p:nvSpPr>
          <p:cNvPr id="20" name="Text 18"/>
          <p:cNvSpPr/>
          <p:nvPr/>
        </p:nvSpPr>
        <p:spPr>
          <a:xfrm>
            <a:off x="7035497" y="3054096"/>
            <a:ext cx="180846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71.5 ms after capture</a:t>
            </a:r>
            <a:endParaRPr lang="en-US" sz="900" dirty="0"/>
          </a:p>
        </p:txBody>
      </p:sp>
      <p:sp>
        <p:nvSpPr>
          <p:cNvPr id="21" name="Shape 19"/>
          <p:cNvSpPr/>
          <p:nvPr/>
        </p:nvSpPr>
        <p:spPr>
          <a:xfrm>
            <a:off x="7035497" y="1865376"/>
            <a:ext cx="0" cy="1517904"/>
          </a:xfrm>
          <a:prstGeom prst="line">
            <a:avLst/>
          </a:prstGeom>
          <a:noFill/>
          <a:ln w="15875">
            <a:solidFill>
              <a:srgbClr val="02A37A"/>
            </a:solidFill>
            <a:prstDash val="dash"/>
          </a:ln>
        </p:spPr>
      </p:sp>
      <p:sp>
        <p:nvSpPr>
          <p:cNvPr id="22" name="Text 20"/>
          <p:cNvSpPr/>
          <p:nvPr/>
        </p:nvSpPr>
        <p:spPr>
          <a:xfrm>
            <a:off x="6121097" y="1591056"/>
            <a:ext cx="1828800" cy="237744"/>
          </a:xfrm>
          <a:prstGeom prst="rect">
            <a:avLst/>
          </a:prstGeom>
          <a:noFill/>
          <a:ln/>
        </p:spPr>
        <p:txBody>
          <a:bodyPr wrap="square" lIns="0" tIns="0" rIns="0" bIns="0" rtlCol="0" anchor="ctr"/>
          <a:lstStyle/>
          <a:p>
            <a:pPr algn="ctr" indent="0" marL="0">
              <a:buNone/>
            </a:pPr>
            <a:r>
              <a:rPr lang="en-US" sz="900" b="1" dirty="0">
                <a:solidFill>
                  <a:srgbClr val="02A37A"/>
                </a:solidFill>
                <a:latin typeface="Calibri" pitchFamily="34" charset="0"/>
                <a:ea typeface="Calibri" pitchFamily="34" charset="-122"/>
                <a:cs typeface="Calibri" pitchFamily="34" charset="-120"/>
              </a:rPr>
              <a:t>published</a:t>
            </a:r>
            <a:endParaRPr lang="en-US" sz="900" dirty="0"/>
          </a:p>
        </p:txBody>
      </p:sp>
      <p:sp>
        <p:nvSpPr>
          <p:cNvPr id="23" name="Text 21"/>
          <p:cNvSpPr/>
          <p:nvPr/>
        </p:nvSpPr>
        <p:spPr>
          <a:xfrm>
            <a:off x="548640" y="3657600"/>
            <a:ext cx="11109960" cy="256032"/>
          </a:xfrm>
          <a:prstGeom prst="rect">
            <a:avLst/>
          </a:prstGeom>
          <a:noFill/>
          <a:ln/>
        </p:spPr>
        <p:txBody>
          <a:bodyPr wrap="square" lIns="0" tIns="0" rIns="0" bIns="0" rtlCol="0" anchor="ctr"/>
          <a:lstStyle/>
          <a:p>
            <a:pPr indent="0" marL="0">
              <a:buNone/>
            </a:pPr>
            <a:r>
              <a:rPr lang="en-US" sz="1250" b="1" dirty="0">
                <a:solidFill>
                  <a:srgbClr val="B4443A"/>
                </a:solidFill>
                <a:latin typeface="Calibri" pitchFamily="34" charset="0"/>
                <a:ea typeface="Calibri" pitchFamily="34" charset="-122"/>
                <a:cs typeface="Calibri" pitchFamily="34" charset="-120"/>
              </a:rPr>
              <a:t>WORST CASE — the same render lands just after one</a:t>
            </a:r>
            <a:endParaRPr lang="en-US" sz="1250" dirty="0"/>
          </a:p>
        </p:txBody>
      </p:sp>
      <p:sp>
        <p:nvSpPr>
          <p:cNvPr id="24" name="Text 22"/>
          <p:cNvSpPr/>
          <p:nvPr/>
        </p:nvSpPr>
        <p:spPr>
          <a:xfrm>
            <a:off x="896112" y="4023360"/>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Display edges</a:t>
            </a:r>
            <a:endParaRPr lang="en-US" sz="1050" dirty="0"/>
          </a:p>
        </p:txBody>
      </p:sp>
      <p:sp>
        <p:nvSpPr>
          <p:cNvPr id="25" name="Shape 23"/>
          <p:cNvSpPr/>
          <p:nvPr/>
        </p:nvSpPr>
        <p:spPr>
          <a:xfrm>
            <a:off x="5177995" y="4041648"/>
            <a:ext cx="64008" cy="292608"/>
          </a:xfrm>
          <a:prstGeom prst="rect">
            <a:avLst/>
          </a:prstGeom>
          <a:solidFill>
            <a:srgbClr val="16233A"/>
          </a:solidFill>
          <a:ln w="12700">
            <a:solidFill>
              <a:srgbClr val="333333"/>
            </a:solidFill>
            <a:prstDash val="solid"/>
          </a:ln>
        </p:spPr>
      </p:sp>
      <p:sp>
        <p:nvSpPr>
          <p:cNvPr id="26" name="Shape 24"/>
          <p:cNvSpPr/>
          <p:nvPr/>
        </p:nvSpPr>
        <p:spPr>
          <a:xfrm>
            <a:off x="6986457" y="4041648"/>
            <a:ext cx="64008" cy="292608"/>
          </a:xfrm>
          <a:prstGeom prst="rect">
            <a:avLst/>
          </a:prstGeom>
          <a:solidFill>
            <a:srgbClr val="16233A"/>
          </a:solidFill>
          <a:ln w="12700">
            <a:solidFill>
              <a:srgbClr val="333333"/>
            </a:solidFill>
            <a:prstDash val="solid"/>
          </a:ln>
        </p:spPr>
      </p:sp>
      <p:sp>
        <p:nvSpPr>
          <p:cNvPr id="27" name="Shape 25"/>
          <p:cNvSpPr/>
          <p:nvPr/>
        </p:nvSpPr>
        <p:spPr>
          <a:xfrm>
            <a:off x="8794919" y="4041648"/>
            <a:ext cx="64008" cy="292608"/>
          </a:xfrm>
          <a:prstGeom prst="rect">
            <a:avLst/>
          </a:prstGeom>
          <a:solidFill>
            <a:srgbClr val="16233A"/>
          </a:solidFill>
          <a:ln w="12700">
            <a:solidFill>
              <a:srgbClr val="333333"/>
            </a:solidFill>
            <a:prstDash val="solid"/>
          </a:ln>
        </p:spPr>
      </p:sp>
      <p:sp>
        <p:nvSpPr>
          <p:cNvPr id="28" name="Shape 26"/>
          <p:cNvSpPr/>
          <p:nvPr/>
        </p:nvSpPr>
        <p:spPr>
          <a:xfrm>
            <a:off x="10603381" y="4041648"/>
            <a:ext cx="64008" cy="292608"/>
          </a:xfrm>
          <a:prstGeom prst="rect">
            <a:avLst/>
          </a:prstGeom>
          <a:solidFill>
            <a:srgbClr val="16233A"/>
          </a:solidFill>
          <a:ln w="12700">
            <a:solidFill>
              <a:srgbClr val="333333"/>
            </a:solidFill>
            <a:prstDash val="solid"/>
          </a:ln>
        </p:spPr>
      </p:sp>
      <p:sp>
        <p:nvSpPr>
          <p:cNvPr id="29" name="Shape 27"/>
          <p:cNvSpPr/>
          <p:nvPr/>
        </p:nvSpPr>
        <p:spPr>
          <a:xfrm>
            <a:off x="3154680" y="4187952"/>
            <a:ext cx="8138160" cy="0"/>
          </a:xfrm>
          <a:prstGeom prst="line">
            <a:avLst/>
          </a:prstGeom>
          <a:noFill/>
          <a:ln w="12700">
            <a:solidFill>
              <a:srgbClr val="D3DCEA"/>
            </a:solidFill>
            <a:prstDash val="sysDot"/>
          </a:ln>
        </p:spPr>
      </p:sp>
      <p:sp>
        <p:nvSpPr>
          <p:cNvPr id="30" name="Text 28"/>
          <p:cNvSpPr/>
          <p:nvPr/>
        </p:nvSpPr>
        <p:spPr>
          <a:xfrm>
            <a:off x="896112" y="4389120"/>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Camera frame N</a:t>
            </a:r>
            <a:endParaRPr lang="en-US" sz="1050" dirty="0"/>
          </a:p>
        </p:txBody>
      </p:sp>
      <p:sp>
        <p:nvSpPr>
          <p:cNvPr id="31" name="Shape 29"/>
          <p:cNvSpPr/>
          <p:nvPr/>
        </p:nvSpPr>
        <p:spPr>
          <a:xfrm>
            <a:off x="3154680" y="4407408"/>
            <a:ext cx="1808462" cy="292608"/>
          </a:xfrm>
          <a:prstGeom prst="roundRect">
            <a:avLst>
              <a:gd name="adj" fmla="val 9375"/>
            </a:avLst>
          </a:prstGeom>
          <a:solidFill>
            <a:srgbClr val="1C7293"/>
          </a:solidFill>
          <a:ln w="12700">
            <a:solidFill>
              <a:srgbClr val="1C7293"/>
            </a:solidFill>
            <a:prstDash val="solid"/>
          </a:ln>
        </p:spPr>
      </p:sp>
      <p:sp>
        <p:nvSpPr>
          <p:cNvPr id="32" name="Text 30"/>
          <p:cNvSpPr/>
          <p:nvPr/>
        </p:nvSpPr>
        <p:spPr>
          <a:xfrm>
            <a:off x="896112" y="4754880"/>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Align + render</a:t>
            </a:r>
            <a:endParaRPr lang="en-US" sz="1050" dirty="0"/>
          </a:p>
        </p:txBody>
      </p:sp>
      <p:sp>
        <p:nvSpPr>
          <p:cNvPr id="33" name="Shape 31"/>
          <p:cNvSpPr/>
          <p:nvPr/>
        </p:nvSpPr>
        <p:spPr>
          <a:xfrm>
            <a:off x="4963142" y="4773168"/>
            <a:ext cx="2072518" cy="292608"/>
          </a:xfrm>
          <a:prstGeom prst="roundRect">
            <a:avLst>
              <a:gd name="adj" fmla="val 9375"/>
            </a:avLst>
          </a:prstGeom>
          <a:solidFill>
            <a:srgbClr val="C1663A"/>
          </a:solidFill>
          <a:ln w="12700">
            <a:solidFill>
              <a:srgbClr val="C1663A"/>
            </a:solidFill>
            <a:prstDash val="solid"/>
          </a:ln>
        </p:spPr>
      </p:sp>
      <p:sp>
        <p:nvSpPr>
          <p:cNvPr id="34" name="Text 32"/>
          <p:cNvSpPr/>
          <p:nvPr/>
        </p:nvSpPr>
        <p:spPr>
          <a:xfrm>
            <a:off x="4963142" y="4773168"/>
            <a:ext cx="207251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38.2 ms — the same</a:t>
            </a:r>
            <a:endParaRPr lang="en-US" sz="900" dirty="0"/>
          </a:p>
        </p:txBody>
      </p:sp>
      <p:sp>
        <p:nvSpPr>
          <p:cNvPr id="35" name="Text 33"/>
          <p:cNvSpPr/>
          <p:nvPr/>
        </p:nvSpPr>
        <p:spPr>
          <a:xfrm>
            <a:off x="896112" y="5120640"/>
            <a:ext cx="214884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Held, then on screen</a:t>
            </a:r>
            <a:endParaRPr lang="en-US" sz="1050" dirty="0"/>
          </a:p>
        </p:txBody>
      </p:sp>
      <p:sp>
        <p:nvSpPr>
          <p:cNvPr id="36" name="Shape 34"/>
          <p:cNvSpPr/>
          <p:nvPr/>
        </p:nvSpPr>
        <p:spPr>
          <a:xfrm>
            <a:off x="7035497" y="5138928"/>
            <a:ext cx="1808299" cy="292608"/>
          </a:xfrm>
          <a:prstGeom prst="roundRect">
            <a:avLst>
              <a:gd name="adj" fmla="val 9375"/>
            </a:avLst>
          </a:prstGeom>
          <a:solidFill>
            <a:srgbClr val="F6E2E0"/>
          </a:solidFill>
          <a:ln w="12700">
            <a:solidFill>
              <a:srgbClr val="B4443A"/>
            </a:solidFill>
            <a:prstDash val="solid"/>
          </a:ln>
        </p:spPr>
      </p:sp>
      <p:sp>
        <p:nvSpPr>
          <p:cNvPr id="37" name="Text 35"/>
          <p:cNvSpPr/>
          <p:nvPr/>
        </p:nvSpPr>
        <p:spPr>
          <a:xfrm>
            <a:off x="7035497" y="5138928"/>
            <a:ext cx="1808299" cy="292608"/>
          </a:xfrm>
          <a:prstGeom prst="rect">
            <a:avLst/>
          </a:prstGeom>
          <a:noFill/>
          <a:ln/>
        </p:spPr>
        <p:txBody>
          <a:bodyPr wrap="square" lIns="0" tIns="0" rIns="0" bIns="0" rtlCol="0" anchor="ctr"/>
          <a:lstStyle/>
          <a:p>
            <a:pPr algn="ctr" indent="0" marL="0">
              <a:buNone/>
            </a:pPr>
            <a:r>
              <a:rPr lang="en-US" sz="900" b="1" dirty="0">
                <a:solidFill>
                  <a:srgbClr val="B4443A"/>
                </a:solidFill>
                <a:latin typeface="Calibri" pitchFamily="34" charset="0"/>
                <a:ea typeface="Calibri" pitchFamily="34" charset="-122"/>
                <a:cs typeface="Calibri" pitchFamily="34" charset="-120"/>
              </a:rPr>
              <a:t>held a whole frame period</a:t>
            </a:r>
            <a:endParaRPr lang="en-US" sz="900" dirty="0"/>
          </a:p>
        </p:txBody>
      </p:sp>
      <p:sp>
        <p:nvSpPr>
          <p:cNvPr id="38" name="Shape 36"/>
          <p:cNvSpPr/>
          <p:nvPr/>
        </p:nvSpPr>
        <p:spPr>
          <a:xfrm>
            <a:off x="8843796" y="5138928"/>
            <a:ext cx="1808462" cy="292608"/>
          </a:xfrm>
          <a:prstGeom prst="roundRect">
            <a:avLst>
              <a:gd name="adj" fmla="val 9375"/>
            </a:avLst>
          </a:prstGeom>
          <a:solidFill>
            <a:srgbClr val="C2A33B"/>
          </a:solidFill>
          <a:ln w="12700">
            <a:solidFill>
              <a:srgbClr val="C2A33B"/>
            </a:solidFill>
            <a:prstDash val="solid"/>
          </a:ln>
        </p:spPr>
      </p:sp>
      <p:sp>
        <p:nvSpPr>
          <p:cNvPr id="39" name="Text 37"/>
          <p:cNvSpPr/>
          <p:nvPr/>
        </p:nvSpPr>
        <p:spPr>
          <a:xfrm>
            <a:off x="8843796" y="5138928"/>
            <a:ext cx="180846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104.9 ms after capture</a:t>
            </a:r>
            <a:endParaRPr lang="en-US" sz="900" dirty="0"/>
          </a:p>
        </p:txBody>
      </p:sp>
      <p:sp>
        <p:nvSpPr>
          <p:cNvPr id="40" name="Shape 38"/>
          <p:cNvSpPr/>
          <p:nvPr/>
        </p:nvSpPr>
        <p:spPr>
          <a:xfrm>
            <a:off x="7016508" y="3950208"/>
            <a:ext cx="0" cy="1517904"/>
          </a:xfrm>
          <a:prstGeom prst="line">
            <a:avLst/>
          </a:prstGeom>
          <a:noFill/>
          <a:ln w="15875">
            <a:solidFill>
              <a:srgbClr val="B4443A"/>
            </a:solidFill>
            <a:prstDash val="dash"/>
          </a:ln>
        </p:spPr>
      </p:sp>
      <p:sp>
        <p:nvSpPr>
          <p:cNvPr id="41" name="Text 39"/>
          <p:cNvSpPr/>
          <p:nvPr/>
        </p:nvSpPr>
        <p:spPr>
          <a:xfrm>
            <a:off x="6102108" y="3675888"/>
            <a:ext cx="1828800" cy="237744"/>
          </a:xfrm>
          <a:prstGeom prst="rect">
            <a:avLst/>
          </a:prstGeom>
          <a:noFill/>
          <a:ln/>
        </p:spPr>
        <p:txBody>
          <a:bodyPr wrap="square" lIns="0" tIns="0" rIns="0" bIns="0" rtlCol="0" anchor="ctr"/>
          <a:lstStyle/>
          <a:p>
            <a:pPr algn="ctr" indent="0" marL="0">
              <a:buNone/>
            </a:pPr>
            <a:r>
              <a:rPr lang="en-US" sz="900" b="1" dirty="0">
                <a:solidFill>
                  <a:srgbClr val="B4443A"/>
                </a:solidFill>
                <a:latin typeface="Calibri" pitchFamily="34" charset="0"/>
                <a:ea typeface="Calibri" pitchFamily="34" charset="-122"/>
                <a:cs typeface="Calibri" pitchFamily="34" charset="-120"/>
              </a:rPr>
              <a:t>edge missed by 0.35 ms</a:t>
            </a:r>
            <a:endParaRPr lang="en-US" sz="900" dirty="0"/>
          </a:p>
        </p:txBody>
      </p:sp>
      <p:sp>
        <p:nvSpPr>
          <p:cNvPr id="42" name="Shape 40"/>
          <p:cNvSpPr/>
          <p:nvPr/>
        </p:nvSpPr>
        <p:spPr>
          <a:xfrm>
            <a:off x="8843796" y="3950208"/>
            <a:ext cx="0" cy="1517904"/>
          </a:xfrm>
          <a:prstGeom prst="line">
            <a:avLst/>
          </a:prstGeom>
          <a:noFill/>
          <a:ln w="15875">
            <a:solidFill>
              <a:srgbClr val="C2A33B"/>
            </a:solidFill>
            <a:prstDash val="dash"/>
          </a:ln>
        </p:spPr>
      </p:sp>
      <p:sp>
        <p:nvSpPr>
          <p:cNvPr id="43" name="Text 41"/>
          <p:cNvSpPr/>
          <p:nvPr/>
        </p:nvSpPr>
        <p:spPr>
          <a:xfrm>
            <a:off x="7929396" y="3675888"/>
            <a:ext cx="1828800" cy="237744"/>
          </a:xfrm>
          <a:prstGeom prst="rect">
            <a:avLst/>
          </a:prstGeom>
          <a:noFill/>
          <a:ln/>
        </p:spPr>
        <p:txBody>
          <a:bodyPr wrap="square" lIns="0" tIns="0" rIns="0" bIns="0" rtlCol="0" anchor="ctr"/>
          <a:lstStyle/>
          <a:p>
            <a:pPr algn="ctr" indent="0" marL="0">
              <a:buNone/>
            </a:pPr>
            <a:r>
              <a:rPr lang="en-US" sz="900" b="1" dirty="0">
                <a:solidFill>
                  <a:srgbClr val="C2A33B"/>
                </a:solidFill>
                <a:latin typeface="Calibri" pitchFamily="34" charset="0"/>
                <a:ea typeface="Calibri" pitchFamily="34" charset="-122"/>
                <a:cs typeface="Calibri" pitchFamily="34" charset="-120"/>
              </a:rPr>
              <a:t>next edge</a:t>
            </a:r>
            <a:endParaRPr lang="en-US" sz="900" dirty="0"/>
          </a:p>
        </p:txBody>
      </p:sp>
      <p:sp>
        <p:nvSpPr>
          <p:cNvPr id="44" name="Shape 42"/>
          <p:cNvSpPr/>
          <p:nvPr/>
        </p:nvSpPr>
        <p:spPr>
          <a:xfrm>
            <a:off x="3154680" y="5815584"/>
            <a:ext cx="8138160" cy="0"/>
          </a:xfrm>
          <a:prstGeom prst="line">
            <a:avLst/>
          </a:prstGeom>
          <a:noFill/>
          <a:ln w="12700">
            <a:solidFill>
              <a:srgbClr val="6B7C97"/>
            </a:solidFill>
            <a:prstDash val="solid"/>
          </a:ln>
        </p:spPr>
      </p:sp>
      <p:sp>
        <p:nvSpPr>
          <p:cNvPr id="45" name="Shape 43"/>
          <p:cNvSpPr/>
          <p:nvPr/>
        </p:nvSpPr>
        <p:spPr>
          <a:xfrm>
            <a:off x="3154680" y="5733288"/>
            <a:ext cx="0" cy="82296"/>
          </a:xfrm>
          <a:prstGeom prst="line">
            <a:avLst/>
          </a:prstGeom>
          <a:noFill/>
          <a:ln w="12700">
            <a:solidFill>
              <a:srgbClr val="6B7C97"/>
            </a:solidFill>
            <a:prstDash val="solid"/>
          </a:ln>
        </p:spPr>
      </p:sp>
      <p:sp>
        <p:nvSpPr>
          <p:cNvPr id="46" name="Text 44"/>
          <p:cNvSpPr/>
          <p:nvPr/>
        </p:nvSpPr>
        <p:spPr>
          <a:xfrm>
            <a:off x="2770632" y="5504688"/>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0.0</a:t>
            </a:r>
            <a:endParaRPr lang="en-US" sz="850" dirty="0"/>
          </a:p>
        </p:txBody>
      </p:sp>
      <p:sp>
        <p:nvSpPr>
          <p:cNvPr id="47" name="Shape 45"/>
          <p:cNvSpPr/>
          <p:nvPr/>
        </p:nvSpPr>
        <p:spPr>
          <a:xfrm>
            <a:off x="4963142" y="5733288"/>
            <a:ext cx="0" cy="82296"/>
          </a:xfrm>
          <a:prstGeom prst="line">
            <a:avLst/>
          </a:prstGeom>
          <a:noFill/>
          <a:ln w="12700">
            <a:solidFill>
              <a:srgbClr val="6B7C97"/>
            </a:solidFill>
            <a:prstDash val="solid"/>
          </a:ln>
        </p:spPr>
      </p:sp>
      <p:sp>
        <p:nvSpPr>
          <p:cNvPr id="48" name="Text 46"/>
          <p:cNvSpPr/>
          <p:nvPr/>
        </p:nvSpPr>
        <p:spPr>
          <a:xfrm>
            <a:off x="4579094" y="5504688"/>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33.3</a:t>
            </a:r>
            <a:endParaRPr lang="en-US" sz="850" dirty="0"/>
          </a:p>
        </p:txBody>
      </p:sp>
      <p:sp>
        <p:nvSpPr>
          <p:cNvPr id="49" name="Shape 47"/>
          <p:cNvSpPr/>
          <p:nvPr/>
        </p:nvSpPr>
        <p:spPr>
          <a:xfrm>
            <a:off x="6771604" y="5733288"/>
            <a:ext cx="0" cy="82296"/>
          </a:xfrm>
          <a:prstGeom prst="line">
            <a:avLst/>
          </a:prstGeom>
          <a:noFill/>
          <a:ln w="12700">
            <a:solidFill>
              <a:srgbClr val="6B7C97"/>
            </a:solidFill>
            <a:prstDash val="solid"/>
          </a:ln>
        </p:spPr>
      </p:sp>
      <p:sp>
        <p:nvSpPr>
          <p:cNvPr id="50" name="Text 48"/>
          <p:cNvSpPr/>
          <p:nvPr/>
        </p:nvSpPr>
        <p:spPr>
          <a:xfrm>
            <a:off x="6387556" y="5504688"/>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66.7</a:t>
            </a:r>
            <a:endParaRPr lang="en-US" sz="850" dirty="0"/>
          </a:p>
        </p:txBody>
      </p:sp>
      <p:sp>
        <p:nvSpPr>
          <p:cNvPr id="51" name="Shape 49"/>
          <p:cNvSpPr/>
          <p:nvPr/>
        </p:nvSpPr>
        <p:spPr>
          <a:xfrm>
            <a:off x="8580066" y="5733288"/>
            <a:ext cx="0" cy="82296"/>
          </a:xfrm>
          <a:prstGeom prst="line">
            <a:avLst/>
          </a:prstGeom>
          <a:noFill/>
          <a:ln w="12700">
            <a:solidFill>
              <a:srgbClr val="6B7C97"/>
            </a:solidFill>
            <a:prstDash val="solid"/>
          </a:ln>
        </p:spPr>
      </p:sp>
      <p:sp>
        <p:nvSpPr>
          <p:cNvPr id="52" name="Text 50"/>
          <p:cNvSpPr/>
          <p:nvPr/>
        </p:nvSpPr>
        <p:spPr>
          <a:xfrm>
            <a:off x="8196018" y="5504688"/>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100.0</a:t>
            </a:r>
            <a:endParaRPr lang="en-US" sz="850" dirty="0"/>
          </a:p>
        </p:txBody>
      </p:sp>
      <p:sp>
        <p:nvSpPr>
          <p:cNvPr id="53" name="Shape 51"/>
          <p:cNvSpPr/>
          <p:nvPr/>
        </p:nvSpPr>
        <p:spPr>
          <a:xfrm>
            <a:off x="10388528" y="5733288"/>
            <a:ext cx="0" cy="82296"/>
          </a:xfrm>
          <a:prstGeom prst="line">
            <a:avLst/>
          </a:prstGeom>
          <a:noFill/>
          <a:ln w="12700">
            <a:solidFill>
              <a:srgbClr val="6B7C97"/>
            </a:solidFill>
            <a:prstDash val="solid"/>
          </a:ln>
        </p:spPr>
      </p:sp>
      <p:sp>
        <p:nvSpPr>
          <p:cNvPr id="54" name="Text 52"/>
          <p:cNvSpPr/>
          <p:nvPr/>
        </p:nvSpPr>
        <p:spPr>
          <a:xfrm>
            <a:off x="10004480" y="5504688"/>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133.3</a:t>
            </a:r>
            <a:endParaRPr lang="en-US" sz="850" dirty="0"/>
          </a:p>
        </p:txBody>
      </p:sp>
      <p:sp>
        <p:nvSpPr>
          <p:cNvPr id="55" name="Text 53"/>
          <p:cNvSpPr/>
          <p:nvPr/>
        </p:nvSpPr>
        <p:spPr>
          <a:xfrm>
            <a:off x="548640" y="5943600"/>
            <a:ext cx="11109960" cy="457200"/>
          </a:xfrm>
          <a:prstGeom prst="rect">
            <a:avLst/>
          </a:prstGeom>
          <a:noFill/>
          <a:ln/>
        </p:spPr>
        <p:txBody>
          <a:bodyPr wrap="square" lIns="0" tIns="0" rIns="0" bIns="0" rtlCol="0" anchor="t"/>
          <a:lstStyle/>
          <a:p>
            <a:pPr indent="0" marL="0">
              <a:buNone/>
            </a:pPr>
            <a:r>
              <a:rPr lang="en-US" sz="1150" i="1" dirty="0">
                <a:solidFill>
                  <a:srgbClr val="6B7C97"/>
                </a:solidFill>
                <a:latin typeface="Calibri" pitchFamily="34" charset="0"/>
                <a:ea typeface="Calibri" pitchFamily="34" charset="-122"/>
                <a:cs typeface="Calibri" pitchFamily="34" charset="-120"/>
              </a:rPr>
              <a:t>With the earlier two-bank output framebuffer a missed edge cost more than a late frame: the frame waiting to be published also blocked the NEXT render from starting, so one miss threw away a whole camera frame and the mode settled at half rate. The third output bank removes that blocking - the render behind it now proceeds regardless.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OPTICAL EVIDENCE</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Frame rate, measured off the SDI output</a:t>
            </a:r>
            <a:endParaRPr lang="en-US" sz="3000" dirty="0"/>
          </a:p>
        </p:txBody>
      </p:sp>
      <p:sp>
        <p:nvSpPr>
          <p:cNvPr id="4" name="Text 2"/>
          <p:cNvSpPr/>
          <p:nvPr/>
        </p:nvSpPr>
        <p:spPr>
          <a:xfrm>
            <a:off x="548640" y="1152144"/>
            <a:ext cx="11109960" cy="310896"/>
          </a:xfrm>
          <a:prstGeom prst="rect">
            <a:avLst/>
          </a:prstGeom>
          <a:noFill/>
          <a:ln/>
        </p:spPr>
        <p:txBody>
          <a:bodyPr wrap="square" lIns="0" tIns="0" rIns="0" bIns="0" rtlCol="0" anchor="ctr"/>
          <a:lstStyle/>
          <a:p>
            <a:pPr indent="0" marL="0">
              <a:buNone/>
            </a:pPr>
            <a:r>
              <a:rPr lang="en-US" sz="1300" dirty="0">
                <a:solidFill>
                  <a:srgbClr val="27374F"/>
                </a:solidFill>
                <a:latin typeface="Calibri" pitchFamily="34" charset="0"/>
                <a:ea typeface="Calibri" pitchFamily="34" charset="-122"/>
                <a:cs typeface="Calibri" pitchFamily="34" charset="-120"/>
              </a:rPr>
              <a:t>Grab the output at 60 fps, hash each frame, and count how often the picture changes. Repeat runs of 2 mean 30 fps; runs of 4 mean 15.</a:t>
            </a:r>
            <a:endParaRPr lang="en-US" sz="1300" dirty="0"/>
          </a:p>
        </p:txBody>
      </p:sp>
      <p:sp>
        <p:nvSpPr>
          <p:cNvPr id="5" name="Text 3"/>
          <p:cNvSpPr/>
          <p:nvPr/>
        </p:nvSpPr>
        <p:spPr>
          <a:xfrm>
            <a:off x="548640" y="1572768"/>
            <a:ext cx="2468880" cy="310896"/>
          </a:xfrm>
          <a:prstGeom prst="rect">
            <a:avLst/>
          </a:prstGeom>
          <a:noFill/>
          <a:ln/>
        </p:spPr>
        <p:txBody>
          <a:bodyPr wrap="square" lIns="0" tIns="0" rIns="0" bIns="0" rtlCol="0" anchor="ctr"/>
          <a:lstStyle/>
          <a:p>
            <a:pPr algn="l" indent="0" marL="0">
              <a:buNone/>
            </a:pPr>
            <a:r>
              <a:rPr lang="en-US" sz="1050" b="1" dirty="0">
                <a:solidFill>
                  <a:srgbClr val="6B7C97"/>
                </a:solidFill>
                <a:latin typeface="Calibri" pitchFamily="34" charset="0"/>
                <a:ea typeface="Calibri" pitchFamily="34" charset="-122"/>
                <a:cs typeface="Calibri" pitchFamily="34" charset="-120"/>
              </a:rPr>
              <a:t>Mode</a:t>
            </a:r>
            <a:endParaRPr lang="en-US" sz="1050" dirty="0"/>
          </a:p>
        </p:txBody>
      </p:sp>
      <p:sp>
        <p:nvSpPr>
          <p:cNvPr id="6" name="Text 4"/>
          <p:cNvSpPr/>
          <p:nvPr/>
        </p:nvSpPr>
        <p:spPr>
          <a:xfrm>
            <a:off x="3017520" y="1572768"/>
            <a:ext cx="169164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Camera delivers</a:t>
            </a:r>
            <a:endParaRPr lang="en-US" sz="1050" dirty="0"/>
          </a:p>
        </p:txBody>
      </p:sp>
      <p:sp>
        <p:nvSpPr>
          <p:cNvPr id="7" name="Text 5"/>
          <p:cNvSpPr/>
          <p:nvPr/>
        </p:nvSpPr>
        <p:spPr>
          <a:xfrm>
            <a:off x="4709160" y="1572768"/>
            <a:ext cx="214884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New frames/s on screen</a:t>
            </a:r>
            <a:endParaRPr lang="en-US" sz="1050" dirty="0"/>
          </a:p>
        </p:txBody>
      </p:sp>
      <p:sp>
        <p:nvSpPr>
          <p:cNvPr id="8" name="Text 6"/>
          <p:cNvSpPr/>
          <p:nvPr/>
        </p:nvSpPr>
        <p:spPr>
          <a:xfrm>
            <a:off x="6858000" y="1572768"/>
            <a:ext cx="306324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Repeat-run distribution</a:t>
            </a:r>
            <a:endParaRPr lang="en-US" sz="1050" dirty="0"/>
          </a:p>
        </p:txBody>
      </p:sp>
      <p:sp>
        <p:nvSpPr>
          <p:cNvPr id="9" name="Text 7"/>
          <p:cNvSpPr/>
          <p:nvPr/>
        </p:nvSpPr>
        <p:spPr>
          <a:xfrm>
            <a:off x="9921240" y="1572768"/>
            <a:ext cx="173736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Verdict</a:t>
            </a:r>
            <a:endParaRPr lang="en-US" sz="1050" dirty="0"/>
          </a:p>
        </p:txBody>
      </p:sp>
      <p:sp>
        <p:nvSpPr>
          <p:cNvPr id="10" name="Shape 8"/>
          <p:cNvSpPr/>
          <p:nvPr/>
        </p:nvSpPr>
        <p:spPr>
          <a:xfrm>
            <a:off x="548640" y="1901952"/>
            <a:ext cx="11109960" cy="0"/>
          </a:xfrm>
          <a:prstGeom prst="line">
            <a:avLst/>
          </a:prstGeom>
          <a:noFill/>
          <a:ln w="12700">
            <a:solidFill>
              <a:srgbClr val="D3DCEA"/>
            </a:solidFill>
            <a:prstDash val="solid"/>
          </a:ln>
        </p:spPr>
      </p:sp>
      <p:sp>
        <p:nvSpPr>
          <p:cNvPr id="11" name="Text 9"/>
          <p:cNvSpPr/>
          <p:nvPr/>
        </p:nvSpPr>
        <p:spPr>
          <a:xfrm>
            <a:off x="548640" y="1975104"/>
            <a:ext cx="2468880" cy="30632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IR single</a:t>
            </a:r>
            <a:endParaRPr lang="en-US" sz="1050" dirty="0"/>
          </a:p>
        </p:txBody>
      </p:sp>
      <p:sp>
        <p:nvSpPr>
          <p:cNvPr id="12" name="Text 10"/>
          <p:cNvSpPr/>
          <p:nvPr/>
        </p:nvSpPr>
        <p:spPr>
          <a:xfrm>
            <a:off x="3017520" y="1975104"/>
            <a:ext cx="16916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13" name="Text 11"/>
          <p:cNvSpPr/>
          <p:nvPr/>
        </p:nvSpPr>
        <p:spPr>
          <a:xfrm>
            <a:off x="4709160" y="1975104"/>
            <a:ext cx="2148840" cy="306324"/>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29.81</a:t>
            </a:r>
            <a:endParaRPr lang="en-US" sz="1050" dirty="0"/>
          </a:p>
        </p:txBody>
      </p:sp>
      <p:sp>
        <p:nvSpPr>
          <p:cNvPr id="14" name="Text 12"/>
          <p:cNvSpPr/>
          <p:nvPr/>
        </p:nvSpPr>
        <p:spPr>
          <a:xfrm>
            <a:off x="6858000" y="1975104"/>
            <a:ext cx="30632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 × 352</a:t>
            </a:r>
            <a:endParaRPr lang="en-US" sz="1050" dirty="0"/>
          </a:p>
        </p:txBody>
      </p:sp>
      <p:sp>
        <p:nvSpPr>
          <p:cNvPr id="15" name="Text 13"/>
          <p:cNvSpPr/>
          <p:nvPr/>
        </p:nvSpPr>
        <p:spPr>
          <a:xfrm>
            <a:off x="9921240" y="1975104"/>
            <a:ext cx="1737360" cy="30632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16" name="Shape 14"/>
          <p:cNvSpPr/>
          <p:nvPr/>
        </p:nvSpPr>
        <p:spPr>
          <a:xfrm>
            <a:off x="475488" y="2290572"/>
            <a:ext cx="11256264" cy="324612"/>
          </a:xfrm>
          <a:prstGeom prst="rect">
            <a:avLst/>
          </a:prstGeom>
          <a:solidFill>
            <a:srgbClr val="F2F5FA"/>
          </a:solidFill>
          <a:ln w="12700">
            <a:solidFill>
              <a:srgbClr val="333333"/>
            </a:solidFill>
            <a:prstDash val="solid"/>
          </a:ln>
        </p:spPr>
      </p:sp>
      <p:sp>
        <p:nvSpPr>
          <p:cNvPr id="17" name="Text 15"/>
          <p:cNvSpPr/>
          <p:nvPr/>
        </p:nvSpPr>
        <p:spPr>
          <a:xfrm>
            <a:off x="548640" y="2318004"/>
            <a:ext cx="2468880" cy="30632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IR panorama</a:t>
            </a:r>
            <a:endParaRPr lang="en-US" sz="1050" dirty="0"/>
          </a:p>
        </p:txBody>
      </p:sp>
      <p:sp>
        <p:nvSpPr>
          <p:cNvPr id="18" name="Text 16"/>
          <p:cNvSpPr/>
          <p:nvPr/>
        </p:nvSpPr>
        <p:spPr>
          <a:xfrm>
            <a:off x="3017520" y="2318004"/>
            <a:ext cx="16916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19" name="Text 17"/>
          <p:cNvSpPr/>
          <p:nvPr/>
        </p:nvSpPr>
        <p:spPr>
          <a:xfrm>
            <a:off x="4709160" y="2318004"/>
            <a:ext cx="2148840" cy="306324"/>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29.97</a:t>
            </a:r>
            <a:endParaRPr lang="en-US" sz="1050" dirty="0"/>
          </a:p>
        </p:txBody>
      </p:sp>
      <p:sp>
        <p:nvSpPr>
          <p:cNvPr id="20" name="Text 18"/>
          <p:cNvSpPr/>
          <p:nvPr/>
        </p:nvSpPr>
        <p:spPr>
          <a:xfrm>
            <a:off x="6858000" y="2318004"/>
            <a:ext cx="30632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 × 359</a:t>
            </a:r>
            <a:endParaRPr lang="en-US" sz="1050" dirty="0"/>
          </a:p>
        </p:txBody>
      </p:sp>
      <p:sp>
        <p:nvSpPr>
          <p:cNvPr id="21" name="Text 19"/>
          <p:cNvSpPr/>
          <p:nvPr/>
        </p:nvSpPr>
        <p:spPr>
          <a:xfrm>
            <a:off x="9921240" y="2318004"/>
            <a:ext cx="1737360" cy="30632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22" name="Text 20"/>
          <p:cNvSpPr/>
          <p:nvPr/>
        </p:nvSpPr>
        <p:spPr>
          <a:xfrm>
            <a:off x="548640" y="2660904"/>
            <a:ext cx="2468880" cy="30632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single  cam 1</a:t>
            </a:r>
            <a:endParaRPr lang="en-US" sz="1050" dirty="0"/>
          </a:p>
        </p:txBody>
      </p:sp>
      <p:sp>
        <p:nvSpPr>
          <p:cNvPr id="23" name="Text 21"/>
          <p:cNvSpPr/>
          <p:nvPr/>
        </p:nvSpPr>
        <p:spPr>
          <a:xfrm>
            <a:off x="3017520" y="2660904"/>
            <a:ext cx="16916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24" name="Text 22"/>
          <p:cNvSpPr/>
          <p:nvPr/>
        </p:nvSpPr>
        <p:spPr>
          <a:xfrm>
            <a:off x="4709160" y="2660904"/>
            <a:ext cx="2148840" cy="306324"/>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29.89</a:t>
            </a:r>
            <a:endParaRPr lang="en-US" sz="1050" dirty="0"/>
          </a:p>
        </p:txBody>
      </p:sp>
      <p:sp>
        <p:nvSpPr>
          <p:cNvPr id="25" name="Text 23"/>
          <p:cNvSpPr/>
          <p:nvPr/>
        </p:nvSpPr>
        <p:spPr>
          <a:xfrm>
            <a:off x="6858000" y="2660904"/>
            <a:ext cx="30632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 × 357</a:t>
            </a:r>
            <a:endParaRPr lang="en-US" sz="1050" dirty="0"/>
          </a:p>
        </p:txBody>
      </p:sp>
      <p:sp>
        <p:nvSpPr>
          <p:cNvPr id="26" name="Text 24"/>
          <p:cNvSpPr/>
          <p:nvPr/>
        </p:nvSpPr>
        <p:spPr>
          <a:xfrm>
            <a:off x="9921240" y="2660904"/>
            <a:ext cx="1737360" cy="30632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27" name="Shape 25"/>
          <p:cNvSpPr/>
          <p:nvPr/>
        </p:nvSpPr>
        <p:spPr>
          <a:xfrm>
            <a:off x="475488" y="2976372"/>
            <a:ext cx="11256264" cy="324612"/>
          </a:xfrm>
          <a:prstGeom prst="rect">
            <a:avLst/>
          </a:prstGeom>
          <a:solidFill>
            <a:srgbClr val="F2F5FA"/>
          </a:solidFill>
          <a:ln w="12700">
            <a:solidFill>
              <a:srgbClr val="333333"/>
            </a:solidFill>
            <a:prstDash val="solid"/>
          </a:ln>
        </p:spPr>
      </p:sp>
      <p:sp>
        <p:nvSpPr>
          <p:cNvPr id="28" name="Text 26"/>
          <p:cNvSpPr/>
          <p:nvPr/>
        </p:nvSpPr>
        <p:spPr>
          <a:xfrm>
            <a:off x="548640" y="3003804"/>
            <a:ext cx="2468880" cy="30632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single  cam 2</a:t>
            </a:r>
            <a:endParaRPr lang="en-US" sz="1050" dirty="0"/>
          </a:p>
        </p:txBody>
      </p:sp>
      <p:sp>
        <p:nvSpPr>
          <p:cNvPr id="29" name="Text 27"/>
          <p:cNvSpPr/>
          <p:nvPr/>
        </p:nvSpPr>
        <p:spPr>
          <a:xfrm>
            <a:off x="3017520" y="3003804"/>
            <a:ext cx="16916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30" name="Text 28"/>
          <p:cNvSpPr/>
          <p:nvPr/>
        </p:nvSpPr>
        <p:spPr>
          <a:xfrm>
            <a:off x="4709160" y="3003804"/>
            <a:ext cx="2148840" cy="306324"/>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29.06</a:t>
            </a:r>
            <a:endParaRPr lang="en-US" sz="1050" dirty="0"/>
          </a:p>
        </p:txBody>
      </p:sp>
      <p:sp>
        <p:nvSpPr>
          <p:cNvPr id="31" name="Text 29"/>
          <p:cNvSpPr/>
          <p:nvPr/>
        </p:nvSpPr>
        <p:spPr>
          <a:xfrm>
            <a:off x="6858000" y="3003804"/>
            <a:ext cx="30632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 × 337,  4 × 11</a:t>
            </a:r>
            <a:endParaRPr lang="en-US" sz="1050" dirty="0"/>
          </a:p>
        </p:txBody>
      </p:sp>
      <p:sp>
        <p:nvSpPr>
          <p:cNvPr id="32" name="Text 30"/>
          <p:cNvSpPr/>
          <p:nvPr/>
        </p:nvSpPr>
        <p:spPr>
          <a:xfrm>
            <a:off x="9921240" y="3003804"/>
            <a:ext cx="1737360" cy="30632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33" name="Text 31"/>
          <p:cNvSpPr/>
          <p:nvPr/>
        </p:nvSpPr>
        <p:spPr>
          <a:xfrm>
            <a:off x="548640" y="3346704"/>
            <a:ext cx="2468880" cy="30632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single  cam 3</a:t>
            </a:r>
            <a:endParaRPr lang="en-US" sz="1050" dirty="0"/>
          </a:p>
        </p:txBody>
      </p:sp>
      <p:sp>
        <p:nvSpPr>
          <p:cNvPr id="34" name="Text 32"/>
          <p:cNvSpPr/>
          <p:nvPr/>
        </p:nvSpPr>
        <p:spPr>
          <a:xfrm>
            <a:off x="3017520" y="3346704"/>
            <a:ext cx="16916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35" name="Text 33"/>
          <p:cNvSpPr/>
          <p:nvPr/>
        </p:nvSpPr>
        <p:spPr>
          <a:xfrm>
            <a:off x="4709160" y="3346704"/>
            <a:ext cx="2148840" cy="306324"/>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29.23</a:t>
            </a:r>
            <a:endParaRPr lang="en-US" sz="1050" dirty="0"/>
          </a:p>
        </p:txBody>
      </p:sp>
      <p:sp>
        <p:nvSpPr>
          <p:cNvPr id="36" name="Text 34"/>
          <p:cNvSpPr/>
          <p:nvPr/>
        </p:nvSpPr>
        <p:spPr>
          <a:xfrm>
            <a:off x="6858000" y="3346704"/>
            <a:ext cx="30632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 × 344,  4 × 5</a:t>
            </a:r>
            <a:endParaRPr lang="en-US" sz="1050" dirty="0"/>
          </a:p>
        </p:txBody>
      </p:sp>
      <p:sp>
        <p:nvSpPr>
          <p:cNvPr id="37" name="Text 35"/>
          <p:cNvSpPr/>
          <p:nvPr/>
        </p:nvSpPr>
        <p:spPr>
          <a:xfrm>
            <a:off x="9921240" y="3346704"/>
            <a:ext cx="1737360" cy="30632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38" name="Shape 36"/>
          <p:cNvSpPr/>
          <p:nvPr/>
        </p:nvSpPr>
        <p:spPr>
          <a:xfrm>
            <a:off x="475488" y="3662172"/>
            <a:ext cx="11256264" cy="324612"/>
          </a:xfrm>
          <a:prstGeom prst="rect">
            <a:avLst/>
          </a:prstGeom>
          <a:solidFill>
            <a:srgbClr val="F2F5FA"/>
          </a:solidFill>
          <a:ln w="12700">
            <a:solidFill>
              <a:srgbClr val="333333"/>
            </a:solidFill>
            <a:prstDash val="solid"/>
          </a:ln>
        </p:spPr>
      </p:sp>
      <p:sp>
        <p:nvSpPr>
          <p:cNvPr id="39" name="Text 37"/>
          <p:cNvSpPr/>
          <p:nvPr/>
        </p:nvSpPr>
        <p:spPr>
          <a:xfrm>
            <a:off x="548640" y="3689604"/>
            <a:ext cx="2468880" cy="30632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single  cam 4</a:t>
            </a:r>
            <a:endParaRPr lang="en-US" sz="1050" dirty="0"/>
          </a:p>
        </p:txBody>
      </p:sp>
      <p:sp>
        <p:nvSpPr>
          <p:cNvPr id="40" name="Text 38"/>
          <p:cNvSpPr/>
          <p:nvPr/>
        </p:nvSpPr>
        <p:spPr>
          <a:xfrm>
            <a:off x="3017520" y="3689604"/>
            <a:ext cx="16916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41" name="Text 39"/>
          <p:cNvSpPr/>
          <p:nvPr/>
        </p:nvSpPr>
        <p:spPr>
          <a:xfrm>
            <a:off x="4709160" y="3689604"/>
            <a:ext cx="2148840" cy="306324"/>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29.56</a:t>
            </a:r>
            <a:endParaRPr lang="en-US" sz="1050" dirty="0"/>
          </a:p>
        </p:txBody>
      </p:sp>
      <p:sp>
        <p:nvSpPr>
          <p:cNvPr id="42" name="Text 40"/>
          <p:cNvSpPr/>
          <p:nvPr/>
        </p:nvSpPr>
        <p:spPr>
          <a:xfrm>
            <a:off x="6858000" y="3689604"/>
            <a:ext cx="30632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 × 349,  4 × 5</a:t>
            </a:r>
            <a:endParaRPr lang="en-US" sz="1050" dirty="0"/>
          </a:p>
        </p:txBody>
      </p:sp>
      <p:sp>
        <p:nvSpPr>
          <p:cNvPr id="43" name="Text 41"/>
          <p:cNvSpPr/>
          <p:nvPr/>
        </p:nvSpPr>
        <p:spPr>
          <a:xfrm>
            <a:off x="9921240" y="3689604"/>
            <a:ext cx="1737360" cy="30632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44" name="Text 42"/>
          <p:cNvSpPr/>
          <p:nvPr/>
        </p:nvSpPr>
        <p:spPr>
          <a:xfrm>
            <a:off x="548640" y="4032504"/>
            <a:ext cx="2468880" cy="30632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single  cam 5</a:t>
            </a:r>
            <a:endParaRPr lang="en-US" sz="1050" dirty="0"/>
          </a:p>
        </p:txBody>
      </p:sp>
      <p:sp>
        <p:nvSpPr>
          <p:cNvPr id="45" name="Text 43"/>
          <p:cNvSpPr/>
          <p:nvPr/>
        </p:nvSpPr>
        <p:spPr>
          <a:xfrm>
            <a:off x="3017520" y="4032504"/>
            <a:ext cx="16916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46" name="Text 44"/>
          <p:cNvSpPr/>
          <p:nvPr/>
        </p:nvSpPr>
        <p:spPr>
          <a:xfrm>
            <a:off x="4709160" y="4032504"/>
            <a:ext cx="2148840" cy="306324"/>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29.73</a:t>
            </a:r>
            <a:endParaRPr lang="en-US" sz="1050" dirty="0"/>
          </a:p>
        </p:txBody>
      </p:sp>
      <p:sp>
        <p:nvSpPr>
          <p:cNvPr id="47" name="Text 45"/>
          <p:cNvSpPr/>
          <p:nvPr/>
        </p:nvSpPr>
        <p:spPr>
          <a:xfrm>
            <a:off x="6858000" y="4032504"/>
            <a:ext cx="30632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 × 356,  4 × 2</a:t>
            </a:r>
            <a:endParaRPr lang="en-US" sz="1050" dirty="0"/>
          </a:p>
        </p:txBody>
      </p:sp>
      <p:sp>
        <p:nvSpPr>
          <p:cNvPr id="48" name="Text 46"/>
          <p:cNvSpPr/>
          <p:nvPr/>
        </p:nvSpPr>
        <p:spPr>
          <a:xfrm>
            <a:off x="9921240" y="4032504"/>
            <a:ext cx="1737360" cy="30632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49" name="Shape 47"/>
          <p:cNvSpPr/>
          <p:nvPr/>
        </p:nvSpPr>
        <p:spPr>
          <a:xfrm>
            <a:off x="475488" y="4347972"/>
            <a:ext cx="11256264" cy="324612"/>
          </a:xfrm>
          <a:prstGeom prst="rect">
            <a:avLst/>
          </a:prstGeom>
          <a:solidFill>
            <a:srgbClr val="F2F5FA"/>
          </a:solidFill>
          <a:ln w="12700">
            <a:solidFill>
              <a:srgbClr val="333333"/>
            </a:solidFill>
            <a:prstDash val="solid"/>
          </a:ln>
        </p:spPr>
      </p:sp>
      <p:sp>
        <p:nvSpPr>
          <p:cNvPr id="50" name="Text 48"/>
          <p:cNvSpPr/>
          <p:nvPr/>
        </p:nvSpPr>
        <p:spPr>
          <a:xfrm>
            <a:off x="548640" y="4375404"/>
            <a:ext cx="2468880" cy="30632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single  cam 6</a:t>
            </a:r>
            <a:endParaRPr lang="en-US" sz="1050" dirty="0"/>
          </a:p>
        </p:txBody>
      </p:sp>
      <p:sp>
        <p:nvSpPr>
          <p:cNvPr id="51" name="Text 49"/>
          <p:cNvSpPr/>
          <p:nvPr/>
        </p:nvSpPr>
        <p:spPr>
          <a:xfrm>
            <a:off x="3017520" y="4375404"/>
            <a:ext cx="16916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52" name="Text 50"/>
          <p:cNvSpPr/>
          <p:nvPr/>
        </p:nvSpPr>
        <p:spPr>
          <a:xfrm>
            <a:off x="4709160" y="4375404"/>
            <a:ext cx="2148840" cy="306324"/>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29.56</a:t>
            </a:r>
            <a:endParaRPr lang="en-US" sz="1050" dirty="0"/>
          </a:p>
        </p:txBody>
      </p:sp>
      <p:sp>
        <p:nvSpPr>
          <p:cNvPr id="53" name="Text 51"/>
          <p:cNvSpPr/>
          <p:nvPr/>
        </p:nvSpPr>
        <p:spPr>
          <a:xfrm>
            <a:off x="6858000" y="4375404"/>
            <a:ext cx="30632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 × 351,  4 × 4</a:t>
            </a:r>
            <a:endParaRPr lang="en-US" sz="1050" dirty="0"/>
          </a:p>
        </p:txBody>
      </p:sp>
      <p:sp>
        <p:nvSpPr>
          <p:cNvPr id="54" name="Text 52"/>
          <p:cNvSpPr/>
          <p:nvPr/>
        </p:nvSpPr>
        <p:spPr>
          <a:xfrm>
            <a:off x="9921240" y="4375404"/>
            <a:ext cx="1737360" cy="30632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55" name="Text 53"/>
          <p:cNvSpPr/>
          <p:nvPr/>
        </p:nvSpPr>
        <p:spPr>
          <a:xfrm>
            <a:off x="548640" y="4718304"/>
            <a:ext cx="2468880" cy="30632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panorama</a:t>
            </a:r>
            <a:endParaRPr lang="en-US" sz="1050" dirty="0"/>
          </a:p>
        </p:txBody>
      </p:sp>
      <p:sp>
        <p:nvSpPr>
          <p:cNvPr id="56" name="Text 54"/>
          <p:cNvSpPr/>
          <p:nvPr/>
        </p:nvSpPr>
        <p:spPr>
          <a:xfrm>
            <a:off x="3017520" y="4718304"/>
            <a:ext cx="16916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57" name="Text 55"/>
          <p:cNvSpPr/>
          <p:nvPr/>
        </p:nvSpPr>
        <p:spPr>
          <a:xfrm>
            <a:off x="4709160" y="4718304"/>
            <a:ext cx="2148840" cy="306324"/>
          </a:xfrm>
          <a:prstGeom prst="rect">
            <a:avLst/>
          </a:prstGeom>
          <a:noFill/>
          <a:ln/>
        </p:spPr>
        <p:txBody>
          <a:bodyPr wrap="square" lIns="0" tIns="0" rIns="0" bIns="0" rtlCol="0" anchor="ctr"/>
          <a:lstStyle/>
          <a:p>
            <a:pPr algn="ctr" indent="0" marL="0">
              <a:buNone/>
            </a:pPr>
            <a:r>
              <a:rPr lang="en-US" sz="1050" b="1" dirty="0">
                <a:solidFill>
                  <a:srgbClr val="C2A33B"/>
                </a:solidFill>
                <a:latin typeface="Calibri" pitchFamily="34" charset="0"/>
                <a:ea typeface="Calibri" pitchFamily="34" charset="-122"/>
                <a:cs typeface="Calibri" pitchFamily="34" charset="-120"/>
              </a:rPr>
              <a:t>22.90</a:t>
            </a:r>
            <a:endParaRPr lang="en-US" sz="1050" dirty="0"/>
          </a:p>
        </p:txBody>
      </p:sp>
      <p:sp>
        <p:nvSpPr>
          <p:cNvPr id="58" name="Text 56"/>
          <p:cNvSpPr/>
          <p:nvPr/>
        </p:nvSpPr>
        <p:spPr>
          <a:xfrm>
            <a:off x="6858000" y="4718304"/>
            <a:ext cx="3063240" cy="30632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 × 274,  4 × 55,  6 × 22</a:t>
            </a:r>
            <a:endParaRPr lang="en-US" sz="1050" dirty="0"/>
          </a:p>
        </p:txBody>
      </p:sp>
      <p:sp>
        <p:nvSpPr>
          <p:cNvPr id="59" name="Text 57"/>
          <p:cNvSpPr/>
          <p:nvPr/>
        </p:nvSpPr>
        <p:spPr>
          <a:xfrm>
            <a:off x="9921240" y="4718304"/>
            <a:ext cx="1737360" cy="306324"/>
          </a:xfrm>
          <a:prstGeom prst="rect">
            <a:avLst/>
          </a:prstGeom>
          <a:noFill/>
          <a:ln/>
        </p:spPr>
        <p:txBody>
          <a:bodyPr wrap="square" lIns="0" tIns="0" rIns="0" bIns="0" rtlCol="0" anchor="ctr"/>
          <a:lstStyle/>
          <a:p>
            <a:pPr algn="ctr" indent="0" marL="0">
              <a:buNone/>
            </a:pPr>
            <a:r>
              <a:rPr lang="en-US" sz="1050" b="1" dirty="0">
                <a:solidFill>
                  <a:srgbClr val="B4443A"/>
                </a:solidFill>
                <a:latin typeface="Calibri" pitchFamily="34" charset="0"/>
                <a:ea typeface="Calibri" pitchFamily="34" charset="-122"/>
                <a:cs typeface="Calibri" pitchFamily="34" charset="-120"/>
              </a:rPr>
              <a:t>22% of frames slip</a:t>
            </a:r>
            <a:endParaRPr lang="en-US" sz="1050" dirty="0"/>
          </a:p>
        </p:txBody>
      </p:sp>
      <p:sp>
        <p:nvSpPr>
          <p:cNvPr id="60" name="Shape 58"/>
          <p:cNvSpPr/>
          <p:nvPr/>
        </p:nvSpPr>
        <p:spPr>
          <a:xfrm>
            <a:off x="548640" y="4892040"/>
            <a:ext cx="11109960" cy="1051560"/>
          </a:xfrm>
          <a:prstGeom prst="roundRect">
            <a:avLst>
              <a:gd name="adj" fmla="val 5217"/>
            </a:avLst>
          </a:prstGeom>
          <a:solidFill>
            <a:srgbClr val="F2F5FA"/>
          </a:solidFill>
          <a:ln w="12700">
            <a:solidFill>
              <a:srgbClr val="D3DCEA"/>
            </a:solidFill>
            <a:prstDash val="solid"/>
          </a:ln>
        </p:spPr>
      </p:sp>
      <p:sp>
        <p:nvSpPr>
          <p:cNvPr id="61" name="Text 59"/>
          <p:cNvSpPr/>
          <p:nvPr/>
        </p:nvSpPr>
        <p:spPr>
          <a:xfrm>
            <a:off x="804672" y="5010912"/>
            <a:ext cx="10607040" cy="822960"/>
          </a:xfrm>
          <a:prstGeom prst="rect">
            <a:avLst/>
          </a:prstGeom>
          <a:noFill/>
          <a:ln/>
        </p:spPr>
        <p:txBody>
          <a:bodyPr wrap="square" lIns="0" tIns="0" rIns="0" bIns="0" rtlCol="0" anchor="ctr"/>
          <a:lstStyle/>
          <a:p>
            <a:pPr indent="0" marL="0">
              <a:buNone/>
            </a:pPr>
            <a:r>
              <a:rPr lang="en-US" sz="1150" b="1" dirty="0">
                <a:solidFill>
                  <a:srgbClr val="0E1C36"/>
                </a:solidFill>
                <a:latin typeface="Calibri" pitchFamily="34" charset="0"/>
                <a:ea typeface="Calibri" pitchFamily="34" charset="-122"/>
                <a:cs typeface="Calibri" pitchFamily="34" charset="-120"/>
              </a:rPr>
              <a:t>The instrument was checked before the results were believed. </a:t>
            </a:r>
            <a:pPr indent="0" marL="0">
              <a:buNone/>
            </a:pPr>
            <a:r>
              <a:rPr lang="en-US" sz="1150" dirty="0">
                <a:solidFill>
                  <a:srgbClr val="27374F"/>
                </a:solidFill>
                <a:latin typeface="Calibri" pitchFamily="34" charset="0"/>
                <a:ea typeface="Calibri" pitchFamily="34" charset="-122"/>
                <a:cs typeface="Calibri" pitchFamily="34" charset="-120"/>
              </a:rPr>
              <a:t>A USB3 capture card can duplicate or drop frames on its own. IR single returns repeat runs of exactly 2 at a 59.9 fps grab, 352 times in a row, so the card resolves 30 distinct frames per second cleanly. Lower resolution and MJPEG change nothing. A duplicate would hash the same and count once; a dropped frame would make this under-count, never over-count.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WHERE THE LIMIT WAS WRITTEN</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Evidence 1 — the RTL</a:t>
            </a:r>
            <a:endParaRPr lang="en-US" sz="3000" dirty="0"/>
          </a:p>
        </p:txBody>
      </p:sp>
      <p:sp>
        <p:nvSpPr>
          <p:cNvPr id="4" name="Text 2"/>
          <p:cNvSpPr/>
          <p:nvPr/>
        </p:nvSpPr>
        <p:spPr>
          <a:xfrm>
            <a:off x="548640" y="1152144"/>
            <a:ext cx="11109960" cy="310896"/>
          </a:xfrm>
          <a:prstGeom prst="rect">
            <a:avLst/>
          </a:prstGeom>
          <a:noFill/>
          <a:ln/>
        </p:spPr>
        <p:txBody>
          <a:bodyPr wrap="square" lIns="0" tIns="0" rIns="0" bIns="0" rtlCol="0" anchor="ctr"/>
          <a:lstStyle/>
          <a:p>
            <a:pPr indent="0" marL="0">
              <a:buNone/>
            </a:pPr>
            <a:r>
              <a:rPr lang="en-US" sz="1300" dirty="0">
                <a:solidFill>
                  <a:srgbClr val="27374F"/>
                </a:solidFill>
                <a:latin typeface="Calibri" pitchFamily="34" charset="0"/>
                <a:ea typeface="Calibri" pitchFamily="34" charset="-122"/>
                <a:cs typeface="Calibri" pitchFamily="34" charset="-120"/>
              </a:rPr>
              <a:t>The output framebuffer held two banks. A finished frame occupied one until it was displayed, and the rule below refused to start another render until then.</a:t>
            </a:r>
            <a:endParaRPr lang="en-US" sz="1300" dirty="0"/>
          </a:p>
        </p:txBody>
      </p:sp>
      <p:sp>
        <p:nvSpPr>
          <p:cNvPr id="5" name="Text 3"/>
          <p:cNvSpPr/>
          <p:nvPr/>
        </p:nvSpPr>
        <p:spPr>
          <a:xfrm>
            <a:off x="548640" y="1609344"/>
            <a:ext cx="5394960" cy="237744"/>
          </a:xfrm>
          <a:prstGeom prst="rect">
            <a:avLst/>
          </a:prstGeom>
          <a:noFill/>
          <a:ln/>
        </p:spPr>
        <p:txBody>
          <a:bodyPr wrap="square" lIns="0" tIns="0" rIns="0" bIns="0" rtlCol="0" anchor="ctr"/>
          <a:lstStyle/>
          <a:p>
            <a:pPr indent="0" marL="0">
              <a:buNone/>
            </a:pPr>
            <a:r>
              <a:rPr lang="en-US" sz="1100" b="1" spc="200" kern="0" dirty="0">
                <a:solidFill>
                  <a:srgbClr val="B4443A"/>
                </a:solidFill>
                <a:latin typeface="Calibri" pitchFamily="34" charset="0"/>
                <a:ea typeface="Calibri" pitchFamily="34" charset="-122"/>
                <a:cs typeface="Calibri" pitchFamily="34" charset="-120"/>
              </a:rPr>
              <a:t>BEFORE</a:t>
            </a:r>
            <a:endParaRPr lang="en-US" sz="1100" dirty="0"/>
          </a:p>
        </p:txBody>
      </p:sp>
      <p:sp>
        <p:nvSpPr>
          <p:cNvPr id="6" name="Shape 4"/>
          <p:cNvSpPr/>
          <p:nvPr/>
        </p:nvSpPr>
        <p:spPr>
          <a:xfrm>
            <a:off x="548640" y="1883664"/>
            <a:ext cx="5440680" cy="1417320"/>
          </a:xfrm>
          <a:prstGeom prst="roundRect">
            <a:avLst>
              <a:gd name="adj" fmla="val 3226"/>
            </a:avLst>
          </a:prstGeom>
          <a:solidFill>
            <a:srgbClr val="1B2A45"/>
          </a:solidFill>
          <a:ln w="15875">
            <a:solidFill>
              <a:srgbClr val="B4443A"/>
            </a:solidFill>
            <a:prstDash val="solid"/>
          </a:ln>
        </p:spPr>
      </p:sp>
      <p:sp>
        <p:nvSpPr>
          <p:cNvPr id="7" name="Text 5"/>
          <p:cNvSpPr/>
          <p:nvPr/>
        </p:nvSpPr>
        <p:spPr>
          <a:xfrm>
            <a:off x="694944" y="1993392"/>
            <a:ext cx="5148072" cy="1197864"/>
          </a:xfrm>
          <a:prstGeom prst="rect">
            <a:avLst/>
          </a:prstGeom>
          <a:noFill/>
          <a:ln/>
        </p:spPr>
        <p:txBody>
          <a:bodyPr wrap="square" lIns="0" tIns="0" rIns="0" bIns="0" rtlCol="0" anchor="t"/>
          <a:lstStyle/>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wire copy_bank_available =</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!pending_valid &amp;&amp;</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(!frame_valid || (wr_bank != rd_bank));</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a:t>
            </a:r>
            <a:endParaRPr lang="en-US" sz="1000" dirty="0"/>
          </a:p>
          <a:p>
            <a:pPr indent="0" marL="0">
              <a:lnSpc>
                <a:spcPct val="106000"/>
              </a:lnSpc>
              <a:buNone/>
            </a:pPr>
            <a:r>
              <a:rPr lang="en-US" sz="1000" dirty="0">
                <a:solidFill>
                  <a:srgbClr val="7E93B5"/>
                </a:solidFill>
                <a:latin typeface="Consolas" pitchFamily="34" charset="0"/>
                <a:ea typeface="Consolas" pitchFamily="34" charset="-122"/>
                <a:cs typeface="Consolas" pitchFamily="34" charset="-120"/>
              </a:rPr>
              <a:t>// !pending_valid = "nothing is waiting to be shown"</a:t>
            </a:r>
            <a:endParaRPr lang="en-US" sz="1000" dirty="0"/>
          </a:p>
        </p:txBody>
      </p:sp>
      <p:sp>
        <p:nvSpPr>
          <p:cNvPr id="8" name="Text 6"/>
          <p:cNvSpPr/>
          <p:nvPr/>
        </p:nvSpPr>
        <p:spPr>
          <a:xfrm>
            <a:off x="6263640" y="1609344"/>
            <a:ext cx="5394960" cy="237744"/>
          </a:xfrm>
          <a:prstGeom prst="rect">
            <a:avLst/>
          </a:prstGeom>
          <a:noFill/>
          <a:ln/>
        </p:spPr>
        <p:txBody>
          <a:bodyPr wrap="square" lIns="0" tIns="0" rIns="0" bIns="0" rtlCol="0" anchor="ctr"/>
          <a:lstStyle/>
          <a:p>
            <a:pPr indent="0" marL="0">
              <a:buNone/>
            </a:pPr>
            <a:r>
              <a:rPr lang="en-US" sz="1100" b="1" spc="200" kern="0" dirty="0">
                <a:solidFill>
                  <a:srgbClr val="02A37A"/>
                </a:solidFill>
                <a:latin typeface="Calibri" pitchFamily="34" charset="0"/>
                <a:ea typeface="Calibri" pitchFamily="34" charset="-122"/>
                <a:cs typeface="Calibri" pitchFamily="34" charset="-120"/>
              </a:rPr>
              <a:t>AFTER</a:t>
            </a:r>
            <a:endParaRPr lang="en-US" sz="1100" dirty="0"/>
          </a:p>
        </p:txBody>
      </p:sp>
      <p:sp>
        <p:nvSpPr>
          <p:cNvPr id="9" name="Shape 7"/>
          <p:cNvSpPr/>
          <p:nvPr/>
        </p:nvSpPr>
        <p:spPr>
          <a:xfrm>
            <a:off x="6263640" y="1883664"/>
            <a:ext cx="5394960" cy="1417320"/>
          </a:xfrm>
          <a:prstGeom prst="roundRect">
            <a:avLst>
              <a:gd name="adj" fmla="val 3226"/>
            </a:avLst>
          </a:prstGeom>
          <a:solidFill>
            <a:srgbClr val="1B2A45"/>
          </a:solidFill>
          <a:ln w="15875">
            <a:solidFill>
              <a:srgbClr val="02A37A"/>
            </a:solidFill>
            <a:prstDash val="solid"/>
          </a:ln>
        </p:spPr>
      </p:sp>
      <p:sp>
        <p:nvSpPr>
          <p:cNvPr id="10" name="Text 8"/>
          <p:cNvSpPr/>
          <p:nvPr/>
        </p:nvSpPr>
        <p:spPr>
          <a:xfrm>
            <a:off x="6409944" y="1993392"/>
            <a:ext cx="5102352" cy="1197864"/>
          </a:xfrm>
          <a:prstGeom prst="rect">
            <a:avLst/>
          </a:prstGeom>
          <a:noFill/>
          <a:ln/>
        </p:spPr>
        <p:txBody>
          <a:bodyPr wrap="square" lIns="0" tIns="0" rIns="0" bIns="0" rtlCol="0" anchor="t"/>
          <a:lstStyle/>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wire [2:0] out_bank_busy =</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(1 &lt;&lt; rd_bank) |</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(pending_valid ? (1 &lt;&lt; pending_bank) : 0);</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a:t>
            </a:r>
            <a:endParaRPr lang="en-US" sz="1000" dirty="0"/>
          </a:p>
          <a:p>
            <a:pPr indent="0" marL="0">
              <a:lnSpc>
                <a:spcPct val="106000"/>
              </a:lnSpc>
              <a:buNone/>
            </a:pPr>
            <a:r>
              <a:rPr lang="en-US" sz="1000" dirty="0">
                <a:solidFill>
                  <a:srgbClr val="7E93B5"/>
                </a:solidFill>
                <a:latin typeface="Consolas" pitchFamily="34" charset="0"/>
                <a:ea typeface="Consolas" pitchFamily="34" charset="-122"/>
                <a:cs typeface="Consolas" pitchFamily="34" charset="-120"/>
              </a:rPr>
              <a:t>// three banks, so a free one always exists</a:t>
            </a:r>
            <a:endParaRPr lang="en-US" sz="1000" dirty="0"/>
          </a:p>
        </p:txBody>
      </p:sp>
      <p:sp>
        <p:nvSpPr>
          <p:cNvPr id="11" name="Text 9"/>
          <p:cNvSpPr/>
          <p:nvPr/>
        </p:nvSpPr>
        <p:spPr>
          <a:xfrm>
            <a:off x="548640" y="3456432"/>
            <a:ext cx="11109960" cy="274320"/>
          </a:xfrm>
          <a:prstGeom prst="rect">
            <a:avLst/>
          </a:prstGeom>
          <a:noFill/>
          <a:ln/>
        </p:spPr>
        <p:txBody>
          <a:bodyPr wrap="square" lIns="0" tIns="0" rIns="0" bIns="0" rtlCol="0" anchor="ctr"/>
          <a:lstStyle/>
          <a:p>
            <a:pPr indent="0" marL="0">
              <a:buNone/>
            </a:pPr>
            <a:r>
              <a:rPr lang="en-US" sz="1400" b="1" dirty="0">
                <a:solidFill>
                  <a:srgbClr val="0E1C36"/>
                </a:solidFill>
                <a:latin typeface="Calibri" pitchFamily="34" charset="0"/>
                <a:ea typeface="Calibri" pitchFamily="34" charset="-122"/>
                <a:cs typeface="Calibri" pitchFamily="34" charset="-120"/>
              </a:rPr>
              <a:t>Why that rule cost a whole frame rather than a few milliseconds</a:t>
            </a:r>
            <a:endParaRPr lang="en-US" sz="1400" dirty="0"/>
          </a:p>
        </p:txBody>
      </p:sp>
      <p:sp>
        <p:nvSpPr>
          <p:cNvPr id="12" name="Text 10"/>
          <p:cNvSpPr/>
          <p:nvPr/>
        </p:nvSpPr>
        <p:spPr>
          <a:xfrm>
            <a:off x="548640" y="3767328"/>
            <a:ext cx="11109960" cy="365760"/>
          </a:xfrm>
          <a:prstGeom prst="rect">
            <a:avLst/>
          </a:prstGeom>
          <a:noFill/>
          <a:ln/>
        </p:spPr>
        <p:txBody>
          <a:bodyPr wrap="square" lIns="0" tIns="0" rIns="0" bIns="0" rtlCol="0" anchor="ctr"/>
          <a:lstStyle/>
          <a:p>
            <a:pPr indent="0" marL="0">
              <a:buNone/>
            </a:pPr>
            <a:r>
              <a:rPr lang="en-US" sz="1200" dirty="0">
                <a:solidFill>
                  <a:srgbClr val="27374F"/>
                </a:solidFill>
                <a:latin typeface="Calibri" pitchFamily="34" charset="0"/>
                <a:ea typeface="Calibri" pitchFamily="34" charset="-122"/>
                <a:cs typeface="Calibri" pitchFamily="34" charset="-120"/>
              </a:rPr>
              <a:t>A render cannot be started whenever convenient — its start is locked to the source. For IR panorama the renderer reads the live camera line caches, so it may only begin while the row gate is satisfied:</a:t>
            </a:r>
            <a:endParaRPr lang="en-US" sz="1200" dirty="0"/>
          </a:p>
        </p:txBody>
      </p:sp>
      <p:sp>
        <p:nvSpPr>
          <p:cNvPr id="13" name="Shape 11"/>
          <p:cNvSpPr/>
          <p:nvPr/>
        </p:nvSpPr>
        <p:spPr>
          <a:xfrm>
            <a:off x="548640" y="4169664"/>
            <a:ext cx="6675120" cy="960120"/>
          </a:xfrm>
          <a:prstGeom prst="roundRect">
            <a:avLst>
              <a:gd name="adj" fmla="val 4762"/>
            </a:avLst>
          </a:prstGeom>
          <a:solidFill>
            <a:srgbClr val="1B2A45"/>
          </a:solidFill>
          <a:ln w="15875">
            <a:solidFill>
              <a:srgbClr val="16233A"/>
            </a:solidFill>
            <a:prstDash val="solid"/>
          </a:ln>
        </p:spPr>
      </p:sp>
      <p:sp>
        <p:nvSpPr>
          <p:cNvPr id="14" name="Text 12"/>
          <p:cNvSpPr/>
          <p:nvPr/>
        </p:nvSpPr>
        <p:spPr>
          <a:xfrm>
            <a:off x="694944" y="4279392"/>
            <a:ext cx="6382512" cy="740664"/>
          </a:xfrm>
          <a:prstGeom prst="rect">
            <a:avLst/>
          </a:prstGeom>
          <a:noFill/>
          <a:ln/>
        </p:spPr>
        <p:txBody>
          <a:bodyPr wrap="square" lIns="0" tIns="0" rIns="0" bIns="0" rtlCol="0" anchor="t"/>
          <a:lstStyle/>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wire row_window_ok = (rows_max &lt;= gate_min_row + 30);</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wire row_ready_now = (rows_min &gt;= need_row) &amp;&amp; row_window_ok;</a:t>
            </a:r>
            <a:endParaRPr lang="en-US" sz="1000" dirty="0"/>
          </a:p>
          <a:p>
            <a:pPr indent="0" marL="0">
              <a:lnSpc>
                <a:spcPct val="106000"/>
              </a:lnSpc>
              <a:buNone/>
            </a:pPr>
            <a:r>
              <a:rPr lang="en-US" sz="1000" dirty="0">
                <a:solidFill>
                  <a:srgbClr val="7E93B5"/>
                </a:solidFill>
                <a:latin typeface="Consolas" pitchFamily="34" charset="0"/>
                <a:ea typeface="Consolas" pitchFamily="34" charset="-122"/>
                <a:cs typeface="Consolas" pitchFamily="34" charset="-120"/>
              </a:rPr>
              <a:t>// rows 34..64 of 512  -&gt;  1.95 ms, once per 33.3 ms camera frame</a:t>
            </a:r>
            <a:endParaRPr lang="en-US" sz="1000" dirty="0"/>
          </a:p>
        </p:txBody>
      </p:sp>
      <p:sp>
        <p:nvSpPr>
          <p:cNvPr id="15" name="Shape 13"/>
          <p:cNvSpPr/>
          <p:nvPr/>
        </p:nvSpPr>
        <p:spPr>
          <a:xfrm>
            <a:off x="7452360" y="4169664"/>
            <a:ext cx="4206240" cy="960120"/>
          </a:xfrm>
          <a:prstGeom prst="roundRect">
            <a:avLst>
              <a:gd name="adj" fmla="val 5714"/>
            </a:avLst>
          </a:prstGeom>
          <a:solidFill>
            <a:srgbClr val="F6E2E0"/>
          </a:solidFill>
          <a:ln w="15875">
            <a:solidFill>
              <a:srgbClr val="B4443A"/>
            </a:solidFill>
            <a:prstDash val="solid"/>
          </a:ln>
        </p:spPr>
      </p:sp>
      <p:sp>
        <p:nvSpPr>
          <p:cNvPr id="16" name="Text 14"/>
          <p:cNvSpPr/>
          <p:nvPr/>
        </p:nvSpPr>
        <p:spPr>
          <a:xfrm>
            <a:off x="7680960" y="4261104"/>
            <a:ext cx="3749040" cy="777240"/>
          </a:xfrm>
          <a:prstGeom prst="rect">
            <a:avLst/>
          </a:prstGeom>
          <a:noFill/>
          <a:ln/>
        </p:spPr>
        <p:txBody>
          <a:bodyPr wrap="square" lIns="0" tIns="0" rIns="0" bIns="0" rtlCol="0" anchor="ctr"/>
          <a:lstStyle/>
          <a:p>
            <a:pPr indent="0" marL="0">
              <a:buNone/>
            </a:pPr>
            <a:r>
              <a:rPr lang="en-US" sz="1050" b="1" dirty="0">
                <a:solidFill>
                  <a:srgbClr val="0E1C36"/>
                </a:solidFill>
                <a:latin typeface="Calibri" pitchFamily="34" charset="0"/>
                <a:ea typeface="Calibri" pitchFamily="34" charset="-122"/>
                <a:cs typeface="Calibri" pitchFamily="34" charset="-120"/>
              </a:rPr>
              <a:t>Miss that 1.95 ms window and the next chance is a full camera frame away. </a:t>
            </a:r>
            <a:pPr indent="0" marL="0">
              <a:buNone/>
            </a:pPr>
            <a:r>
              <a:rPr lang="en-US" sz="1050" dirty="0">
                <a:solidFill>
                  <a:srgbClr val="27374F"/>
                </a:solidFill>
                <a:latin typeface="Calibri" pitchFamily="34" charset="0"/>
                <a:ea typeface="Calibri" pitchFamily="34" charset="-122"/>
                <a:cs typeface="Calibri" pitchFamily="34" charset="-120"/>
              </a:rPr>
              <a:t>That is how a few milliseconds of commit delay turned into exactly half rate.</a:t>
            </a:r>
            <a:endParaRPr lang="en-US" sz="1050" dirty="0"/>
          </a:p>
        </p:txBody>
      </p:sp>
      <p:sp>
        <p:nvSpPr>
          <p:cNvPr id="17" name="Text 15"/>
          <p:cNvSpPr/>
          <p:nvPr/>
        </p:nvSpPr>
        <p:spPr>
          <a:xfrm>
            <a:off x="548640" y="5349240"/>
            <a:ext cx="11109960" cy="457200"/>
          </a:xfrm>
          <a:prstGeom prst="rect">
            <a:avLst/>
          </a:prstGeom>
          <a:noFill/>
          <a:ln/>
        </p:spPr>
        <p:txBody>
          <a:bodyPr wrap="square" lIns="0" tIns="0" rIns="0" bIns="0" rtlCol="0" anchor="t"/>
          <a:lstStyle/>
          <a:p>
            <a:pPr indent="0" marL="0">
              <a:buNone/>
            </a:pPr>
            <a:r>
              <a:rPr lang="en-US" sz="1150" i="1" dirty="0">
                <a:solidFill>
                  <a:srgbClr val="6B7C97"/>
                </a:solidFill>
                <a:latin typeface="Calibri" pitchFamily="34" charset="0"/>
                <a:ea typeface="Calibri" pitchFamily="34" charset="-122"/>
                <a:cs typeface="Calibri" pitchFamily="34" charset="-120"/>
              </a:rPr>
              <a:t>src/PanoramaBase_DdrBlackFrame.v and src/IrV19StreamingRenderer.v. The third bank required moving one address region; it was moved by exactly 8100 × 128 addresses so every camera keeps its DRAM bank assignment.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REPRODUCED, NOT ASSUMED</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Evidence 2 — simulation across the phase</a:t>
            </a:r>
            <a:endParaRPr lang="en-US" sz="3000" dirty="0"/>
          </a:p>
        </p:txBody>
      </p:sp>
      <p:sp>
        <p:nvSpPr>
          <p:cNvPr id="4" name="Text 2"/>
          <p:cNvSpPr/>
          <p:nvPr/>
        </p:nvSpPr>
        <p:spPr>
          <a:xfrm>
            <a:off x="548640" y="1152144"/>
            <a:ext cx="11109960" cy="310896"/>
          </a:xfrm>
          <a:prstGeom prst="rect">
            <a:avLst/>
          </a:prstGeom>
          <a:noFill/>
          <a:ln/>
        </p:spPr>
        <p:txBody>
          <a:bodyPr wrap="square" lIns="0" tIns="0" rIns="0" bIns="0" rtlCol="0" anchor="ctr"/>
          <a:lstStyle/>
          <a:p>
            <a:pPr indent="0" marL="0">
              <a:buNone/>
            </a:pPr>
            <a:r>
              <a:rPr lang="en-US" sz="1300" dirty="0">
                <a:solidFill>
                  <a:srgbClr val="27374F"/>
                </a:solidFill>
                <a:latin typeface="Calibri" pitchFamily="34" charset="0"/>
                <a:ea typeface="Calibri" pitchFamily="34" charset="-122"/>
                <a:cs typeface="Calibri" pitchFamily="34" charset="-120"/>
              </a:rPr>
              <a:t>The offset between the camera clock and the display clock is not adjustable on hardware, so it was swept in simulation. Render 26.6 ms against a 33.3 ms frame edge.</a:t>
            </a:r>
            <a:endParaRPr lang="en-US" sz="1300" dirty="0"/>
          </a:p>
        </p:txBody>
      </p:sp>
      <p:sp>
        <p:nvSpPr>
          <p:cNvPr id="5" name="Text 3"/>
          <p:cNvSpPr/>
          <p:nvPr/>
        </p:nvSpPr>
        <p:spPr>
          <a:xfrm>
            <a:off x="548640" y="1609344"/>
            <a:ext cx="2468880" cy="310896"/>
          </a:xfrm>
          <a:prstGeom prst="rect">
            <a:avLst/>
          </a:prstGeom>
          <a:noFill/>
          <a:ln/>
        </p:spPr>
        <p:txBody>
          <a:bodyPr wrap="square" lIns="0" tIns="0" rIns="0" bIns="0" rtlCol="0" anchor="ctr"/>
          <a:lstStyle/>
          <a:p>
            <a:pPr algn="l" indent="0" marL="0">
              <a:buNone/>
            </a:pPr>
            <a:r>
              <a:rPr lang="en-US" sz="1050" b="1" dirty="0">
                <a:solidFill>
                  <a:srgbClr val="6B7C97"/>
                </a:solidFill>
                <a:latin typeface="Calibri" pitchFamily="34" charset="0"/>
                <a:ea typeface="Calibri" pitchFamily="34" charset="-122"/>
                <a:cs typeface="Calibri" pitchFamily="34" charset="-120"/>
              </a:rPr>
              <a:t>Camera-to-display phase</a:t>
            </a:r>
            <a:endParaRPr lang="en-US" sz="1050" dirty="0"/>
          </a:p>
        </p:txBody>
      </p:sp>
      <p:sp>
        <p:nvSpPr>
          <p:cNvPr id="6" name="Text 4"/>
          <p:cNvSpPr/>
          <p:nvPr/>
        </p:nvSpPr>
        <p:spPr>
          <a:xfrm>
            <a:off x="3017520" y="1609344"/>
            <a:ext cx="160020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TWO banks</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fps</a:t>
            </a:r>
            <a:endParaRPr lang="en-US" sz="1050" dirty="0"/>
          </a:p>
        </p:txBody>
      </p:sp>
      <p:sp>
        <p:nvSpPr>
          <p:cNvPr id="7" name="Text 5"/>
          <p:cNvSpPr/>
          <p:nvPr/>
        </p:nvSpPr>
        <p:spPr>
          <a:xfrm>
            <a:off x="4617720" y="1609344"/>
            <a:ext cx="169164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source frames</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lost</a:t>
            </a:r>
            <a:endParaRPr lang="en-US" sz="1050" dirty="0"/>
          </a:p>
        </p:txBody>
      </p:sp>
      <p:sp>
        <p:nvSpPr>
          <p:cNvPr id="8" name="Text 6"/>
          <p:cNvSpPr/>
          <p:nvPr/>
        </p:nvSpPr>
        <p:spPr>
          <a:xfrm>
            <a:off x="6309360" y="1609344"/>
            <a:ext cx="160020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THREE banks</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fps</a:t>
            </a:r>
            <a:endParaRPr lang="en-US" sz="1050" dirty="0"/>
          </a:p>
        </p:txBody>
      </p:sp>
      <p:sp>
        <p:nvSpPr>
          <p:cNvPr id="9" name="Text 7"/>
          <p:cNvSpPr/>
          <p:nvPr/>
        </p:nvSpPr>
        <p:spPr>
          <a:xfrm>
            <a:off x="7909560" y="1609344"/>
            <a:ext cx="123444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source frames</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lost</a:t>
            </a:r>
            <a:endParaRPr lang="en-US" sz="1050" dirty="0"/>
          </a:p>
        </p:txBody>
      </p:sp>
      <p:sp>
        <p:nvSpPr>
          <p:cNvPr id="10" name="Shape 8"/>
          <p:cNvSpPr/>
          <p:nvPr/>
        </p:nvSpPr>
        <p:spPr>
          <a:xfrm>
            <a:off x="548640" y="1938528"/>
            <a:ext cx="8595360" cy="0"/>
          </a:xfrm>
          <a:prstGeom prst="line">
            <a:avLst/>
          </a:prstGeom>
          <a:noFill/>
          <a:ln w="12700">
            <a:solidFill>
              <a:srgbClr val="D3DCEA"/>
            </a:solidFill>
            <a:prstDash val="solid"/>
          </a:ln>
        </p:spPr>
      </p:sp>
      <p:sp>
        <p:nvSpPr>
          <p:cNvPr id="11" name="Text 9"/>
          <p:cNvSpPr/>
          <p:nvPr/>
        </p:nvSpPr>
        <p:spPr>
          <a:xfrm>
            <a:off x="548640" y="2011680"/>
            <a:ext cx="2468880" cy="32918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0 µs</a:t>
            </a:r>
            <a:endParaRPr lang="en-US" sz="1050" dirty="0"/>
          </a:p>
        </p:txBody>
      </p:sp>
      <p:sp>
        <p:nvSpPr>
          <p:cNvPr id="12" name="Text 10"/>
          <p:cNvSpPr/>
          <p:nvPr/>
        </p:nvSpPr>
        <p:spPr>
          <a:xfrm>
            <a:off x="3017520" y="201168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29.85</a:t>
            </a:r>
            <a:endParaRPr lang="en-US" sz="1050" dirty="0"/>
          </a:p>
        </p:txBody>
      </p:sp>
      <p:sp>
        <p:nvSpPr>
          <p:cNvPr id="13" name="Text 11"/>
          <p:cNvSpPr/>
          <p:nvPr/>
        </p:nvSpPr>
        <p:spPr>
          <a:xfrm>
            <a:off x="4617720" y="2011680"/>
            <a:ext cx="16916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14" name="Text 12"/>
          <p:cNvSpPr/>
          <p:nvPr/>
        </p:nvSpPr>
        <p:spPr>
          <a:xfrm>
            <a:off x="6309360" y="201168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29.85</a:t>
            </a:r>
            <a:endParaRPr lang="en-US" sz="1050" dirty="0"/>
          </a:p>
        </p:txBody>
      </p:sp>
      <p:sp>
        <p:nvSpPr>
          <p:cNvPr id="15" name="Text 13"/>
          <p:cNvSpPr/>
          <p:nvPr/>
        </p:nvSpPr>
        <p:spPr>
          <a:xfrm>
            <a:off x="7909560" y="2011680"/>
            <a:ext cx="12344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16" name="Shape 14"/>
          <p:cNvSpPr/>
          <p:nvPr/>
        </p:nvSpPr>
        <p:spPr>
          <a:xfrm>
            <a:off x="475488" y="2350008"/>
            <a:ext cx="8741664" cy="347472"/>
          </a:xfrm>
          <a:prstGeom prst="rect">
            <a:avLst/>
          </a:prstGeom>
          <a:solidFill>
            <a:srgbClr val="F2F5FA"/>
          </a:solidFill>
          <a:ln w="12700">
            <a:solidFill>
              <a:srgbClr val="333333"/>
            </a:solidFill>
            <a:prstDash val="solid"/>
          </a:ln>
        </p:spPr>
      </p:sp>
      <p:sp>
        <p:nvSpPr>
          <p:cNvPr id="17" name="Text 15"/>
          <p:cNvSpPr/>
          <p:nvPr/>
        </p:nvSpPr>
        <p:spPr>
          <a:xfrm>
            <a:off x="548640" y="2377440"/>
            <a:ext cx="2468880" cy="32918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4 166 µs</a:t>
            </a:r>
            <a:endParaRPr lang="en-US" sz="1050" dirty="0"/>
          </a:p>
        </p:txBody>
      </p:sp>
      <p:sp>
        <p:nvSpPr>
          <p:cNvPr id="18" name="Text 16"/>
          <p:cNvSpPr/>
          <p:nvPr/>
        </p:nvSpPr>
        <p:spPr>
          <a:xfrm>
            <a:off x="3017520" y="237744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30.00</a:t>
            </a:r>
            <a:endParaRPr lang="en-US" sz="1050" dirty="0"/>
          </a:p>
        </p:txBody>
      </p:sp>
      <p:sp>
        <p:nvSpPr>
          <p:cNvPr id="19" name="Text 17"/>
          <p:cNvSpPr/>
          <p:nvPr/>
        </p:nvSpPr>
        <p:spPr>
          <a:xfrm>
            <a:off x="4617720" y="2377440"/>
            <a:ext cx="16916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20" name="Text 18"/>
          <p:cNvSpPr/>
          <p:nvPr/>
        </p:nvSpPr>
        <p:spPr>
          <a:xfrm>
            <a:off x="6309360" y="237744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30.00</a:t>
            </a:r>
            <a:endParaRPr lang="en-US" sz="1050" dirty="0"/>
          </a:p>
        </p:txBody>
      </p:sp>
      <p:sp>
        <p:nvSpPr>
          <p:cNvPr id="21" name="Text 19"/>
          <p:cNvSpPr/>
          <p:nvPr/>
        </p:nvSpPr>
        <p:spPr>
          <a:xfrm>
            <a:off x="7909560" y="2377440"/>
            <a:ext cx="12344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22" name="Text 20"/>
          <p:cNvSpPr/>
          <p:nvPr/>
        </p:nvSpPr>
        <p:spPr>
          <a:xfrm>
            <a:off x="548640" y="2743200"/>
            <a:ext cx="2468880" cy="32918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8 332 µs</a:t>
            </a:r>
            <a:endParaRPr lang="en-US" sz="1050" dirty="0"/>
          </a:p>
        </p:txBody>
      </p:sp>
      <p:sp>
        <p:nvSpPr>
          <p:cNvPr id="23" name="Text 21"/>
          <p:cNvSpPr/>
          <p:nvPr/>
        </p:nvSpPr>
        <p:spPr>
          <a:xfrm>
            <a:off x="3017520" y="2743200"/>
            <a:ext cx="1600200" cy="329184"/>
          </a:xfrm>
          <a:prstGeom prst="rect">
            <a:avLst/>
          </a:prstGeom>
          <a:noFill/>
          <a:ln/>
        </p:spPr>
        <p:txBody>
          <a:bodyPr wrap="square" lIns="0" tIns="0" rIns="0" bIns="0" rtlCol="0" anchor="ctr"/>
          <a:lstStyle/>
          <a:p>
            <a:pPr algn="ctr" indent="0" marL="0">
              <a:buNone/>
            </a:pPr>
            <a:r>
              <a:rPr lang="en-US" sz="1050" b="1" dirty="0">
                <a:solidFill>
                  <a:srgbClr val="B4443A"/>
                </a:solidFill>
                <a:latin typeface="Calibri" pitchFamily="34" charset="0"/>
                <a:ea typeface="Calibri" pitchFamily="34" charset="-122"/>
                <a:cs typeface="Calibri" pitchFamily="34" charset="-120"/>
              </a:rPr>
              <a:t>15.00</a:t>
            </a:r>
            <a:endParaRPr lang="en-US" sz="1050" dirty="0"/>
          </a:p>
        </p:txBody>
      </p:sp>
      <p:sp>
        <p:nvSpPr>
          <p:cNvPr id="24" name="Text 22"/>
          <p:cNvSpPr/>
          <p:nvPr/>
        </p:nvSpPr>
        <p:spPr>
          <a:xfrm>
            <a:off x="4617720" y="2743200"/>
            <a:ext cx="1691640" cy="329184"/>
          </a:xfrm>
          <a:prstGeom prst="rect">
            <a:avLst/>
          </a:prstGeom>
          <a:noFill/>
          <a:ln/>
        </p:spPr>
        <p:txBody>
          <a:bodyPr wrap="square" lIns="0" tIns="0" rIns="0" bIns="0" rtlCol="0" anchor="ctr"/>
          <a:lstStyle/>
          <a:p>
            <a:pPr algn="ctr" indent="0" marL="0">
              <a:buNone/>
            </a:pPr>
            <a:r>
              <a:rPr lang="en-US" sz="1050" dirty="0">
                <a:solidFill>
                  <a:srgbClr val="B4443A"/>
                </a:solidFill>
                <a:latin typeface="Calibri" pitchFamily="34" charset="0"/>
                <a:ea typeface="Calibri" pitchFamily="34" charset="-122"/>
                <a:cs typeface="Calibri" pitchFamily="34" charset="-120"/>
              </a:rPr>
              <a:t>100 of 200</a:t>
            </a:r>
            <a:endParaRPr lang="en-US" sz="1050" dirty="0"/>
          </a:p>
        </p:txBody>
      </p:sp>
      <p:sp>
        <p:nvSpPr>
          <p:cNvPr id="25" name="Text 23"/>
          <p:cNvSpPr/>
          <p:nvPr/>
        </p:nvSpPr>
        <p:spPr>
          <a:xfrm>
            <a:off x="6309360" y="274320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29.85</a:t>
            </a:r>
            <a:endParaRPr lang="en-US" sz="1050" dirty="0"/>
          </a:p>
        </p:txBody>
      </p:sp>
      <p:sp>
        <p:nvSpPr>
          <p:cNvPr id="26" name="Text 24"/>
          <p:cNvSpPr/>
          <p:nvPr/>
        </p:nvSpPr>
        <p:spPr>
          <a:xfrm>
            <a:off x="7909560" y="2743200"/>
            <a:ext cx="12344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27" name="Shape 25"/>
          <p:cNvSpPr/>
          <p:nvPr/>
        </p:nvSpPr>
        <p:spPr>
          <a:xfrm>
            <a:off x="475488" y="3081528"/>
            <a:ext cx="8741664" cy="347472"/>
          </a:xfrm>
          <a:prstGeom prst="rect">
            <a:avLst/>
          </a:prstGeom>
          <a:solidFill>
            <a:srgbClr val="F2F5FA"/>
          </a:solidFill>
          <a:ln w="12700">
            <a:solidFill>
              <a:srgbClr val="333333"/>
            </a:solidFill>
            <a:prstDash val="solid"/>
          </a:ln>
        </p:spPr>
      </p:sp>
      <p:sp>
        <p:nvSpPr>
          <p:cNvPr id="28" name="Text 26"/>
          <p:cNvSpPr/>
          <p:nvPr/>
        </p:nvSpPr>
        <p:spPr>
          <a:xfrm>
            <a:off x="548640" y="3108960"/>
            <a:ext cx="2468880" cy="32918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12 498 µs</a:t>
            </a:r>
            <a:endParaRPr lang="en-US" sz="1050" dirty="0"/>
          </a:p>
        </p:txBody>
      </p:sp>
      <p:sp>
        <p:nvSpPr>
          <p:cNvPr id="29" name="Text 27"/>
          <p:cNvSpPr/>
          <p:nvPr/>
        </p:nvSpPr>
        <p:spPr>
          <a:xfrm>
            <a:off x="3017520" y="3108960"/>
            <a:ext cx="1600200" cy="329184"/>
          </a:xfrm>
          <a:prstGeom prst="rect">
            <a:avLst/>
          </a:prstGeom>
          <a:noFill/>
          <a:ln/>
        </p:spPr>
        <p:txBody>
          <a:bodyPr wrap="square" lIns="0" tIns="0" rIns="0" bIns="0" rtlCol="0" anchor="ctr"/>
          <a:lstStyle/>
          <a:p>
            <a:pPr algn="ctr" indent="0" marL="0">
              <a:buNone/>
            </a:pPr>
            <a:r>
              <a:rPr lang="en-US" sz="1050" b="1" dirty="0">
                <a:solidFill>
                  <a:srgbClr val="B4443A"/>
                </a:solidFill>
                <a:latin typeface="Calibri" pitchFamily="34" charset="0"/>
                <a:ea typeface="Calibri" pitchFamily="34" charset="-122"/>
                <a:cs typeface="Calibri" pitchFamily="34" charset="-120"/>
              </a:rPr>
              <a:t>15.00</a:t>
            </a:r>
            <a:endParaRPr lang="en-US" sz="1050" dirty="0"/>
          </a:p>
        </p:txBody>
      </p:sp>
      <p:sp>
        <p:nvSpPr>
          <p:cNvPr id="30" name="Text 28"/>
          <p:cNvSpPr/>
          <p:nvPr/>
        </p:nvSpPr>
        <p:spPr>
          <a:xfrm>
            <a:off x="4617720" y="3108960"/>
            <a:ext cx="1691640" cy="329184"/>
          </a:xfrm>
          <a:prstGeom prst="rect">
            <a:avLst/>
          </a:prstGeom>
          <a:noFill/>
          <a:ln/>
        </p:spPr>
        <p:txBody>
          <a:bodyPr wrap="square" lIns="0" tIns="0" rIns="0" bIns="0" rtlCol="0" anchor="ctr"/>
          <a:lstStyle/>
          <a:p>
            <a:pPr algn="ctr" indent="0" marL="0">
              <a:buNone/>
            </a:pPr>
            <a:r>
              <a:rPr lang="en-US" sz="1050" dirty="0">
                <a:solidFill>
                  <a:srgbClr val="B4443A"/>
                </a:solidFill>
                <a:latin typeface="Calibri" pitchFamily="34" charset="0"/>
                <a:ea typeface="Calibri" pitchFamily="34" charset="-122"/>
                <a:cs typeface="Calibri" pitchFamily="34" charset="-120"/>
              </a:rPr>
              <a:t>100 of 200</a:t>
            </a:r>
            <a:endParaRPr lang="en-US" sz="1050" dirty="0"/>
          </a:p>
        </p:txBody>
      </p:sp>
      <p:sp>
        <p:nvSpPr>
          <p:cNvPr id="31" name="Text 29"/>
          <p:cNvSpPr/>
          <p:nvPr/>
        </p:nvSpPr>
        <p:spPr>
          <a:xfrm>
            <a:off x="6309360" y="310896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29.85</a:t>
            </a:r>
            <a:endParaRPr lang="en-US" sz="1050" dirty="0"/>
          </a:p>
        </p:txBody>
      </p:sp>
      <p:sp>
        <p:nvSpPr>
          <p:cNvPr id="32" name="Text 30"/>
          <p:cNvSpPr/>
          <p:nvPr/>
        </p:nvSpPr>
        <p:spPr>
          <a:xfrm>
            <a:off x="7909560" y="3108960"/>
            <a:ext cx="12344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33" name="Text 31"/>
          <p:cNvSpPr/>
          <p:nvPr/>
        </p:nvSpPr>
        <p:spPr>
          <a:xfrm>
            <a:off x="548640" y="3474720"/>
            <a:ext cx="2468880" cy="32918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16 664 µs</a:t>
            </a:r>
            <a:endParaRPr lang="en-US" sz="1050" dirty="0"/>
          </a:p>
        </p:txBody>
      </p:sp>
      <p:sp>
        <p:nvSpPr>
          <p:cNvPr id="34" name="Text 32"/>
          <p:cNvSpPr/>
          <p:nvPr/>
        </p:nvSpPr>
        <p:spPr>
          <a:xfrm>
            <a:off x="3017520" y="3474720"/>
            <a:ext cx="1600200" cy="329184"/>
          </a:xfrm>
          <a:prstGeom prst="rect">
            <a:avLst/>
          </a:prstGeom>
          <a:noFill/>
          <a:ln/>
        </p:spPr>
        <p:txBody>
          <a:bodyPr wrap="square" lIns="0" tIns="0" rIns="0" bIns="0" rtlCol="0" anchor="ctr"/>
          <a:lstStyle/>
          <a:p>
            <a:pPr algn="ctr" indent="0" marL="0">
              <a:buNone/>
            </a:pPr>
            <a:r>
              <a:rPr lang="en-US" sz="1050" b="1" dirty="0">
                <a:solidFill>
                  <a:srgbClr val="B4443A"/>
                </a:solidFill>
                <a:latin typeface="Calibri" pitchFamily="34" charset="0"/>
                <a:ea typeface="Calibri" pitchFamily="34" charset="-122"/>
                <a:cs typeface="Calibri" pitchFamily="34" charset="-120"/>
              </a:rPr>
              <a:t>15.00</a:t>
            </a:r>
            <a:endParaRPr lang="en-US" sz="1050" dirty="0"/>
          </a:p>
        </p:txBody>
      </p:sp>
      <p:sp>
        <p:nvSpPr>
          <p:cNvPr id="35" name="Text 33"/>
          <p:cNvSpPr/>
          <p:nvPr/>
        </p:nvSpPr>
        <p:spPr>
          <a:xfrm>
            <a:off x="4617720" y="3474720"/>
            <a:ext cx="1691640" cy="329184"/>
          </a:xfrm>
          <a:prstGeom prst="rect">
            <a:avLst/>
          </a:prstGeom>
          <a:noFill/>
          <a:ln/>
        </p:spPr>
        <p:txBody>
          <a:bodyPr wrap="square" lIns="0" tIns="0" rIns="0" bIns="0" rtlCol="0" anchor="ctr"/>
          <a:lstStyle/>
          <a:p>
            <a:pPr algn="ctr" indent="0" marL="0">
              <a:buNone/>
            </a:pPr>
            <a:r>
              <a:rPr lang="en-US" sz="1050" dirty="0">
                <a:solidFill>
                  <a:srgbClr val="B4443A"/>
                </a:solidFill>
                <a:latin typeface="Calibri" pitchFamily="34" charset="0"/>
                <a:ea typeface="Calibri" pitchFamily="34" charset="-122"/>
                <a:cs typeface="Calibri" pitchFamily="34" charset="-120"/>
              </a:rPr>
              <a:t>100 of 200</a:t>
            </a:r>
            <a:endParaRPr lang="en-US" sz="1050" dirty="0"/>
          </a:p>
        </p:txBody>
      </p:sp>
      <p:sp>
        <p:nvSpPr>
          <p:cNvPr id="36" name="Text 34"/>
          <p:cNvSpPr/>
          <p:nvPr/>
        </p:nvSpPr>
        <p:spPr>
          <a:xfrm>
            <a:off x="6309360" y="347472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29.85</a:t>
            </a:r>
            <a:endParaRPr lang="en-US" sz="1050" dirty="0"/>
          </a:p>
        </p:txBody>
      </p:sp>
      <p:sp>
        <p:nvSpPr>
          <p:cNvPr id="37" name="Text 35"/>
          <p:cNvSpPr/>
          <p:nvPr/>
        </p:nvSpPr>
        <p:spPr>
          <a:xfrm>
            <a:off x="7909560" y="3474720"/>
            <a:ext cx="12344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38" name="Shape 36"/>
          <p:cNvSpPr/>
          <p:nvPr/>
        </p:nvSpPr>
        <p:spPr>
          <a:xfrm>
            <a:off x="475488" y="3813048"/>
            <a:ext cx="8741664" cy="347472"/>
          </a:xfrm>
          <a:prstGeom prst="rect">
            <a:avLst/>
          </a:prstGeom>
          <a:solidFill>
            <a:srgbClr val="F2F5FA"/>
          </a:solidFill>
          <a:ln w="12700">
            <a:solidFill>
              <a:srgbClr val="333333"/>
            </a:solidFill>
            <a:prstDash val="solid"/>
          </a:ln>
        </p:spPr>
      </p:sp>
      <p:sp>
        <p:nvSpPr>
          <p:cNvPr id="39" name="Text 37"/>
          <p:cNvSpPr/>
          <p:nvPr/>
        </p:nvSpPr>
        <p:spPr>
          <a:xfrm>
            <a:off x="548640" y="3840480"/>
            <a:ext cx="2468880" cy="32918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20 830 µs</a:t>
            </a:r>
            <a:endParaRPr lang="en-US" sz="1050" dirty="0"/>
          </a:p>
        </p:txBody>
      </p:sp>
      <p:sp>
        <p:nvSpPr>
          <p:cNvPr id="40" name="Text 38"/>
          <p:cNvSpPr/>
          <p:nvPr/>
        </p:nvSpPr>
        <p:spPr>
          <a:xfrm>
            <a:off x="3017520" y="3840480"/>
            <a:ext cx="1600200" cy="329184"/>
          </a:xfrm>
          <a:prstGeom prst="rect">
            <a:avLst/>
          </a:prstGeom>
          <a:noFill/>
          <a:ln/>
        </p:spPr>
        <p:txBody>
          <a:bodyPr wrap="square" lIns="0" tIns="0" rIns="0" bIns="0" rtlCol="0" anchor="ctr"/>
          <a:lstStyle/>
          <a:p>
            <a:pPr algn="ctr" indent="0" marL="0">
              <a:buNone/>
            </a:pPr>
            <a:r>
              <a:rPr lang="en-US" sz="1050" b="1" dirty="0">
                <a:solidFill>
                  <a:srgbClr val="B4443A"/>
                </a:solidFill>
                <a:latin typeface="Calibri" pitchFamily="34" charset="0"/>
                <a:ea typeface="Calibri" pitchFamily="34" charset="-122"/>
                <a:cs typeface="Calibri" pitchFamily="34" charset="-120"/>
              </a:rPr>
              <a:t>15.00</a:t>
            </a:r>
            <a:endParaRPr lang="en-US" sz="1050" dirty="0"/>
          </a:p>
        </p:txBody>
      </p:sp>
      <p:sp>
        <p:nvSpPr>
          <p:cNvPr id="41" name="Text 39"/>
          <p:cNvSpPr/>
          <p:nvPr/>
        </p:nvSpPr>
        <p:spPr>
          <a:xfrm>
            <a:off x="4617720" y="3840480"/>
            <a:ext cx="1691640" cy="329184"/>
          </a:xfrm>
          <a:prstGeom prst="rect">
            <a:avLst/>
          </a:prstGeom>
          <a:noFill/>
          <a:ln/>
        </p:spPr>
        <p:txBody>
          <a:bodyPr wrap="square" lIns="0" tIns="0" rIns="0" bIns="0" rtlCol="0" anchor="ctr"/>
          <a:lstStyle/>
          <a:p>
            <a:pPr algn="ctr" indent="0" marL="0">
              <a:buNone/>
            </a:pPr>
            <a:r>
              <a:rPr lang="en-US" sz="1050" dirty="0">
                <a:solidFill>
                  <a:srgbClr val="B4443A"/>
                </a:solidFill>
                <a:latin typeface="Calibri" pitchFamily="34" charset="0"/>
                <a:ea typeface="Calibri" pitchFamily="34" charset="-122"/>
                <a:cs typeface="Calibri" pitchFamily="34" charset="-120"/>
              </a:rPr>
              <a:t>100 of 200</a:t>
            </a:r>
            <a:endParaRPr lang="en-US" sz="1050" dirty="0"/>
          </a:p>
        </p:txBody>
      </p:sp>
      <p:sp>
        <p:nvSpPr>
          <p:cNvPr id="42" name="Text 40"/>
          <p:cNvSpPr/>
          <p:nvPr/>
        </p:nvSpPr>
        <p:spPr>
          <a:xfrm>
            <a:off x="6309360" y="384048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29.85</a:t>
            </a:r>
            <a:endParaRPr lang="en-US" sz="1050" dirty="0"/>
          </a:p>
        </p:txBody>
      </p:sp>
      <p:sp>
        <p:nvSpPr>
          <p:cNvPr id="43" name="Text 41"/>
          <p:cNvSpPr/>
          <p:nvPr/>
        </p:nvSpPr>
        <p:spPr>
          <a:xfrm>
            <a:off x="7909560" y="3840480"/>
            <a:ext cx="12344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44" name="Text 42"/>
          <p:cNvSpPr/>
          <p:nvPr/>
        </p:nvSpPr>
        <p:spPr>
          <a:xfrm>
            <a:off x="548640" y="4206240"/>
            <a:ext cx="2468880" cy="32918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24 996 µs</a:t>
            </a:r>
            <a:endParaRPr lang="en-US" sz="1050" dirty="0"/>
          </a:p>
        </p:txBody>
      </p:sp>
      <p:sp>
        <p:nvSpPr>
          <p:cNvPr id="45" name="Text 43"/>
          <p:cNvSpPr/>
          <p:nvPr/>
        </p:nvSpPr>
        <p:spPr>
          <a:xfrm>
            <a:off x="3017520" y="4206240"/>
            <a:ext cx="1600200" cy="329184"/>
          </a:xfrm>
          <a:prstGeom prst="rect">
            <a:avLst/>
          </a:prstGeom>
          <a:noFill/>
          <a:ln/>
        </p:spPr>
        <p:txBody>
          <a:bodyPr wrap="square" lIns="0" tIns="0" rIns="0" bIns="0" rtlCol="0" anchor="ctr"/>
          <a:lstStyle/>
          <a:p>
            <a:pPr algn="ctr" indent="0" marL="0">
              <a:buNone/>
            </a:pPr>
            <a:r>
              <a:rPr lang="en-US" sz="1050" b="1" dirty="0">
                <a:solidFill>
                  <a:srgbClr val="B4443A"/>
                </a:solidFill>
                <a:latin typeface="Calibri" pitchFamily="34" charset="0"/>
                <a:ea typeface="Calibri" pitchFamily="34" charset="-122"/>
                <a:cs typeface="Calibri" pitchFamily="34" charset="-120"/>
              </a:rPr>
              <a:t>15.00</a:t>
            </a:r>
            <a:endParaRPr lang="en-US" sz="1050" dirty="0"/>
          </a:p>
        </p:txBody>
      </p:sp>
      <p:sp>
        <p:nvSpPr>
          <p:cNvPr id="46" name="Text 44"/>
          <p:cNvSpPr/>
          <p:nvPr/>
        </p:nvSpPr>
        <p:spPr>
          <a:xfrm>
            <a:off x="4617720" y="4206240"/>
            <a:ext cx="1691640" cy="329184"/>
          </a:xfrm>
          <a:prstGeom prst="rect">
            <a:avLst/>
          </a:prstGeom>
          <a:noFill/>
          <a:ln/>
        </p:spPr>
        <p:txBody>
          <a:bodyPr wrap="square" lIns="0" tIns="0" rIns="0" bIns="0" rtlCol="0" anchor="ctr"/>
          <a:lstStyle/>
          <a:p>
            <a:pPr algn="ctr" indent="0" marL="0">
              <a:buNone/>
            </a:pPr>
            <a:r>
              <a:rPr lang="en-US" sz="1050" dirty="0">
                <a:solidFill>
                  <a:srgbClr val="B4443A"/>
                </a:solidFill>
                <a:latin typeface="Calibri" pitchFamily="34" charset="0"/>
                <a:ea typeface="Calibri" pitchFamily="34" charset="-122"/>
                <a:cs typeface="Calibri" pitchFamily="34" charset="-120"/>
              </a:rPr>
              <a:t>100 of 200</a:t>
            </a:r>
            <a:endParaRPr lang="en-US" sz="1050" dirty="0"/>
          </a:p>
        </p:txBody>
      </p:sp>
      <p:sp>
        <p:nvSpPr>
          <p:cNvPr id="47" name="Text 45"/>
          <p:cNvSpPr/>
          <p:nvPr/>
        </p:nvSpPr>
        <p:spPr>
          <a:xfrm>
            <a:off x="6309360" y="420624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29.85</a:t>
            </a:r>
            <a:endParaRPr lang="en-US" sz="1050" dirty="0"/>
          </a:p>
        </p:txBody>
      </p:sp>
      <p:sp>
        <p:nvSpPr>
          <p:cNvPr id="48" name="Text 46"/>
          <p:cNvSpPr/>
          <p:nvPr/>
        </p:nvSpPr>
        <p:spPr>
          <a:xfrm>
            <a:off x="7909560" y="4206240"/>
            <a:ext cx="12344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49" name="Shape 47"/>
          <p:cNvSpPr/>
          <p:nvPr/>
        </p:nvSpPr>
        <p:spPr>
          <a:xfrm>
            <a:off x="475488" y="4544568"/>
            <a:ext cx="8741664" cy="347472"/>
          </a:xfrm>
          <a:prstGeom prst="rect">
            <a:avLst/>
          </a:prstGeom>
          <a:solidFill>
            <a:srgbClr val="F2F5FA"/>
          </a:solidFill>
          <a:ln w="12700">
            <a:solidFill>
              <a:srgbClr val="333333"/>
            </a:solidFill>
            <a:prstDash val="solid"/>
          </a:ln>
        </p:spPr>
      </p:sp>
      <p:sp>
        <p:nvSpPr>
          <p:cNvPr id="50" name="Text 48"/>
          <p:cNvSpPr/>
          <p:nvPr/>
        </p:nvSpPr>
        <p:spPr>
          <a:xfrm>
            <a:off x="548640" y="4572000"/>
            <a:ext cx="2468880" cy="329184"/>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29 162 µs</a:t>
            </a:r>
            <a:endParaRPr lang="en-US" sz="1050" dirty="0"/>
          </a:p>
        </p:txBody>
      </p:sp>
      <p:sp>
        <p:nvSpPr>
          <p:cNvPr id="51" name="Text 49"/>
          <p:cNvSpPr/>
          <p:nvPr/>
        </p:nvSpPr>
        <p:spPr>
          <a:xfrm>
            <a:off x="3017520" y="4572000"/>
            <a:ext cx="1600200" cy="329184"/>
          </a:xfrm>
          <a:prstGeom prst="rect">
            <a:avLst/>
          </a:prstGeom>
          <a:noFill/>
          <a:ln/>
        </p:spPr>
        <p:txBody>
          <a:bodyPr wrap="square" lIns="0" tIns="0" rIns="0" bIns="0" rtlCol="0" anchor="ctr"/>
          <a:lstStyle/>
          <a:p>
            <a:pPr algn="ctr" indent="0" marL="0">
              <a:buNone/>
            </a:pPr>
            <a:r>
              <a:rPr lang="en-US" sz="1050" b="1" dirty="0">
                <a:solidFill>
                  <a:srgbClr val="B4443A"/>
                </a:solidFill>
                <a:latin typeface="Calibri" pitchFamily="34" charset="0"/>
                <a:ea typeface="Calibri" pitchFamily="34" charset="-122"/>
                <a:cs typeface="Calibri" pitchFamily="34" charset="-120"/>
              </a:rPr>
              <a:t>15.00</a:t>
            </a:r>
            <a:endParaRPr lang="en-US" sz="1050" dirty="0"/>
          </a:p>
        </p:txBody>
      </p:sp>
      <p:sp>
        <p:nvSpPr>
          <p:cNvPr id="52" name="Text 50"/>
          <p:cNvSpPr/>
          <p:nvPr/>
        </p:nvSpPr>
        <p:spPr>
          <a:xfrm>
            <a:off x="4617720" y="4572000"/>
            <a:ext cx="1691640" cy="329184"/>
          </a:xfrm>
          <a:prstGeom prst="rect">
            <a:avLst/>
          </a:prstGeom>
          <a:noFill/>
          <a:ln/>
        </p:spPr>
        <p:txBody>
          <a:bodyPr wrap="square" lIns="0" tIns="0" rIns="0" bIns="0" rtlCol="0" anchor="ctr"/>
          <a:lstStyle/>
          <a:p>
            <a:pPr algn="ctr" indent="0" marL="0">
              <a:buNone/>
            </a:pPr>
            <a:r>
              <a:rPr lang="en-US" sz="1050" dirty="0">
                <a:solidFill>
                  <a:srgbClr val="B4443A"/>
                </a:solidFill>
                <a:latin typeface="Calibri" pitchFamily="34" charset="0"/>
                <a:ea typeface="Calibri" pitchFamily="34" charset="-122"/>
                <a:cs typeface="Calibri" pitchFamily="34" charset="-120"/>
              </a:rPr>
              <a:t>100 of 200</a:t>
            </a:r>
            <a:endParaRPr lang="en-US" sz="1050" dirty="0"/>
          </a:p>
        </p:txBody>
      </p:sp>
      <p:sp>
        <p:nvSpPr>
          <p:cNvPr id="53" name="Text 51"/>
          <p:cNvSpPr/>
          <p:nvPr/>
        </p:nvSpPr>
        <p:spPr>
          <a:xfrm>
            <a:off x="6309360" y="4572000"/>
            <a:ext cx="1600200" cy="329184"/>
          </a:xfrm>
          <a:prstGeom prst="rect">
            <a:avLst/>
          </a:prstGeom>
          <a:noFill/>
          <a:ln/>
        </p:spPr>
        <p:txBody>
          <a:bodyPr wrap="square" lIns="0" tIns="0" rIns="0" bIns="0" rtlCol="0" anchor="ctr"/>
          <a:lstStyle/>
          <a:p>
            <a:pPr algn="ctr" indent="0" marL="0">
              <a:buNone/>
            </a:pPr>
            <a:r>
              <a:rPr lang="en-US" sz="1050" dirty="0">
                <a:solidFill>
                  <a:srgbClr val="02A37A"/>
                </a:solidFill>
                <a:latin typeface="Calibri" pitchFamily="34" charset="0"/>
                <a:ea typeface="Calibri" pitchFamily="34" charset="-122"/>
                <a:cs typeface="Calibri" pitchFamily="34" charset="-120"/>
              </a:rPr>
              <a:t>29.85</a:t>
            </a:r>
            <a:endParaRPr lang="en-US" sz="1050" dirty="0"/>
          </a:p>
        </p:txBody>
      </p:sp>
      <p:sp>
        <p:nvSpPr>
          <p:cNvPr id="54" name="Text 52"/>
          <p:cNvSpPr/>
          <p:nvPr/>
        </p:nvSpPr>
        <p:spPr>
          <a:xfrm>
            <a:off x="7909560" y="4572000"/>
            <a:ext cx="1234440" cy="329184"/>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0</a:t>
            </a:r>
            <a:endParaRPr lang="en-US" sz="1050" dirty="0"/>
          </a:p>
        </p:txBody>
      </p:sp>
      <p:sp>
        <p:nvSpPr>
          <p:cNvPr id="55" name="Shape 53"/>
          <p:cNvSpPr/>
          <p:nvPr/>
        </p:nvSpPr>
        <p:spPr>
          <a:xfrm>
            <a:off x="9372600" y="1609344"/>
            <a:ext cx="2286000" cy="3291840"/>
          </a:xfrm>
          <a:prstGeom prst="roundRect">
            <a:avLst>
              <a:gd name="adj" fmla="val 2400"/>
            </a:avLst>
          </a:prstGeom>
          <a:solidFill>
            <a:srgbClr val="DAF2EB"/>
          </a:solidFill>
          <a:ln w="15875">
            <a:solidFill>
              <a:srgbClr val="02A37A"/>
            </a:solidFill>
            <a:prstDash val="solid"/>
          </a:ln>
        </p:spPr>
      </p:sp>
      <p:sp>
        <p:nvSpPr>
          <p:cNvPr id="56" name="Text 54"/>
          <p:cNvSpPr/>
          <p:nvPr/>
        </p:nvSpPr>
        <p:spPr>
          <a:xfrm>
            <a:off x="9509760" y="1828800"/>
            <a:ext cx="2011680" cy="548640"/>
          </a:xfrm>
          <a:prstGeom prst="rect">
            <a:avLst/>
          </a:prstGeom>
          <a:noFill/>
          <a:ln/>
        </p:spPr>
        <p:txBody>
          <a:bodyPr wrap="square" lIns="0" tIns="0" rIns="0" bIns="0" rtlCol="0" anchor="ctr"/>
          <a:lstStyle/>
          <a:p>
            <a:pPr algn="ctr" indent="0" marL="0">
              <a:buNone/>
            </a:pPr>
            <a:r>
              <a:rPr lang="en-US" sz="3000" b="1" dirty="0">
                <a:solidFill>
                  <a:srgbClr val="B4443A"/>
                </a:solidFill>
                <a:latin typeface="Cambria" pitchFamily="34" charset="0"/>
                <a:ea typeface="Cambria" pitchFamily="34" charset="-122"/>
                <a:cs typeface="Cambria" pitchFamily="34" charset="-120"/>
              </a:rPr>
              <a:t>6 of 8</a:t>
            </a:r>
            <a:endParaRPr lang="en-US" sz="3000" dirty="0"/>
          </a:p>
        </p:txBody>
      </p:sp>
      <p:sp>
        <p:nvSpPr>
          <p:cNvPr id="57" name="Text 55"/>
          <p:cNvSpPr/>
          <p:nvPr/>
        </p:nvSpPr>
        <p:spPr>
          <a:xfrm>
            <a:off x="9509760" y="2377440"/>
            <a:ext cx="2011680" cy="731520"/>
          </a:xfrm>
          <a:prstGeom prst="rect">
            <a:avLst/>
          </a:prstGeom>
          <a:noFill/>
          <a:ln/>
        </p:spPr>
        <p:txBody>
          <a:bodyPr wrap="square" lIns="0" tIns="0" rIns="0" bIns="0" rtlCol="0" anchor="ctr"/>
          <a:lstStyle/>
          <a:p>
            <a:pPr algn="ctr" indent="0" marL="0">
              <a:buNone/>
            </a:pPr>
            <a:r>
              <a:rPr lang="en-US" sz="1100" dirty="0">
                <a:solidFill>
                  <a:srgbClr val="27374F"/>
                </a:solidFill>
                <a:latin typeface="Calibri" pitchFamily="34" charset="0"/>
                <a:ea typeface="Calibri" pitchFamily="34" charset="-122"/>
                <a:cs typeface="Calibri" pitchFamily="34" charset="-120"/>
              </a:rPr>
              <a:t>phases lose exactly half the source frames with two banks</a:t>
            </a:r>
            <a:endParaRPr lang="en-US" sz="1100" dirty="0"/>
          </a:p>
        </p:txBody>
      </p:sp>
      <p:sp>
        <p:nvSpPr>
          <p:cNvPr id="58" name="Text 56"/>
          <p:cNvSpPr/>
          <p:nvPr/>
        </p:nvSpPr>
        <p:spPr>
          <a:xfrm>
            <a:off x="9509760" y="3200400"/>
            <a:ext cx="2011680" cy="548640"/>
          </a:xfrm>
          <a:prstGeom prst="rect">
            <a:avLst/>
          </a:prstGeom>
          <a:noFill/>
          <a:ln/>
        </p:spPr>
        <p:txBody>
          <a:bodyPr wrap="square" lIns="0" tIns="0" rIns="0" bIns="0" rtlCol="0" anchor="ctr"/>
          <a:lstStyle/>
          <a:p>
            <a:pPr algn="ctr" indent="0" marL="0">
              <a:buNone/>
            </a:pPr>
            <a:r>
              <a:rPr lang="en-US" sz="3000" b="1" dirty="0">
                <a:solidFill>
                  <a:srgbClr val="02A37A"/>
                </a:solidFill>
                <a:latin typeface="Cambria" pitchFamily="34" charset="0"/>
                <a:ea typeface="Cambria" pitchFamily="34" charset="-122"/>
                <a:cs typeface="Cambria" pitchFamily="34" charset="-120"/>
              </a:rPr>
              <a:t>0 of 8</a:t>
            </a:r>
            <a:endParaRPr lang="en-US" sz="3000" dirty="0"/>
          </a:p>
        </p:txBody>
      </p:sp>
      <p:sp>
        <p:nvSpPr>
          <p:cNvPr id="59" name="Text 57"/>
          <p:cNvSpPr/>
          <p:nvPr/>
        </p:nvSpPr>
        <p:spPr>
          <a:xfrm>
            <a:off x="9509760" y="3749040"/>
            <a:ext cx="2011680" cy="1005840"/>
          </a:xfrm>
          <a:prstGeom prst="rect">
            <a:avLst/>
          </a:prstGeom>
          <a:noFill/>
          <a:ln/>
        </p:spPr>
        <p:txBody>
          <a:bodyPr wrap="square" lIns="0" tIns="0" rIns="0" bIns="0" rtlCol="0" anchor="ctr"/>
          <a:lstStyle/>
          <a:p>
            <a:pPr algn="ctr" indent="0" marL="0">
              <a:buNone/>
            </a:pPr>
            <a:r>
              <a:rPr lang="en-US" sz="1100" dirty="0">
                <a:solidFill>
                  <a:srgbClr val="27374F"/>
                </a:solidFill>
                <a:latin typeface="Calibri" pitchFamily="34" charset="0"/>
                <a:ea typeface="Calibri" pitchFamily="34" charset="-122"/>
                <a:cs typeface="Calibri" pitchFamily="34" charset="-120"/>
              </a:rPr>
              <a:t>lose anything with three banks, and no bank is ever written while displayed</a:t>
            </a:r>
            <a:endParaRPr lang="en-US" sz="1100" dirty="0"/>
          </a:p>
        </p:txBody>
      </p:sp>
      <p:sp>
        <p:nvSpPr>
          <p:cNvPr id="60" name="Text 58"/>
          <p:cNvSpPr/>
          <p:nvPr/>
        </p:nvSpPr>
        <p:spPr>
          <a:xfrm>
            <a:off x="548640" y="5074920"/>
            <a:ext cx="8595360" cy="640080"/>
          </a:xfrm>
          <a:prstGeom prst="rect">
            <a:avLst/>
          </a:prstGeom>
          <a:noFill/>
          <a:ln/>
        </p:spPr>
        <p:txBody>
          <a:bodyPr wrap="square" lIns="0" tIns="0" rIns="0" bIns="0" rtlCol="0" anchor="ctr"/>
          <a:lstStyle/>
          <a:p>
            <a:pPr indent="0" marL="0">
              <a:buNone/>
            </a:pPr>
            <a:r>
              <a:rPr lang="en-US" sz="1150" dirty="0">
                <a:solidFill>
                  <a:srgbClr val="27374F"/>
                </a:solidFill>
                <a:latin typeface="Calibri" pitchFamily="34" charset="0"/>
                <a:ea typeface="Calibri" pitchFamily="34" charset="-122"/>
                <a:cs typeface="Calibri" pitchFamily="34" charset="-120"/>
              </a:rPr>
              <a:t>The two phases that already worked are the ones where the display edge happens to fall in the narrow gap between the render finishing and the next source window opening. That is the stated mechanism reproducing itself, which is what makes this a demonstration rather than an argument.</a:t>
            </a:r>
            <a:endParaRPr lang="en-US" sz="1150" dirty="0"/>
          </a:p>
        </p:txBody>
      </p:sp>
      <p:sp>
        <p:nvSpPr>
          <p:cNvPr id="61" name="Text 59"/>
          <p:cNvSpPr/>
          <p:nvPr/>
        </p:nvSpPr>
        <p:spPr>
          <a:xfrm>
            <a:off x="548640" y="5806440"/>
            <a:ext cx="11109960" cy="457200"/>
          </a:xfrm>
          <a:prstGeom prst="rect">
            <a:avLst/>
          </a:prstGeom>
          <a:noFill/>
          <a:ln/>
        </p:spPr>
        <p:txBody>
          <a:bodyPr wrap="square" lIns="0" tIns="0" rIns="0" bIns="0" rtlCol="0" anchor="t"/>
          <a:lstStyle/>
          <a:p>
            <a:pPr indent="0" marL="0">
              <a:buNone/>
            </a:pPr>
            <a:r>
              <a:rPr lang="en-US" sz="1150" i="1" dirty="0">
                <a:solidFill>
                  <a:srgbClr val="6B7C97"/>
                </a:solidFill>
                <a:latin typeface="Calibri" pitchFamily="34" charset="0"/>
                <a:ea typeface="Calibri" pitchFamily="34" charset="-122"/>
                <a:cs typeface="Calibri" pitchFamily="34" charset="-120"/>
              </a:rPr>
              <a:t>sim/tb_V19OutputBankRate.v. The same testbench asserts on every render start that the chosen bank is neither being displayed nor holding an unshown frame: zero violations across all sixteen configurations.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ILA</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Evidence 3 — the in-fabric timing probe</a:t>
            </a:r>
            <a:endParaRPr lang="en-US" sz="3000" dirty="0"/>
          </a:p>
        </p:txBody>
      </p:sp>
      <p:sp>
        <p:nvSpPr>
          <p:cNvPr id="4" name="Text 2"/>
          <p:cNvSpPr/>
          <p:nvPr/>
        </p:nvSpPr>
        <p:spPr>
          <a:xfrm>
            <a:off x="548640" y="1152144"/>
            <a:ext cx="11109960" cy="457200"/>
          </a:xfrm>
          <a:prstGeom prst="rect">
            <a:avLst/>
          </a:prstGeom>
          <a:noFill/>
          <a:ln/>
        </p:spPr>
        <p:txBody>
          <a:bodyPr wrap="square" lIns="0" tIns="0" rIns="0" bIns="0" rtlCol="0" anchor="ctr"/>
          <a:lstStyle/>
          <a:p>
            <a:pPr indent="0" marL="0">
              <a:buNone/>
            </a:pPr>
            <a:r>
              <a:rPr lang="en-US" sz="1300" dirty="0">
                <a:solidFill>
                  <a:srgbClr val="27374F"/>
                </a:solidFill>
                <a:latin typeface="Calibri" pitchFamily="34" charset="0"/>
                <a:ea typeface="Calibri" pitchFamily="34" charset="-122"/>
                <a:cs typeface="Calibri" pitchFamily="34" charset="-120"/>
              </a:rPr>
              <a:t>An ILA window is 8.8 µs and carries no timestamps, so a 33 ms interval cannot be recovered from a capture however it is triggered. The intervals are therefore measured in the FPGA and only the results are read out.</a:t>
            </a:r>
            <a:endParaRPr lang="en-US" sz="1300" dirty="0"/>
          </a:p>
        </p:txBody>
      </p:sp>
      <p:sp>
        <p:nvSpPr>
          <p:cNvPr id="5" name="Shape 3"/>
          <p:cNvSpPr/>
          <p:nvPr/>
        </p:nvSpPr>
        <p:spPr>
          <a:xfrm>
            <a:off x="548640" y="1755648"/>
            <a:ext cx="5577840" cy="1783080"/>
          </a:xfrm>
          <a:prstGeom prst="roundRect">
            <a:avLst>
              <a:gd name="adj" fmla="val 2564"/>
            </a:avLst>
          </a:prstGeom>
          <a:solidFill>
            <a:srgbClr val="1B2A45"/>
          </a:solidFill>
          <a:ln w="15875">
            <a:solidFill>
              <a:srgbClr val="16233A"/>
            </a:solidFill>
            <a:prstDash val="solid"/>
          </a:ln>
        </p:spPr>
      </p:sp>
      <p:sp>
        <p:nvSpPr>
          <p:cNvPr id="6" name="Text 4"/>
          <p:cNvSpPr/>
          <p:nvPr/>
        </p:nvSpPr>
        <p:spPr>
          <a:xfrm>
            <a:off x="694944" y="1865376"/>
            <a:ext cx="5285232" cy="1563624"/>
          </a:xfrm>
          <a:prstGeom prst="rect">
            <a:avLst/>
          </a:prstGeom>
          <a:noFill/>
          <a:ln/>
        </p:spPr>
        <p:txBody>
          <a:bodyPr wrap="square" lIns="0" tIns="0" rIns="0" bIns="0" rtlCol="0" anchor="t"/>
          <a:lstStyle/>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V19TimingProbe  u_v19_timing (</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.in_frame_ev  (camera frame available),</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.copy_start_ev(render begins),</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.copy_done_ev (render complete),</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.commit_ev    (published to the display),</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.out_edge_ev  (output raster boundary));</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a:t>
            </a:r>
            <a:endParaRPr lang="en-US" sz="1000" dirty="0"/>
          </a:p>
          <a:p>
            <a:pPr indent="0" marL="0">
              <a:lnSpc>
                <a:spcPct val="106000"/>
              </a:lnSpc>
              <a:buNone/>
            </a:pPr>
            <a:r>
              <a:rPr lang="en-US" sz="1000" dirty="0">
                <a:solidFill>
                  <a:srgbClr val="7E93B5"/>
                </a:solidFill>
                <a:latin typeface="Consolas" pitchFamily="34" charset="0"/>
                <a:ea typeface="Consolas" pitchFamily="34" charset="-122"/>
                <a:cs typeface="Consolas" pitchFamily="34" charset="-120"/>
              </a:rPr>
              <a:t>// tick = ui_clk / 64 = 274.2 ns, 24 bits = 4.6 s</a:t>
            </a:r>
            <a:endParaRPr lang="en-US" sz="1000" dirty="0"/>
          </a:p>
        </p:txBody>
      </p:sp>
      <p:sp>
        <p:nvSpPr>
          <p:cNvPr id="7" name="Text 5"/>
          <p:cNvSpPr/>
          <p:nvPr/>
        </p:nvSpPr>
        <p:spPr>
          <a:xfrm>
            <a:off x="6400800" y="1755648"/>
            <a:ext cx="5257800" cy="274320"/>
          </a:xfrm>
          <a:prstGeom prst="rect">
            <a:avLst/>
          </a:prstGeom>
          <a:noFill/>
          <a:ln/>
        </p:spPr>
        <p:txBody>
          <a:bodyPr wrap="square" lIns="0" tIns="0" rIns="0" bIns="0" rtlCol="0" anchor="ctr"/>
          <a:lstStyle/>
          <a:p>
            <a:pPr indent="0" marL="0">
              <a:buNone/>
            </a:pPr>
            <a:r>
              <a:rPr lang="en-US" sz="1300" b="1" dirty="0">
                <a:solidFill>
                  <a:srgbClr val="0E1C36"/>
                </a:solidFill>
                <a:latin typeface="Calibri" pitchFamily="34" charset="0"/>
                <a:ea typeface="Calibri" pitchFamily="34" charset="-122"/>
                <a:cs typeface="Calibri" pitchFamily="34" charset="-120"/>
              </a:rPr>
              <a:t>Measured intervals</a:t>
            </a:r>
            <a:endParaRPr lang="en-US" sz="1300" dirty="0"/>
          </a:p>
        </p:txBody>
      </p:sp>
      <p:sp>
        <p:nvSpPr>
          <p:cNvPr id="8" name="Text 6"/>
          <p:cNvSpPr/>
          <p:nvPr/>
        </p:nvSpPr>
        <p:spPr>
          <a:xfrm>
            <a:off x="6400800" y="2048256"/>
            <a:ext cx="1874520" cy="310896"/>
          </a:xfrm>
          <a:prstGeom prst="rect">
            <a:avLst/>
          </a:prstGeom>
          <a:noFill/>
          <a:ln/>
        </p:spPr>
        <p:txBody>
          <a:bodyPr wrap="square" lIns="0" tIns="0" rIns="0" bIns="0" rtlCol="0" anchor="ctr"/>
          <a:lstStyle/>
          <a:p>
            <a:pPr algn="l" indent="0" marL="0">
              <a:buNone/>
            </a:pPr>
            <a:r>
              <a:rPr lang="en-US" sz="1050" b="1" dirty="0">
                <a:solidFill>
                  <a:srgbClr val="6B7C97"/>
                </a:solidFill>
                <a:latin typeface="Calibri" pitchFamily="34" charset="0"/>
                <a:ea typeface="Calibri" pitchFamily="34" charset="-122"/>
                <a:cs typeface="Calibri" pitchFamily="34" charset="-120"/>
              </a:rPr>
              <a:t>Mode</a:t>
            </a:r>
            <a:endParaRPr lang="en-US" sz="1050" dirty="0"/>
          </a:p>
        </p:txBody>
      </p:sp>
      <p:sp>
        <p:nvSpPr>
          <p:cNvPr id="9" name="Text 7"/>
          <p:cNvSpPr/>
          <p:nvPr/>
        </p:nvSpPr>
        <p:spPr>
          <a:xfrm>
            <a:off x="8275320" y="2048256"/>
            <a:ext cx="173736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frame → render done</a:t>
            </a:r>
            <a:endParaRPr lang="en-US" sz="1050" dirty="0"/>
          </a:p>
          <a:p>
            <a:pPr algn="ctr" indent="0" marL="0">
              <a:buNone/>
            </a:pPr>
            <a:r>
              <a:rPr lang="en-US" sz="1050" b="1" dirty="0">
                <a:solidFill>
                  <a:srgbClr val="6B7C97"/>
                </a:solidFill>
                <a:latin typeface="Calibri" pitchFamily="34" charset="0"/>
                <a:ea typeface="Calibri" pitchFamily="34" charset="-122"/>
                <a:cs typeface="Calibri" pitchFamily="34" charset="-120"/>
              </a:rPr>
              <a:t>(wait + render)</a:t>
            </a:r>
            <a:endParaRPr lang="en-US" sz="1050" dirty="0"/>
          </a:p>
        </p:txBody>
      </p:sp>
      <p:sp>
        <p:nvSpPr>
          <p:cNvPr id="10" name="Text 8"/>
          <p:cNvSpPr/>
          <p:nvPr/>
        </p:nvSpPr>
        <p:spPr>
          <a:xfrm>
            <a:off x="10012680" y="2048256"/>
            <a:ext cx="164592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frame → on screen</a:t>
            </a:r>
            <a:endParaRPr lang="en-US" sz="1050" dirty="0"/>
          </a:p>
        </p:txBody>
      </p:sp>
      <p:sp>
        <p:nvSpPr>
          <p:cNvPr id="11" name="Shape 9"/>
          <p:cNvSpPr/>
          <p:nvPr/>
        </p:nvSpPr>
        <p:spPr>
          <a:xfrm>
            <a:off x="6400800" y="2377440"/>
            <a:ext cx="5257800" cy="0"/>
          </a:xfrm>
          <a:prstGeom prst="line">
            <a:avLst/>
          </a:prstGeom>
          <a:noFill/>
          <a:ln w="12700">
            <a:solidFill>
              <a:srgbClr val="D3DCEA"/>
            </a:solidFill>
            <a:prstDash val="solid"/>
          </a:ln>
        </p:spPr>
      </p:sp>
      <p:sp>
        <p:nvSpPr>
          <p:cNvPr id="12" name="Text 10"/>
          <p:cNvSpPr/>
          <p:nvPr/>
        </p:nvSpPr>
        <p:spPr>
          <a:xfrm>
            <a:off x="6400800" y="2450592"/>
            <a:ext cx="1874520" cy="292608"/>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single</a:t>
            </a:r>
            <a:endParaRPr lang="en-US" sz="1050" dirty="0"/>
          </a:p>
        </p:txBody>
      </p:sp>
      <p:sp>
        <p:nvSpPr>
          <p:cNvPr id="13" name="Text 11"/>
          <p:cNvSpPr/>
          <p:nvPr/>
        </p:nvSpPr>
        <p:spPr>
          <a:xfrm>
            <a:off x="8275320" y="2450592"/>
            <a:ext cx="1737360" cy="292608"/>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10.1 ms</a:t>
            </a:r>
            <a:endParaRPr lang="en-US" sz="1050" dirty="0"/>
          </a:p>
        </p:txBody>
      </p:sp>
      <p:sp>
        <p:nvSpPr>
          <p:cNvPr id="14" name="Text 12"/>
          <p:cNvSpPr/>
          <p:nvPr/>
        </p:nvSpPr>
        <p:spPr>
          <a:xfrm>
            <a:off x="10012680" y="2450592"/>
            <a:ext cx="1645920" cy="292608"/>
          </a:xfrm>
          <a:prstGeom prst="rect">
            <a:avLst/>
          </a:prstGeom>
          <a:noFill/>
          <a:ln/>
        </p:spPr>
        <p:txBody>
          <a:bodyPr wrap="square" lIns="0" tIns="0" rIns="0" bIns="0" rtlCol="0" anchor="ctr"/>
          <a:lstStyle/>
          <a:p>
            <a:pPr algn="ctr" indent="0" marL="0">
              <a:buNone/>
            </a:pPr>
            <a:r>
              <a:rPr lang="en-US" sz="1050" b="1" dirty="0">
                <a:solidFill>
                  <a:srgbClr val="27374F"/>
                </a:solidFill>
                <a:latin typeface="Calibri" pitchFamily="34" charset="0"/>
                <a:ea typeface="Calibri" pitchFamily="34" charset="-122"/>
                <a:cs typeface="Calibri" pitchFamily="34" charset="-120"/>
              </a:rPr>
              <a:t>16.4 ms</a:t>
            </a:r>
            <a:endParaRPr lang="en-US" sz="1050" dirty="0"/>
          </a:p>
        </p:txBody>
      </p:sp>
      <p:sp>
        <p:nvSpPr>
          <p:cNvPr id="15" name="Shape 13"/>
          <p:cNvSpPr/>
          <p:nvPr/>
        </p:nvSpPr>
        <p:spPr>
          <a:xfrm>
            <a:off x="6327648" y="2752344"/>
            <a:ext cx="5404104" cy="310896"/>
          </a:xfrm>
          <a:prstGeom prst="rect">
            <a:avLst/>
          </a:prstGeom>
          <a:solidFill>
            <a:srgbClr val="F2F5FA"/>
          </a:solidFill>
          <a:ln w="12700">
            <a:solidFill>
              <a:srgbClr val="333333"/>
            </a:solidFill>
            <a:prstDash val="solid"/>
          </a:ln>
        </p:spPr>
      </p:sp>
      <p:sp>
        <p:nvSpPr>
          <p:cNvPr id="16" name="Text 14"/>
          <p:cNvSpPr/>
          <p:nvPr/>
        </p:nvSpPr>
        <p:spPr>
          <a:xfrm>
            <a:off x="6400800" y="2779776"/>
            <a:ext cx="1874520" cy="292608"/>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panorama</a:t>
            </a:r>
            <a:endParaRPr lang="en-US" sz="1050" dirty="0"/>
          </a:p>
        </p:txBody>
      </p:sp>
      <p:sp>
        <p:nvSpPr>
          <p:cNvPr id="17" name="Text 15"/>
          <p:cNvSpPr/>
          <p:nvPr/>
        </p:nvSpPr>
        <p:spPr>
          <a:xfrm>
            <a:off x="8275320" y="2779776"/>
            <a:ext cx="1737360" cy="292608"/>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38.2 ms</a:t>
            </a:r>
            <a:endParaRPr lang="en-US" sz="1050" dirty="0"/>
          </a:p>
        </p:txBody>
      </p:sp>
      <p:sp>
        <p:nvSpPr>
          <p:cNvPr id="18" name="Text 16"/>
          <p:cNvSpPr/>
          <p:nvPr/>
        </p:nvSpPr>
        <p:spPr>
          <a:xfrm>
            <a:off x="10012680" y="2779776"/>
            <a:ext cx="1645920" cy="292608"/>
          </a:xfrm>
          <a:prstGeom prst="rect">
            <a:avLst/>
          </a:prstGeom>
          <a:noFill/>
          <a:ln/>
        </p:spPr>
        <p:txBody>
          <a:bodyPr wrap="square" lIns="0" tIns="0" rIns="0" bIns="0" rtlCol="0" anchor="ctr"/>
          <a:lstStyle/>
          <a:p>
            <a:pPr algn="ctr" indent="0" marL="0">
              <a:buNone/>
            </a:pPr>
            <a:r>
              <a:rPr lang="en-US" sz="1050" b="1" dirty="0">
                <a:solidFill>
                  <a:srgbClr val="27374F"/>
                </a:solidFill>
                <a:latin typeface="Calibri" pitchFamily="34" charset="0"/>
                <a:ea typeface="Calibri" pitchFamily="34" charset="-122"/>
                <a:cs typeface="Calibri" pitchFamily="34" charset="-120"/>
              </a:rPr>
              <a:t>41.1 ms</a:t>
            </a:r>
            <a:endParaRPr lang="en-US" sz="1050" dirty="0"/>
          </a:p>
        </p:txBody>
      </p:sp>
      <p:sp>
        <p:nvSpPr>
          <p:cNvPr id="19" name="Text 17"/>
          <p:cNvSpPr/>
          <p:nvPr/>
        </p:nvSpPr>
        <p:spPr>
          <a:xfrm>
            <a:off x="6400800" y="3108960"/>
            <a:ext cx="1874520" cy="292608"/>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IR single</a:t>
            </a:r>
            <a:endParaRPr lang="en-US" sz="1050" dirty="0"/>
          </a:p>
        </p:txBody>
      </p:sp>
      <p:sp>
        <p:nvSpPr>
          <p:cNvPr id="20" name="Text 18"/>
          <p:cNvSpPr/>
          <p:nvPr/>
        </p:nvSpPr>
        <p:spPr>
          <a:xfrm>
            <a:off x="8275320" y="3108960"/>
            <a:ext cx="1737360" cy="292608"/>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25.8 ms</a:t>
            </a:r>
            <a:endParaRPr lang="en-US" sz="1050" dirty="0"/>
          </a:p>
        </p:txBody>
      </p:sp>
      <p:sp>
        <p:nvSpPr>
          <p:cNvPr id="21" name="Text 19"/>
          <p:cNvSpPr/>
          <p:nvPr/>
        </p:nvSpPr>
        <p:spPr>
          <a:xfrm>
            <a:off x="10012680" y="3108960"/>
            <a:ext cx="1645920" cy="292608"/>
          </a:xfrm>
          <a:prstGeom prst="rect">
            <a:avLst/>
          </a:prstGeom>
          <a:noFill/>
          <a:ln/>
        </p:spPr>
        <p:txBody>
          <a:bodyPr wrap="square" lIns="0" tIns="0" rIns="0" bIns="0" rtlCol="0" anchor="ctr"/>
          <a:lstStyle/>
          <a:p>
            <a:pPr algn="ctr" indent="0" marL="0">
              <a:buNone/>
            </a:pPr>
            <a:r>
              <a:rPr lang="en-US" sz="1050" b="1" dirty="0">
                <a:solidFill>
                  <a:srgbClr val="27374F"/>
                </a:solidFill>
                <a:latin typeface="Calibri" pitchFamily="34" charset="0"/>
                <a:ea typeface="Calibri" pitchFamily="34" charset="-122"/>
                <a:cs typeface="Calibri" pitchFamily="34" charset="-120"/>
              </a:rPr>
              <a:t>50.1 ms</a:t>
            </a:r>
            <a:endParaRPr lang="en-US" sz="1050" dirty="0"/>
          </a:p>
        </p:txBody>
      </p:sp>
      <p:sp>
        <p:nvSpPr>
          <p:cNvPr id="22" name="Shape 20"/>
          <p:cNvSpPr/>
          <p:nvPr/>
        </p:nvSpPr>
        <p:spPr>
          <a:xfrm>
            <a:off x="6327648" y="3410712"/>
            <a:ext cx="5404104" cy="310896"/>
          </a:xfrm>
          <a:prstGeom prst="rect">
            <a:avLst/>
          </a:prstGeom>
          <a:solidFill>
            <a:srgbClr val="F2F5FA"/>
          </a:solidFill>
          <a:ln w="12700">
            <a:solidFill>
              <a:srgbClr val="333333"/>
            </a:solidFill>
            <a:prstDash val="solid"/>
          </a:ln>
        </p:spPr>
      </p:sp>
      <p:sp>
        <p:nvSpPr>
          <p:cNvPr id="23" name="Text 21"/>
          <p:cNvSpPr/>
          <p:nvPr/>
        </p:nvSpPr>
        <p:spPr>
          <a:xfrm>
            <a:off x="6400800" y="3438144"/>
            <a:ext cx="1874520" cy="292608"/>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IR panorama</a:t>
            </a:r>
            <a:endParaRPr lang="en-US" sz="1050" dirty="0"/>
          </a:p>
        </p:txBody>
      </p:sp>
      <p:sp>
        <p:nvSpPr>
          <p:cNvPr id="24" name="Text 22"/>
          <p:cNvSpPr/>
          <p:nvPr/>
        </p:nvSpPr>
        <p:spPr>
          <a:xfrm>
            <a:off x="8275320" y="3438144"/>
            <a:ext cx="1737360" cy="292608"/>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41.6 ms</a:t>
            </a:r>
            <a:endParaRPr lang="en-US" sz="1050" dirty="0"/>
          </a:p>
        </p:txBody>
      </p:sp>
      <p:sp>
        <p:nvSpPr>
          <p:cNvPr id="25" name="Text 23"/>
          <p:cNvSpPr/>
          <p:nvPr/>
        </p:nvSpPr>
        <p:spPr>
          <a:xfrm>
            <a:off x="10012680" y="3438144"/>
            <a:ext cx="1645920" cy="292608"/>
          </a:xfrm>
          <a:prstGeom prst="rect">
            <a:avLst/>
          </a:prstGeom>
          <a:noFill/>
          <a:ln/>
        </p:spPr>
        <p:txBody>
          <a:bodyPr wrap="square" lIns="0" tIns="0" rIns="0" bIns="0" rtlCol="0" anchor="ctr"/>
          <a:lstStyle/>
          <a:p>
            <a:pPr algn="ctr" indent="0" marL="0">
              <a:buNone/>
            </a:pPr>
            <a:r>
              <a:rPr lang="en-US" sz="1050" b="1" dirty="0">
                <a:solidFill>
                  <a:srgbClr val="27374F"/>
                </a:solidFill>
                <a:latin typeface="Calibri" pitchFamily="34" charset="0"/>
                <a:ea typeface="Calibri" pitchFamily="34" charset="-122"/>
                <a:cs typeface="Calibri" pitchFamily="34" charset="-120"/>
              </a:rPr>
              <a:t>45.0 ms</a:t>
            </a:r>
            <a:endParaRPr lang="en-US" sz="1050" dirty="0"/>
          </a:p>
        </p:txBody>
      </p:sp>
      <p:sp>
        <p:nvSpPr>
          <p:cNvPr id="26" name="Text 24"/>
          <p:cNvSpPr/>
          <p:nvPr/>
        </p:nvSpPr>
        <p:spPr>
          <a:xfrm>
            <a:off x="548640" y="3794760"/>
            <a:ext cx="11109960" cy="274320"/>
          </a:xfrm>
          <a:prstGeom prst="rect">
            <a:avLst/>
          </a:prstGeom>
          <a:noFill/>
          <a:ln/>
        </p:spPr>
        <p:txBody>
          <a:bodyPr wrap="square" lIns="0" tIns="0" rIns="0" bIns="0" rtlCol="0" anchor="ctr"/>
          <a:lstStyle/>
          <a:p>
            <a:pPr indent="0" marL="0">
              <a:buNone/>
            </a:pPr>
            <a:r>
              <a:rPr lang="en-US" sz="1400" b="1" dirty="0">
                <a:solidFill>
                  <a:srgbClr val="0E1C36"/>
                </a:solidFill>
                <a:latin typeface="Calibri" pitchFamily="34" charset="0"/>
                <a:ea typeface="Calibri" pitchFamily="34" charset="-122"/>
                <a:cs typeface="Calibri" pitchFamily="34" charset="-120"/>
              </a:rPr>
              <a:t>Two ways this measurement lied before it was trusted</a:t>
            </a:r>
            <a:endParaRPr lang="en-US" sz="1400" dirty="0"/>
          </a:p>
        </p:txBody>
      </p:sp>
      <p:sp>
        <p:nvSpPr>
          <p:cNvPr id="27" name="Shape 25"/>
          <p:cNvSpPr/>
          <p:nvPr/>
        </p:nvSpPr>
        <p:spPr>
          <a:xfrm>
            <a:off x="548640" y="4114800"/>
            <a:ext cx="5394960" cy="1371600"/>
          </a:xfrm>
          <a:prstGeom prst="roundRect">
            <a:avLst>
              <a:gd name="adj" fmla="val 4000"/>
            </a:avLst>
          </a:prstGeom>
          <a:solidFill>
            <a:srgbClr val="F7F0D8"/>
          </a:solidFill>
          <a:ln w="15875">
            <a:solidFill>
              <a:srgbClr val="C2A33B"/>
            </a:solidFill>
            <a:prstDash val="solid"/>
          </a:ln>
        </p:spPr>
      </p:sp>
      <p:sp>
        <p:nvSpPr>
          <p:cNvPr id="28" name="Text 26"/>
          <p:cNvSpPr/>
          <p:nvPr/>
        </p:nvSpPr>
        <p:spPr>
          <a:xfrm>
            <a:off x="749808" y="4224528"/>
            <a:ext cx="5029200" cy="457200"/>
          </a:xfrm>
          <a:prstGeom prst="rect">
            <a:avLst/>
          </a:prstGeom>
          <a:noFill/>
          <a:ln/>
        </p:spPr>
        <p:txBody>
          <a:bodyPr wrap="square" lIns="0" tIns="0" rIns="0" bIns="0" rtlCol="0" anchor="ctr"/>
          <a:lstStyle/>
          <a:p>
            <a:pPr indent="0" marL="0">
              <a:buNone/>
            </a:pPr>
            <a:r>
              <a:rPr lang="en-US" sz="1150" b="1" dirty="0">
                <a:solidFill>
                  <a:srgbClr val="0E1C36"/>
                </a:solidFill>
                <a:latin typeface="Calibri" pitchFamily="34" charset="0"/>
                <a:ea typeface="Calibri" pitchFamily="34" charset="-122"/>
                <a:cs typeface="Calibri" pitchFamily="34" charset="-120"/>
              </a:rPr>
              <a:t>A capture triggered on activity cannot see idleness</a:t>
            </a:r>
            <a:endParaRPr lang="en-US" sz="1150" dirty="0"/>
          </a:p>
        </p:txBody>
      </p:sp>
      <p:sp>
        <p:nvSpPr>
          <p:cNvPr id="29" name="Text 27"/>
          <p:cNvSpPr/>
          <p:nvPr/>
        </p:nvSpPr>
        <p:spPr>
          <a:xfrm>
            <a:off x="749808" y="4663440"/>
            <a:ext cx="5029200" cy="749808"/>
          </a:xfrm>
          <a:prstGeom prst="rect">
            <a:avLst/>
          </a:prstGeom>
          <a:noFill/>
          <a:ln/>
        </p:spPr>
        <p:txBody>
          <a:bodyPr wrap="square" lIns="0" tIns="0" rIns="0" bIns="0" rtlCol="0" anchor="ctr"/>
          <a:lstStyle/>
          <a:p>
            <a:pPr indent="0" marL="0">
              <a:buNone/>
            </a:pPr>
            <a:r>
              <a:rPr lang="en-US" sz="1050" dirty="0">
                <a:solidFill>
                  <a:srgbClr val="27374F"/>
                </a:solidFill>
                <a:latin typeface="Calibri" pitchFamily="34" charset="0"/>
                <a:ea typeface="Calibri" pitchFamily="34" charset="-122"/>
                <a:cs typeface="Calibri" pitchFamily="34" charset="-120"/>
              </a:rPr>
              <a:t>Arming the ILA on "render active" reported the render occupying 84% of every frame. Sampling with no trigger condition at all gave 25-40%. Every duty figure in this deck is from an untriggered capture.</a:t>
            </a:r>
            <a:endParaRPr lang="en-US" sz="1050" dirty="0"/>
          </a:p>
        </p:txBody>
      </p:sp>
      <p:sp>
        <p:nvSpPr>
          <p:cNvPr id="30" name="Shape 28"/>
          <p:cNvSpPr/>
          <p:nvPr/>
        </p:nvSpPr>
        <p:spPr>
          <a:xfrm>
            <a:off x="6263640" y="4114800"/>
            <a:ext cx="5394960" cy="1371600"/>
          </a:xfrm>
          <a:prstGeom prst="roundRect">
            <a:avLst>
              <a:gd name="adj" fmla="val 4000"/>
            </a:avLst>
          </a:prstGeom>
          <a:solidFill>
            <a:srgbClr val="F7F0D8"/>
          </a:solidFill>
          <a:ln w="15875">
            <a:solidFill>
              <a:srgbClr val="C2A33B"/>
            </a:solidFill>
            <a:prstDash val="solid"/>
          </a:ln>
        </p:spPr>
      </p:sp>
      <p:sp>
        <p:nvSpPr>
          <p:cNvPr id="31" name="Text 29"/>
          <p:cNvSpPr/>
          <p:nvPr/>
        </p:nvSpPr>
        <p:spPr>
          <a:xfrm>
            <a:off x="6464808" y="4224528"/>
            <a:ext cx="5029200" cy="457200"/>
          </a:xfrm>
          <a:prstGeom prst="rect">
            <a:avLst/>
          </a:prstGeom>
          <a:noFill/>
          <a:ln/>
        </p:spPr>
        <p:txBody>
          <a:bodyPr wrap="square" lIns="0" tIns="0" rIns="0" bIns="0" rtlCol="0" anchor="ctr"/>
          <a:lstStyle/>
          <a:p>
            <a:pPr indent="0" marL="0">
              <a:buNone/>
            </a:pPr>
            <a:r>
              <a:rPr lang="en-US" sz="1150" b="1" dirty="0">
                <a:solidFill>
                  <a:srgbClr val="0E1C36"/>
                </a:solidFill>
                <a:latin typeface="Calibri" pitchFamily="34" charset="0"/>
                <a:ea typeface="Calibri" pitchFamily="34" charset="-122"/>
                <a:cs typeface="Calibri" pitchFamily="34" charset="-120"/>
              </a:rPr>
              <a:t>An interval register reports the LAST interval, not a rate</a:t>
            </a:r>
            <a:endParaRPr lang="en-US" sz="1150" dirty="0"/>
          </a:p>
        </p:txBody>
      </p:sp>
      <p:sp>
        <p:nvSpPr>
          <p:cNvPr id="32" name="Text 30"/>
          <p:cNvSpPr/>
          <p:nvPr/>
        </p:nvSpPr>
        <p:spPr>
          <a:xfrm>
            <a:off x="6464808" y="4663440"/>
            <a:ext cx="5029200" cy="749808"/>
          </a:xfrm>
          <a:prstGeom prst="rect">
            <a:avLst/>
          </a:prstGeom>
          <a:noFill/>
          <a:ln/>
        </p:spPr>
        <p:txBody>
          <a:bodyPr wrap="square" lIns="0" tIns="0" rIns="0" bIns="0" rtlCol="0" anchor="ctr"/>
          <a:lstStyle/>
          <a:p>
            <a:pPr indent="0" marL="0">
              <a:buNone/>
            </a:pPr>
            <a:r>
              <a:rPr lang="en-US" sz="1050" dirty="0">
                <a:solidFill>
                  <a:srgbClr val="27374F"/>
                </a:solidFill>
                <a:latin typeface="Calibri" pitchFamily="34" charset="0"/>
                <a:ea typeface="Calibri" pitchFamily="34" charset="-122"/>
                <a:cs typeface="Calibri" pitchFamily="34" charset="-120"/>
              </a:rPr>
              <a:t>A pipeline that has stopped keeps reporting whatever it last managed - one stalled mode read as a healthy 33.3 ms while publishing nothing. Rates here are counted over a wall-clock gap, or measured optically, never read from an interval.</a:t>
            </a:r>
            <a:endParaRPr lang="en-US" sz="1050" dirty="0"/>
          </a:p>
        </p:txBody>
      </p:sp>
      <p:sp>
        <p:nvSpPr>
          <p:cNvPr id="33" name="Text 31"/>
          <p:cNvSpPr/>
          <p:nvPr/>
        </p:nvSpPr>
        <p:spPr>
          <a:xfrm>
            <a:off x="548640" y="5669280"/>
            <a:ext cx="11109960" cy="457200"/>
          </a:xfrm>
          <a:prstGeom prst="rect">
            <a:avLst/>
          </a:prstGeom>
          <a:noFill/>
          <a:ln/>
        </p:spPr>
        <p:txBody>
          <a:bodyPr wrap="square" lIns="0" tIns="0" rIns="0" bIns="0" rtlCol="0" anchor="t"/>
          <a:lstStyle/>
          <a:p>
            <a:pPr indent="0" marL="0">
              <a:buNone/>
            </a:pPr>
            <a:r>
              <a:rPr lang="en-US" sz="1150" i="1" dirty="0">
                <a:solidFill>
                  <a:srgbClr val="6B7C97"/>
                </a:solidFill>
                <a:latin typeface="Calibri" pitchFamily="34" charset="0"/>
                <a:ea typeface="Calibri" pitchFamily="34" charset="-122"/>
                <a:cs typeface="Calibri" pitchFamily="34" charset="-120"/>
              </a:rPr>
              <a:t>src/V19TimingProbe.v, calibrated against known intervals in sim/tb_V19TimingProbe.v — 10 of 10 checks pass. Captures via scripts/capture_v19_untriggered.tcl.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PYTHON / OPTICAL</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Evidence 4 — the output, analysed frame by frame</a:t>
            </a:r>
            <a:endParaRPr lang="en-US" sz="3000" dirty="0"/>
          </a:p>
        </p:txBody>
      </p:sp>
      <p:sp>
        <p:nvSpPr>
          <p:cNvPr id="4" name="Text 2"/>
          <p:cNvSpPr/>
          <p:nvPr/>
        </p:nvSpPr>
        <p:spPr>
          <a:xfrm>
            <a:off x="548640" y="1152144"/>
            <a:ext cx="11109960" cy="310896"/>
          </a:xfrm>
          <a:prstGeom prst="rect">
            <a:avLst/>
          </a:prstGeom>
          <a:noFill/>
          <a:ln/>
        </p:spPr>
        <p:txBody>
          <a:bodyPr wrap="square" lIns="0" tIns="0" rIns="0" bIns="0" rtlCol="0" anchor="ctr"/>
          <a:lstStyle/>
          <a:p>
            <a:pPr indent="0" marL="0">
              <a:buNone/>
            </a:pPr>
            <a:r>
              <a:rPr lang="en-US" sz="1300" dirty="0">
                <a:solidFill>
                  <a:srgbClr val="27374F"/>
                </a:solidFill>
                <a:latin typeface="Calibri" pitchFamily="34" charset="0"/>
                <a:ea typeface="Calibri" pitchFamily="34" charset="-122"/>
                <a:cs typeface="Calibri" pitchFamily="34" charset="-120"/>
              </a:rPr>
              <a:t>The FPGA counter says a frame was published. Only this says the picture actually changed — and on one occasion the two disagreed, correctly.</a:t>
            </a:r>
            <a:endParaRPr lang="en-US" sz="1300" dirty="0"/>
          </a:p>
        </p:txBody>
      </p:sp>
      <p:sp>
        <p:nvSpPr>
          <p:cNvPr id="5" name="Shape 3"/>
          <p:cNvSpPr/>
          <p:nvPr/>
        </p:nvSpPr>
        <p:spPr>
          <a:xfrm>
            <a:off x="548640" y="1627632"/>
            <a:ext cx="5486400" cy="1600200"/>
          </a:xfrm>
          <a:prstGeom prst="roundRect">
            <a:avLst>
              <a:gd name="adj" fmla="val 2857"/>
            </a:avLst>
          </a:prstGeom>
          <a:solidFill>
            <a:srgbClr val="1B2A45"/>
          </a:solidFill>
          <a:ln w="15875">
            <a:solidFill>
              <a:srgbClr val="16233A"/>
            </a:solidFill>
            <a:prstDash val="solid"/>
          </a:ln>
        </p:spPr>
      </p:sp>
      <p:sp>
        <p:nvSpPr>
          <p:cNvPr id="6" name="Text 4"/>
          <p:cNvSpPr/>
          <p:nvPr/>
        </p:nvSpPr>
        <p:spPr>
          <a:xfrm>
            <a:off x="694944" y="1737360"/>
            <a:ext cx="5193792" cy="1380744"/>
          </a:xfrm>
          <a:prstGeom prst="rect">
            <a:avLst/>
          </a:prstGeom>
          <a:noFill/>
          <a:ln/>
        </p:spPr>
        <p:txBody>
          <a:bodyPr wrap="square" lIns="0" tIns="0" rIns="0" bIns="0" rtlCol="0" anchor="t"/>
          <a:lstStyle/>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cap.set(cv2.CAP_PROP_FOURCC, YUY2)   # 1920x1080</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h = blake2b(frame.tobytes()).digest()</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two reads of one output frame are bit-identical</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two different frames differ by sensor noise alone</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(~1.35 LSB/px over 2.07 M px) - no threshold,</a:t>
            </a:r>
            <a:endParaRPr lang="en-US" sz="1000" dirty="0"/>
          </a:p>
          <a:p>
            <a:pPr indent="0" marL="0">
              <a:lnSpc>
                <a:spcPct val="106000"/>
              </a:lnSpc>
              <a:buNone/>
            </a:pPr>
            <a:r>
              <a:rPr lang="en-US" sz="1000" dirty="0">
                <a:solidFill>
                  <a:srgbClr val="D8E4F5"/>
                </a:solidFill>
                <a:latin typeface="Consolas" pitchFamily="34" charset="0"/>
                <a:ea typeface="Consolas" pitchFamily="34" charset="-122"/>
                <a:cs typeface="Consolas" pitchFamily="34" charset="-120"/>
              </a:rPr>
              <a:t>#  no moving target needed</a:t>
            </a:r>
            <a:endParaRPr lang="en-US" sz="1000" dirty="0"/>
          </a:p>
        </p:txBody>
      </p:sp>
      <p:sp>
        <p:nvSpPr>
          <p:cNvPr id="7" name="Text 5"/>
          <p:cNvSpPr/>
          <p:nvPr/>
        </p:nvSpPr>
        <p:spPr>
          <a:xfrm>
            <a:off x="548640" y="3255264"/>
            <a:ext cx="5486400" cy="219456"/>
          </a:xfrm>
          <a:prstGeom prst="rect">
            <a:avLst/>
          </a:prstGeom>
          <a:noFill/>
          <a:ln/>
        </p:spPr>
        <p:txBody>
          <a:bodyPr wrap="square" lIns="0" tIns="0" rIns="0" bIns="0" rtlCol="0" anchor="ctr"/>
          <a:lstStyle/>
          <a:p>
            <a:pPr indent="0" marL="0">
              <a:buNone/>
            </a:pPr>
            <a:r>
              <a:rPr lang="en-US" sz="950" dirty="0">
                <a:solidFill>
                  <a:srgbClr val="6B7C97"/>
                </a:solidFill>
                <a:latin typeface="Consolas" pitchFamily="34" charset="0"/>
                <a:ea typeface="Consolas" pitchFamily="34" charset="-122"/>
                <a:cs typeface="Consolas" pitchFamily="34" charset="-120"/>
              </a:rPr>
              <a:t>scripts/measure_output_rate.py</a:t>
            </a:r>
            <a:endParaRPr lang="en-US" sz="950" dirty="0"/>
          </a:p>
        </p:txBody>
      </p:sp>
      <p:sp>
        <p:nvSpPr>
          <p:cNvPr id="8" name="Text 6"/>
          <p:cNvSpPr/>
          <p:nvPr/>
        </p:nvSpPr>
        <p:spPr>
          <a:xfrm>
            <a:off x="6355080" y="1627632"/>
            <a:ext cx="2606040" cy="274320"/>
          </a:xfrm>
          <a:prstGeom prst="rect">
            <a:avLst/>
          </a:prstGeom>
          <a:noFill/>
          <a:ln/>
        </p:spPr>
        <p:txBody>
          <a:bodyPr wrap="square" lIns="0" tIns="0" rIns="0" bIns="0" rtlCol="0" anchor="ctr"/>
          <a:lstStyle/>
          <a:p>
            <a:pPr indent="0" marL="0">
              <a:buNone/>
            </a:pPr>
            <a:r>
              <a:rPr lang="en-US" sz="1200" b="1" dirty="0">
                <a:solidFill>
                  <a:srgbClr val="0E1C36"/>
                </a:solidFill>
                <a:latin typeface="Calibri" pitchFamily="34" charset="0"/>
                <a:ea typeface="Calibri" pitchFamily="34" charset="-122"/>
                <a:cs typeface="Calibri" pitchFamily="34" charset="-120"/>
              </a:rPr>
              <a:t>EO panorama — two banks</a:t>
            </a:r>
            <a:endParaRPr lang="en-US" sz="1200" dirty="0"/>
          </a:p>
        </p:txBody>
      </p:sp>
      <p:sp>
        <p:nvSpPr>
          <p:cNvPr id="9" name="Text 7"/>
          <p:cNvSpPr/>
          <p:nvPr/>
        </p:nvSpPr>
        <p:spPr>
          <a:xfrm>
            <a:off x="6355080" y="1993392"/>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33 ms</a:t>
            </a:r>
            <a:endParaRPr lang="en-US" sz="950" dirty="0"/>
          </a:p>
        </p:txBody>
      </p:sp>
      <p:sp>
        <p:nvSpPr>
          <p:cNvPr id="10" name="Shape 8"/>
          <p:cNvSpPr/>
          <p:nvPr/>
        </p:nvSpPr>
        <p:spPr>
          <a:xfrm>
            <a:off x="7498080" y="2020824"/>
            <a:ext cx="868680" cy="151790"/>
          </a:xfrm>
          <a:prstGeom prst="rect">
            <a:avLst/>
          </a:prstGeom>
          <a:solidFill>
            <a:srgbClr val="1C7293"/>
          </a:solidFill>
          <a:ln w="12700">
            <a:solidFill>
              <a:srgbClr val="1C7293"/>
            </a:solidFill>
            <a:prstDash val="solid"/>
          </a:ln>
        </p:spPr>
      </p:sp>
      <p:sp>
        <p:nvSpPr>
          <p:cNvPr id="11" name="Text 9"/>
          <p:cNvSpPr/>
          <p:nvPr/>
        </p:nvSpPr>
        <p:spPr>
          <a:xfrm>
            <a:off x="8412480" y="1993392"/>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188</a:t>
            </a:r>
            <a:endParaRPr lang="en-US" sz="900" dirty="0"/>
          </a:p>
        </p:txBody>
      </p:sp>
      <p:sp>
        <p:nvSpPr>
          <p:cNvPr id="12" name="Text 10"/>
          <p:cNvSpPr/>
          <p:nvPr/>
        </p:nvSpPr>
        <p:spPr>
          <a:xfrm>
            <a:off x="6355080" y="2273198"/>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67 ms</a:t>
            </a:r>
            <a:endParaRPr lang="en-US" sz="950" dirty="0"/>
          </a:p>
        </p:txBody>
      </p:sp>
      <p:sp>
        <p:nvSpPr>
          <p:cNvPr id="13" name="Shape 11"/>
          <p:cNvSpPr/>
          <p:nvPr/>
        </p:nvSpPr>
        <p:spPr>
          <a:xfrm>
            <a:off x="7498080" y="2300630"/>
            <a:ext cx="254135" cy="151790"/>
          </a:xfrm>
          <a:prstGeom prst="rect">
            <a:avLst/>
          </a:prstGeom>
          <a:solidFill>
            <a:srgbClr val="B4443A"/>
          </a:solidFill>
          <a:ln w="12700">
            <a:solidFill>
              <a:srgbClr val="B4443A"/>
            </a:solidFill>
            <a:prstDash val="solid"/>
          </a:ln>
        </p:spPr>
      </p:sp>
      <p:sp>
        <p:nvSpPr>
          <p:cNvPr id="14" name="Text 12"/>
          <p:cNvSpPr/>
          <p:nvPr/>
        </p:nvSpPr>
        <p:spPr>
          <a:xfrm>
            <a:off x="7797935" y="2273198"/>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55</a:t>
            </a:r>
            <a:endParaRPr lang="en-US" sz="900" dirty="0"/>
          </a:p>
        </p:txBody>
      </p:sp>
      <p:sp>
        <p:nvSpPr>
          <p:cNvPr id="15" name="Text 13"/>
          <p:cNvSpPr/>
          <p:nvPr/>
        </p:nvSpPr>
        <p:spPr>
          <a:xfrm>
            <a:off x="6355080" y="2553005"/>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100 ms</a:t>
            </a:r>
            <a:endParaRPr lang="en-US" sz="950" dirty="0"/>
          </a:p>
        </p:txBody>
      </p:sp>
      <p:sp>
        <p:nvSpPr>
          <p:cNvPr id="16" name="Shape 14"/>
          <p:cNvSpPr/>
          <p:nvPr/>
        </p:nvSpPr>
        <p:spPr>
          <a:xfrm>
            <a:off x="7498080" y="2580437"/>
            <a:ext cx="170964" cy="151790"/>
          </a:xfrm>
          <a:prstGeom prst="rect">
            <a:avLst/>
          </a:prstGeom>
          <a:solidFill>
            <a:srgbClr val="B4443A"/>
          </a:solidFill>
          <a:ln w="12700">
            <a:solidFill>
              <a:srgbClr val="B4443A"/>
            </a:solidFill>
            <a:prstDash val="solid"/>
          </a:ln>
        </p:spPr>
      </p:sp>
      <p:sp>
        <p:nvSpPr>
          <p:cNvPr id="17" name="Text 15"/>
          <p:cNvSpPr/>
          <p:nvPr/>
        </p:nvSpPr>
        <p:spPr>
          <a:xfrm>
            <a:off x="7714764" y="2553005"/>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37</a:t>
            </a:r>
            <a:endParaRPr lang="en-US" sz="900" dirty="0"/>
          </a:p>
        </p:txBody>
      </p:sp>
      <p:sp>
        <p:nvSpPr>
          <p:cNvPr id="18" name="Text 16"/>
          <p:cNvSpPr/>
          <p:nvPr/>
        </p:nvSpPr>
        <p:spPr>
          <a:xfrm>
            <a:off x="6355080" y="2832811"/>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133 ms</a:t>
            </a:r>
            <a:endParaRPr lang="en-US" sz="950" dirty="0"/>
          </a:p>
        </p:txBody>
      </p:sp>
      <p:sp>
        <p:nvSpPr>
          <p:cNvPr id="19" name="Shape 17"/>
          <p:cNvSpPr/>
          <p:nvPr/>
        </p:nvSpPr>
        <p:spPr>
          <a:xfrm>
            <a:off x="7498080" y="2860243"/>
            <a:ext cx="32344" cy="151790"/>
          </a:xfrm>
          <a:prstGeom prst="rect">
            <a:avLst/>
          </a:prstGeom>
          <a:solidFill>
            <a:srgbClr val="B4443A"/>
          </a:solidFill>
          <a:ln w="12700">
            <a:solidFill>
              <a:srgbClr val="B4443A"/>
            </a:solidFill>
            <a:prstDash val="solid"/>
          </a:ln>
        </p:spPr>
      </p:sp>
      <p:sp>
        <p:nvSpPr>
          <p:cNvPr id="20" name="Text 18"/>
          <p:cNvSpPr/>
          <p:nvPr/>
        </p:nvSpPr>
        <p:spPr>
          <a:xfrm>
            <a:off x="7576144" y="2832811"/>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7</a:t>
            </a:r>
            <a:endParaRPr lang="en-US" sz="900" dirty="0"/>
          </a:p>
        </p:txBody>
      </p:sp>
      <p:sp>
        <p:nvSpPr>
          <p:cNvPr id="21" name="Text 19"/>
          <p:cNvSpPr/>
          <p:nvPr/>
        </p:nvSpPr>
        <p:spPr>
          <a:xfrm>
            <a:off x="6355080" y="3112618"/>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200 ms</a:t>
            </a:r>
            <a:endParaRPr lang="en-US" sz="950" dirty="0"/>
          </a:p>
        </p:txBody>
      </p:sp>
      <p:sp>
        <p:nvSpPr>
          <p:cNvPr id="22" name="Shape 20"/>
          <p:cNvSpPr/>
          <p:nvPr/>
        </p:nvSpPr>
        <p:spPr>
          <a:xfrm>
            <a:off x="7498080" y="3140050"/>
            <a:ext cx="27432" cy="151790"/>
          </a:xfrm>
          <a:prstGeom prst="rect">
            <a:avLst/>
          </a:prstGeom>
          <a:solidFill>
            <a:srgbClr val="B4443A"/>
          </a:solidFill>
          <a:ln w="12700">
            <a:solidFill>
              <a:srgbClr val="B4443A"/>
            </a:solidFill>
            <a:prstDash val="solid"/>
          </a:ln>
        </p:spPr>
      </p:sp>
      <p:sp>
        <p:nvSpPr>
          <p:cNvPr id="23" name="Text 21"/>
          <p:cNvSpPr/>
          <p:nvPr/>
        </p:nvSpPr>
        <p:spPr>
          <a:xfrm>
            <a:off x="7571232" y="3112618"/>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1</a:t>
            </a:r>
            <a:endParaRPr lang="en-US" sz="900" dirty="0"/>
          </a:p>
        </p:txBody>
      </p:sp>
      <p:sp>
        <p:nvSpPr>
          <p:cNvPr id="24" name="Text 22"/>
          <p:cNvSpPr/>
          <p:nvPr/>
        </p:nvSpPr>
        <p:spPr>
          <a:xfrm>
            <a:off x="9144000" y="1627632"/>
            <a:ext cx="2606040" cy="274320"/>
          </a:xfrm>
          <a:prstGeom prst="rect">
            <a:avLst/>
          </a:prstGeom>
          <a:noFill/>
          <a:ln/>
        </p:spPr>
        <p:txBody>
          <a:bodyPr wrap="square" lIns="0" tIns="0" rIns="0" bIns="0" rtlCol="0" anchor="ctr"/>
          <a:lstStyle/>
          <a:p>
            <a:pPr indent="0" marL="0">
              <a:buNone/>
            </a:pPr>
            <a:r>
              <a:rPr lang="en-US" sz="1200" b="1" dirty="0">
                <a:solidFill>
                  <a:srgbClr val="0E1C36"/>
                </a:solidFill>
                <a:latin typeface="Calibri" pitchFamily="34" charset="0"/>
                <a:ea typeface="Calibri" pitchFamily="34" charset="-122"/>
                <a:cs typeface="Calibri" pitchFamily="34" charset="-120"/>
              </a:rPr>
              <a:t>EO panorama — three banks</a:t>
            </a:r>
            <a:endParaRPr lang="en-US" sz="1200" dirty="0"/>
          </a:p>
        </p:txBody>
      </p:sp>
      <p:sp>
        <p:nvSpPr>
          <p:cNvPr id="25" name="Text 23"/>
          <p:cNvSpPr/>
          <p:nvPr/>
        </p:nvSpPr>
        <p:spPr>
          <a:xfrm>
            <a:off x="9144000" y="1993392"/>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33 ms</a:t>
            </a:r>
            <a:endParaRPr lang="en-US" sz="950" dirty="0"/>
          </a:p>
        </p:txBody>
      </p:sp>
      <p:sp>
        <p:nvSpPr>
          <p:cNvPr id="26" name="Shape 24"/>
          <p:cNvSpPr/>
          <p:nvPr/>
        </p:nvSpPr>
        <p:spPr>
          <a:xfrm>
            <a:off x="10287000" y="2020824"/>
            <a:ext cx="868680" cy="151790"/>
          </a:xfrm>
          <a:prstGeom prst="rect">
            <a:avLst/>
          </a:prstGeom>
          <a:solidFill>
            <a:srgbClr val="02A37A"/>
          </a:solidFill>
          <a:ln w="12700">
            <a:solidFill>
              <a:srgbClr val="02A37A"/>
            </a:solidFill>
            <a:prstDash val="solid"/>
          </a:ln>
        </p:spPr>
      </p:sp>
      <p:sp>
        <p:nvSpPr>
          <p:cNvPr id="27" name="Text 25"/>
          <p:cNvSpPr/>
          <p:nvPr/>
        </p:nvSpPr>
        <p:spPr>
          <a:xfrm>
            <a:off x="11201400" y="1993392"/>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274</a:t>
            </a:r>
            <a:endParaRPr lang="en-US" sz="900" dirty="0"/>
          </a:p>
        </p:txBody>
      </p:sp>
      <p:sp>
        <p:nvSpPr>
          <p:cNvPr id="28" name="Text 26"/>
          <p:cNvSpPr/>
          <p:nvPr/>
        </p:nvSpPr>
        <p:spPr>
          <a:xfrm>
            <a:off x="9144000" y="2273198"/>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67 ms</a:t>
            </a:r>
            <a:endParaRPr lang="en-US" sz="950" dirty="0"/>
          </a:p>
        </p:txBody>
      </p:sp>
      <p:sp>
        <p:nvSpPr>
          <p:cNvPr id="29" name="Shape 27"/>
          <p:cNvSpPr/>
          <p:nvPr/>
        </p:nvSpPr>
        <p:spPr>
          <a:xfrm>
            <a:off x="10287000" y="2300630"/>
            <a:ext cx="174370" cy="151790"/>
          </a:xfrm>
          <a:prstGeom prst="rect">
            <a:avLst/>
          </a:prstGeom>
          <a:solidFill>
            <a:srgbClr val="B4443A"/>
          </a:solidFill>
          <a:ln w="12700">
            <a:solidFill>
              <a:srgbClr val="B4443A"/>
            </a:solidFill>
            <a:prstDash val="solid"/>
          </a:ln>
        </p:spPr>
      </p:sp>
      <p:sp>
        <p:nvSpPr>
          <p:cNvPr id="30" name="Text 28"/>
          <p:cNvSpPr/>
          <p:nvPr/>
        </p:nvSpPr>
        <p:spPr>
          <a:xfrm>
            <a:off x="10507090" y="2273198"/>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55</a:t>
            </a:r>
            <a:endParaRPr lang="en-US" sz="900" dirty="0"/>
          </a:p>
        </p:txBody>
      </p:sp>
      <p:sp>
        <p:nvSpPr>
          <p:cNvPr id="31" name="Text 29"/>
          <p:cNvSpPr/>
          <p:nvPr/>
        </p:nvSpPr>
        <p:spPr>
          <a:xfrm>
            <a:off x="9144000" y="2553005"/>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100 ms</a:t>
            </a:r>
            <a:endParaRPr lang="en-US" sz="950" dirty="0"/>
          </a:p>
        </p:txBody>
      </p:sp>
      <p:sp>
        <p:nvSpPr>
          <p:cNvPr id="32" name="Shape 30"/>
          <p:cNvSpPr/>
          <p:nvPr/>
        </p:nvSpPr>
        <p:spPr>
          <a:xfrm>
            <a:off x="10287000" y="2580437"/>
            <a:ext cx="69748" cy="151790"/>
          </a:xfrm>
          <a:prstGeom prst="rect">
            <a:avLst/>
          </a:prstGeom>
          <a:solidFill>
            <a:srgbClr val="B4443A"/>
          </a:solidFill>
          <a:ln w="12700">
            <a:solidFill>
              <a:srgbClr val="B4443A"/>
            </a:solidFill>
            <a:prstDash val="solid"/>
          </a:ln>
        </p:spPr>
      </p:sp>
      <p:sp>
        <p:nvSpPr>
          <p:cNvPr id="33" name="Text 31"/>
          <p:cNvSpPr/>
          <p:nvPr/>
        </p:nvSpPr>
        <p:spPr>
          <a:xfrm>
            <a:off x="10402468" y="2553005"/>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22</a:t>
            </a:r>
            <a:endParaRPr lang="en-US" sz="900" dirty="0"/>
          </a:p>
        </p:txBody>
      </p:sp>
      <p:sp>
        <p:nvSpPr>
          <p:cNvPr id="34" name="Text 32"/>
          <p:cNvSpPr/>
          <p:nvPr/>
        </p:nvSpPr>
        <p:spPr>
          <a:xfrm>
            <a:off x="9144000" y="2832811"/>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133 ms</a:t>
            </a:r>
            <a:endParaRPr lang="en-US" sz="950" dirty="0"/>
          </a:p>
        </p:txBody>
      </p:sp>
      <p:sp>
        <p:nvSpPr>
          <p:cNvPr id="35" name="Shape 33"/>
          <p:cNvSpPr/>
          <p:nvPr/>
        </p:nvSpPr>
        <p:spPr>
          <a:xfrm>
            <a:off x="10287000" y="2860243"/>
            <a:ext cx="27432" cy="151790"/>
          </a:xfrm>
          <a:prstGeom prst="rect">
            <a:avLst/>
          </a:prstGeom>
          <a:solidFill>
            <a:srgbClr val="02A37A"/>
          </a:solidFill>
          <a:ln w="12700">
            <a:solidFill>
              <a:srgbClr val="02A37A"/>
            </a:solidFill>
            <a:prstDash val="solid"/>
          </a:ln>
        </p:spPr>
      </p:sp>
      <p:sp>
        <p:nvSpPr>
          <p:cNvPr id="36" name="Text 34"/>
          <p:cNvSpPr/>
          <p:nvPr/>
        </p:nvSpPr>
        <p:spPr>
          <a:xfrm>
            <a:off x="10360152" y="2832811"/>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0</a:t>
            </a:r>
            <a:endParaRPr lang="en-US" sz="900" dirty="0"/>
          </a:p>
        </p:txBody>
      </p:sp>
      <p:sp>
        <p:nvSpPr>
          <p:cNvPr id="37" name="Text 35"/>
          <p:cNvSpPr/>
          <p:nvPr/>
        </p:nvSpPr>
        <p:spPr>
          <a:xfrm>
            <a:off x="9144000" y="3112618"/>
            <a:ext cx="1051560" cy="224942"/>
          </a:xfrm>
          <a:prstGeom prst="rect">
            <a:avLst/>
          </a:prstGeom>
          <a:noFill/>
          <a:ln/>
        </p:spPr>
        <p:txBody>
          <a:bodyPr wrap="square" lIns="0" tIns="0" rIns="0" bIns="0" rtlCol="0" anchor="ctr"/>
          <a:lstStyle/>
          <a:p>
            <a:pPr algn="r" indent="0" marL="0">
              <a:buNone/>
            </a:pPr>
            <a:r>
              <a:rPr lang="en-US" sz="950" dirty="0">
                <a:solidFill>
                  <a:srgbClr val="27374F"/>
                </a:solidFill>
                <a:latin typeface="Calibri" pitchFamily="34" charset="0"/>
                <a:ea typeface="Calibri" pitchFamily="34" charset="-122"/>
                <a:cs typeface="Calibri" pitchFamily="34" charset="-120"/>
              </a:rPr>
              <a:t>200 ms</a:t>
            </a:r>
            <a:endParaRPr lang="en-US" sz="950" dirty="0"/>
          </a:p>
        </p:txBody>
      </p:sp>
      <p:sp>
        <p:nvSpPr>
          <p:cNvPr id="38" name="Shape 36"/>
          <p:cNvSpPr/>
          <p:nvPr/>
        </p:nvSpPr>
        <p:spPr>
          <a:xfrm>
            <a:off x="10287000" y="3140050"/>
            <a:ext cx="27432" cy="151790"/>
          </a:xfrm>
          <a:prstGeom prst="rect">
            <a:avLst/>
          </a:prstGeom>
          <a:solidFill>
            <a:srgbClr val="02A37A"/>
          </a:solidFill>
          <a:ln w="12700">
            <a:solidFill>
              <a:srgbClr val="02A37A"/>
            </a:solidFill>
            <a:prstDash val="solid"/>
          </a:ln>
        </p:spPr>
      </p:sp>
      <p:sp>
        <p:nvSpPr>
          <p:cNvPr id="39" name="Text 37"/>
          <p:cNvSpPr/>
          <p:nvPr/>
        </p:nvSpPr>
        <p:spPr>
          <a:xfrm>
            <a:off x="10360152" y="3112618"/>
            <a:ext cx="548640" cy="224942"/>
          </a:xfrm>
          <a:prstGeom prst="rect">
            <a:avLst/>
          </a:prstGeom>
          <a:noFill/>
          <a:ln/>
        </p:spPr>
        <p:txBody>
          <a:bodyPr wrap="square" lIns="0" tIns="0" rIns="0" bIns="0" rtlCol="0" anchor="ctr"/>
          <a:lstStyle/>
          <a:p>
            <a:pPr indent="0" marL="0">
              <a:buNone/>
            </a:pPr>
            <a:r>
              <a:rPr lang="en-US" sz="900" dirty="0">
                <a:solidFill>
                  <a:srgbClr val="6B7C97"/>
                </a:solidFill>
                <a:latin typeface="Calibri" pitchFamily="34" charset="0"/>
                <a:ea typeface="Calibri" pitchFamily="34" charset="-122"/>
                <a:cs typeface="Calibri" pitchFamily="34" charset="-120"/>
              </a:rPr>
              <a:t>0</a:t>
            </a:r>
            <a:endParaRPr lang="en-US" sz="900" dirty="0"/>
          </a:p>
        </p:txBody>
      </p:sp>
      <p:sp>
        <p:nvSpPr>
          <p:cNvPr id="40" name="Text 38"/>
          <p:cNvSpPr/>
          <p:nvPr/>
        </p:nvSpPr>
        <p:spPr>
          <a:xfrm>
            <a:off x="6355080" y="3456432"/>
            <a:ext cx="5394960" cy="365760"/>
          </a:xfrm>
          <a:prstGeom prst="rect">
            <a:avLst/>
          </a:prstGeom>
          <a:noFill/>
          <a:ln/>
        </p:spPr>
        <p:txBody>
          <a:bodyPr wrap="square" lIns="0" tIns="0" rIns="0" bIns="0" rtlCol="0" anchor="ctr"/>
          <a:lstStyle/>
          <a:p>
            <a:pPr indent="0" marL="0">
              <a:buNone/>
            </a:pPr>
            <a:r>
              <a:rPr lang="en-US" sz="1000" i="1" dirty="0">
                <a:solidFill>
                  <a:srgbClr val="6B7C97"/>
                </a:solidFill>
                <a:latin typeface="Calibri" pitchFamily="34" charset="0"/>
                <a:ea typeface="Calibri" pitchFamily="34" charset="-122"/>
                <a:cs typeface="Calibri" pitchFamily="34" charset="-120"/>
              </a:rPr>
              <a:t>How long each frame stayed on screen. The long stalls disappear; most frames move to the full 33 ms cadence.</a:t>
            </a:r>
            <a:endParaRPr lang="en-US" sz="1000" dirty="0"/>
          </a:p>
        </p:txBody>
      </p:sp>
      <p:sp>
        <p:nvSpPr>
          <p:cNvPr id="41" name="Text 39"/>
          <p:cNvSpPr/>
          <p:nvPr/>
        </p:nvSpPr>
        <p:spPr>
          <a:xfrm>
            <a:off x="548640" y="3931920"/>
            <a:ext cx="11109960" cy="274320"/>
          </a:xfrm>
          <a:prstGeom prst="rect">
            <a:avLst/>
          </a:prstGeom>
          <a:noFill/>
          <a:ln/>
        </p:spPr>
        <p:txBody>
          <a:bodyPr wrap="square" lIns="0" tIns="0" rIns="0" bIns="0" rtlCol="0" anchor="ctr"/>
          <a:lstStyle/>
          <a:p>
            <a:pPr indent="0" marL="0">
              <a:buNone/>
            </a:pPr>
            <a:r>
              <a:rPr lang="en-US" sz="1400" b="1" dirty="0">
                <a:solidFill>
                  <a:srgbClr val="0E1C36"/>
                </a:solidFill>
                <a:latin typeface="Calibri" pitchFamily="34" charset="0"/>
                <a:ea typeface="Calibri" pitchFamily="34" charset="-122"/>
                <a:cs typeface="Calibri" pitchFamily="34" charset="-120"/>
              </a:rPr>
              <a:t>What the third output bank changed</a:t>
            </a:r>
            <a:endParaRPr lang="en-US" sz="1400" dirty="0"/>
          </a:p>
        </p:txBody>
      </p:sp>
      <p:sp>
        <p:nvSpPr>
          <p:cNvPr id="42" name="Text 40"/>
          <p:cNvSpPr/>
          <p:nvPr/>
        </p:nvSpPr>
        <p:spPr>
          <a:xfrm>
            <a:off x="548640" y="4224528"/>
            <a:ext cx="4206240" cy="310896"/>
          </a:xfrm>
          <a:prstGeom prst="rect">
            <a:avLst/>
          </a:prstGeom>
          <a:noFill/>
          <a:ln/>
        </p:spPr>
        <p:txBody>
          <a:bodyPr wrap="square" lIns="0" tIns="0" rIns="0" bIns="0" rtlCol="0" anchor="ctr"/>
          <a:lstStyle/>
          <a:p>
            <a:pPr algn="l" indent="0" marL="0">
              <a:buNone/>
            </a:pPr>
            <a:endParaRPr lang="en-US" sz="1050" dirty="0"/>
          </a:p>
        </p:txBody>
      </p:sp>
      <p:sp>
        <p:nvSpPr>
          <p:cNvPr id="43" name="Text 41"/>
          <p:cNvSpPr/>
          <p:nvPr/>
        </p:nvSpPr>
        <p:spPr>
          <a:xfrm>
            <a:off x="4754880" y="4224528"/>
            <a:ext cx="228600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Two banks</a:t>
            </a:r>
            <a:endParaRPr lang="en-US" sz="1050" dirty="0"/>
          </a:p>
        </p:txBody>
      </p:sp>
      <p:sp>
        <p:nvSpPr>
          <p:cNvPr id="44" name="Text 42"/>
          <p:cNvSpPr/>
          <p:nvPr/>
        </p:nvSpPr>
        <p:spPr>
          <a:xfrm>
            <a:off x="7040880" y="4224528"/>
            <a:ext cx="228600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Three banks</a:t>
            </a:r>
            <a:endParaRPr lang="en-US" sz="1050" dirty="0"/>
          </a:p>
        </p:txBody>
      </p:sp>
      <p:sp>
        <p:nvSpPr>
          <p:cNvPr id="45" name="Text 43"/>
          <p:cNvSpPr/>
          <p:nvPr/>
        </p:nvSpPr>
        <p:spPr>
          <a:xfrm>
            <a:off x="9326880" y="4224528"/>
            <a:ext cx="2331720" cy="310896"/>
          </a:xfrm>
          <a:prstGeom prst="rect">
            <a:avLst/>
          </a:prstGeom>
          <a:noFill/>
          <a:ln/>
        </p:spPr>
        <p:txBody>
          <a:bodyPr wrap="square" lIns="0" tIns="0" rIns="0" bIns="0" rtlCol="0" anchor="ctr"/>
          <a:lstStyle/>
          <a:p>
            <a:pPr algn="ctr" indent="0" marL="0">
              <a:buNone/>
            </a:pPr>
            <a:r>
              <a:rPr lang="en-US" sz="1050" b="1" dirty="0">
                <a:solidFill>
                  <a:srgbClr val="6B7C97"/>
                </a:solidFill>
                <a:latin typeface="Calibri" pitchFamily="34" charset="0"/>
                <a:ea typeface="Calibri" pitchFamily="34" charset="-122"/>
                <a:cs typeface="Calibri" pitchFamily="34" charset="-120"/>
              </a:rPr>
              <a:t>Change</a:t>
            </a:r>
            <a:endParaRPr lang="en-US" sz="1050" dirty="0"/>
          </a:p>
        </p:txBody>
      </p:sp>
      <p:sp>
        <p:nvSpPr>
          <p:cNvPr id="46" name="Shape 44"/>
          <p:cNvSpPr/>
          <p:nvPr/>
        </p:nvSpPr>
        <p:spPr>
          <a:xfrm>
            <a:off x="548640" y="4553712"/>
            <a:ext cx="11109960" cy="0"/>
          </a:xfrm>
          <a:prstGeom prst="line">
            <a:avLst/>
          </a:prstGeom>
          <a:noFill/>
          <a:ln w="12700">
            <a:solidFill>
              <a:srgbClr val="D3DCEA"/>
            </a:solidFill>
            <a:prstDash val="solid"/>
          </a:ln>
        </p:spPr>
      </p:sp>
      <p:sp>
        <p:nvSpPr>
          <p:cNvPr id="47" name="Text 45"/>
          <p:cNvSpPr/>
          <p:nvPr/>
        </p:nvSpPr>
        <p:spPr>
          <a:xfrm>
            <a:off x="548640" y="4626864"/>
            <a:ext cx="4206240" cy="310896"/>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panorama (main branch)</a:t>
            </a:r>
            <a:endParaRPr lang="en-US" sz="1050" dirty="0"/>
          </a:p>
        </p:txBody>
      </p:sp>
      <p:sp>
        <p:nvSpPr>
          <p:cNvPr id="48" name="Text 46"/>
          <p:cNvSpPr/>
          <p:nvPr/>
        </p:nvSpPr>
        <p:spPr>
          <a:xfrm>
            <a:off x="4754880" y="4626864"/>
            <a:ext cx="2286000" cy="310896"/>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17.7 fps</a:t>
            </a:r>
            <a:endParaRPr lang="en-US" sz="1050" dirty="0"/>
          </a:p>
        </p:txBody>
      </p:sp>
      <p:sp>
        <p:nvSpPr>
          <p:cNvPr id="49" name="Text 47"/>
          <p:cNvSpPr/>
          <p:nvPr/>
        </p:nvSpPr>
        <p:spPr>
          <a:xfrm>
            <a:off x="7040880" y="4626864"/>
            <a:ext cx="2286000" cy="310896"/>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22.3 fps</a:t>
            </a:r>
            <a:endParaRPr lang="en-US" sz="1050" dirty="0"/>
          </a:p>
        </p:txBody>
      </p:sp>
      <p:sp>
        <p:nvSpPr>
          <p:cNvPr id="50" name="Text 48"/>
          <p:cNvSpPr/>
          <p:nvPr/>
        </p:nvSpPr>
        <p:spPr>
          <a:xfrm>
            <a:off x="9326880" y="4626864"/>
            <a:ext cx="2331720" cy="310896"/>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+26%</a:t>
            </a:r>
            <a:endParaRPr lang="en-US" sz="1050" dirty="0"/>
          </a:p>
        </p:txBody>
      </p:sp>
      <p:sp>
        <p:nvSpPr>
          <p:cNvPr id="51" name="Shape 49"/>
          <p:cNvSpPr/>
          <p:nvPr/>
        </p:nvSpPr>
        <p:spPr>
          <a:xfrm>
            <a:off x="475488" y="4946904"/>
            <a:ext cx="11256264" cy="329184"/>
          </a:xfrm>
          <a:prstGeom prst="rect">
            <a:avLst/>
          </a:prstGeom>
          <a:solidFill>
            <a:srgbClr val="F2F5FA"/>
          </a:solidFill>
          <a:ln w="12700">
            <a:solidFill>
              <a:srgbClr val="333333"/>
            </a:solidFill>
            <a:prstDash val="solid"/>
          </a:ln>
        </p:spPr>
      </p:sp>
      <p:sp>
        <p:nvSpPr>
          <p:cNvPr id="52" name="Text 50"/>
          <p:cNvSpPr/>
          <p:nvPr/>
        </p:nvSpPr>
        <p:spPr>
          <a:xfrm>
            <a:off x="548640" y="4974336"/>
            <a:ext cx="4206240" cy="310896"/>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panorama (IR-DDR branch)</a:t>
            </a:r>
            <a:endParaRPr lang="en-US" sz="1050" dirty="0"/>
          </a:p>
        </p:txBody>
      </p:sp>
      <p:sp>
        <p:nvSpPr>
          <p:cNvPr id="53" name="Text 51"/>
          <p:cNvSpPr/>
          <p:nvPr/>
        </p:nvSpPr>
        <p:spPr>
          <a:xfrm>
            <a:off x="4754880" y="4974336"/>
            <a:ext cx="2286000" cy="310896"/>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19.7 fps</a:t>
            </a:r>
            <a:endParaRPr lang="en-US" sz="1050" dirty="0"/>
          </a:p>
        </p:txBody>
      </p:sp>
      <p:sp>
        <p:nvSpPr>
          <p:cNvPr id="54" name="Text 52"/>
          <p:cNvSpPr/>
          <p:nvPr/>
        </p:nvSpPr>
        <p:spPr>
          <a:xfrm>
            <a:off x="7040880" y="4974336"/>
            <a:ext cx="2286000" cy="310896"/>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22.9 fps</a:t>
            </a:r>
            <a:endParaRPr lang="en-US" sz="1050" dirty="0"/>
          </a:p>
        </p:txBody>
      </p:sp>
      <p:sp>
        <p:nvSpPr>
          <p:cNvPr id="55" name="Text 53"/>
          <p:cNvSpPr/>
          <p:nvPr/>
        </p:nvSpPr>
        <p:spPr>
          <a:xfrm>
            <a:off x="9326880" y="4974336"/>
            <a:ext cx="2331720" cy="310896"/>
          </a:xfrm>
          <a:prstGeom prst="rect">
            <a:avLst/>
          </a:prstGeom>
          <a:noFill/>
          <a:ln/>
        </p:spPr>
        <p:txBody>
          <a:bodyPr wrap="square" lIns="0" tIns="0" rIns="0" bIns="0" rtlCol="0" anchor="ctr"/>
          <a:lstStyle/>
          <a:p>
            <a:pPr algn="ctr" indent="0" marL="0">
              <a:buNone/>
            </a:pPr>
            <a:r>
              <a:rPr lang="en-US" sz="1050" b="1" dirty="0">
                <a:solidFill>
                  <a:srgbClr val="02A37A"/>
                </a:solidFill>
                <a:latin typeface="Calibri" pitchFamily="34" charset="0"/>
                <a:ea typeface="Calibri" pitchFamily="34" charset="-122"/>
                <a:cs typeface="Calibri" pitchFamily="34" charset="-120"/>
              </a:rPr>
              <a:t>+16%</a:t>
            </a:r>
            <a:endParaRPr lang="en-US" sz="1050" dirty="0"/>
          </a:p>
        </p:txBody>
      </p:sp>
      <p:sp>
        <p:nvSpPr>
          <p:cNvPr id="56" name="Text 54"/>
          <p:cNvSpPr/>
          <p:nvPr/>
        </p:nvSpPr>
        <p:spPr>
          <a:xfrm>
            <a:off x="548640" y="5321808"/>
            <a:ext cx="4206240" cy="310896"/>
          </a:xfrm>
          <a:prstGeom prst="rect">
            <a:avLst/>
          </a:prstGeom>
          <a:noFill/>
          <a:ln/>
        </p:spPr>
        <p:txBody>
          <a:bodyPr wrap="square" lIns="0" tIns="0" rIns="0" bIns="0" rtlCol="0" anchor="ctr"/>
          <a:lstStyle/>
          <a:p>
            <a:pPr algn="l" indent="0" marL="0">
              <a:buNone/>
            </a:pPr>
            <a:r>
              <a:rPr lang="en-US" sz="1050" dirty="0">
                <a:solidFill>
                  <a:srgbClr val="27374F"/>
                </a:solidFill>
                <a:latin typeface="Calibri" pitchFamily="34" charset="0"/>
                <a:ea typeface="Calibri" pitchFamily="34" charset="-122"/>
                <a:cs typeface="Calibri" pitchFamily="34" charset="-120"/>
              </a:rPr>
              <a:t>EO single, IR single, IR panorama</a:t>
            </a:r>
            <a:endParaRPr lang="en-US" sz="1050" dirty="0"/>
          </a:p>
        </p:txBody>
      </p:sp>
      <p:sp>
        <p:nvSpPr>
          <p:cNvPr id="57" name="Text 55"/>
          <p:cNvSpPr/>
          <p:nvPr/>
        </p:nvSpPr>
        <p:spPr>
          <a:xfrm>
            <a:off x="4754880" y="5321808"/>
            <a:ext cx="2286000" cy="310896"/>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 fps</a:t>
            </a:r>
            <a:endParaRPr lang="en-US" sz="1050" dirty="0"/>
          </a:p>
        </p:txBody>
      </p:sp>
      <p:sp>
        <p:nvSpPr>
          <p:cNvPr id="58" name="Text 56"/>
          <p:cNvSpPr/>
          <p:nvPr/>
        </p:nvSpPr>
        <p:spPr>
          <a:xfrm>
            <a:off x="7040880" y="5321808"/>
            <a:ext cx="2286000" cy="310896"/>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30 fps</a:t>
            </a:r>
            <a:endParaRPr lang="en-US" sz="1050" dirty="0"/>
          </a:p>
        </p:txBody>
      </p:sp>
      <p:sp>
        <p:nvSpPr>
          <p:cNvPr id="59" name="Text 57"/>
          <p:cNvSpPr/>
          <p:nvPr/>
        </p:nvSpPr>
        <p:spPr>
          <a:xfrm>
            <a:off x="9326880" y="5321808"/>
            <a:ext cx="2331720" cy="310896"/>
          </a:xfrm>
          <a:prstGeom prst="rect">
            <a:avLst/>
          </a:prstGeom>
          <a:noFill/>
          <a:ln/>
        </p:spPr>
        <p:txBody>
          <a:bodyPr wrap="square" lIns="0" tIns="0" rIns="0" bIns="0" rtlCol="0" anchor="ctr"/>
          <a:lstStyle/>
          <a:p>
            <a:pPr algn="ctr" indent="0" marL="0">
              <a:buNone/>
            </a:pPr>
            <a:r>
              <a:rPr lang="en-US" sz="1050" dirty="0">
                <a:solidFill>
                  <a:srgbClr val="27374F"/>
                </a:solidFill>
                <a:latin typeface="Calibri" pitchFamily="34" charset="0"/>
                <a:ea typeface="Calibri" pitchFamily="34" charset="-122"/>
                <a:cs typeface="Calibri" pitchFamily="34" charset="-120"/>
              </a:rPr>
              <a:t>unchanged</a:t>
            </a:r>
            <a:endParaRPr lang="en-US" sz="1050" dirty="0"/>
          </a:p>
        </p:txBody>
      </p:sp>
      <p:sp>
        <p:nvSpPr>
          <p:cNvPr id="60" name="Text 58"/>
          <p:cNvSpPr/>
          <p:nvPr/>
        </p:nvSpPr>
        <p:spPr>
          <a:xfrm>
            <a:off x="548640" y="5623560"/>
            <a:ext cx="11109960" cy="457200"/>
          </a:xfrm>
          <a:prstGeom prst="rect">
            <a:avLst/>
          </a:prstGeom>
          <a:noFill/>
          <a:ln/>
        </p:spPr>
        <p:txBody>
          <a:bodyPr wrap="square" lIns="0" tIns="0" rIns="0" bIns="0" rtlCol="0" anchor="t"/>
          <a:lstStyle/>
          <a:p>
            <a:pPr indent="0" marL="0">
              <a:buNone/>
            </a:pPr>
            <a:r>
              <a:rPr lang="en-US" sz="1150" i="1" dirty="0">
                <a:solidFill>
                  <a:srgbClr val="6B7C97"/>
                </a:solidFill>
                <a:latin typeface="Calibri" pitchFamily="34" charset="0"/>
                <a:ea typeface="Calibri" pitchFamily="34" charset="-122"/>
                <a:cs typeface="Calibri" pitchFamily="34" charset="-120"/>
              </a:rPr>
              <a:t>Three runs per side, alternating bitstreams on the same board minutes apart. The unchanged row is the control: whatever was already at source rate stayed there.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REMAINING WORK</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EO panorama: the one mode still short</a:t>
            </a:r>
            <a:endParaRPr lang="en-US" sz="3000" dirty="0"/>
          </a:p>
        </p:txBody>
      </p:sp>
      <p:sp>
        <p:nvSpPr>
          <p:cNvPr id="4" name="Shape 2"/>
          <p:cNvSpPr/>
          <p:nvPr/>
        </p:nvSpPr>
        <p:spPr>
          <a:xfrm>
            <a:off x="548640" y="1188720"/>
            <a:ext cx="2468880" cy="1298448"/>
          </a:xfrm>
          <a:prstGeom prst="roundRect">
            <a:avLst>
              <a:gd name="adj" fmla="val 4225"/>
            </a:avLst>
          </a:prstGeom>
          <a:solidFill>
            <a:srgbClr val="F2F5FA"/>
          </a:solidFill>
          <a:ln w="12700">
            <a:solidFill>
              <a:srgbClr val="D3DCEA"/>
            </a:solidFill>
            <a:prstDash val="solid"/>
          </a:ln>
        </p:spPr>
      </p:sp>
      <p:sp>
        <p:nvSpPr>
          <p:cNvPr id="5" name="Text 3"/>
          <p:cNvSpPr/>
          <p:nvPr/>
        </p:nvSpPr>
        <p:spPr>
          <a:xfrm>
            <a:off x="603504" y="1316736"/>
            <a:ext cx="2359152" cy="603504"/>
          </a:xfrm>
          <a:prstGeom prst="rect">
            <a:avLst/>
          </a:prstGeom>
          <a:noFill/>
          <a:ln/>
        </p:spPr>
        <p:txBody>
          <a:bodyPr wrap="square" lIns="0" tIns="0" rIns="0" bIns="0" rtlCol="0" anchor="ctr"/>
          <a:lstStyle/>
          <a:p>
            <a:pPr algn="ctr" indent="0" marL="0">
              <a:buNone/>
            </a:pPr>
            <a:r>
              <a:rPr lang="en-US" sz="3200" b="1" dirty="0">
                <a:solidFill>
                  <a:srgbClr val="C2A33B"/>
                </a:solidFill>
                <a:latin typeface="Cambria" pitchFamily="34" charset="0"/>
                <a:ea typeface="Cambria" pitchFamily="34" charset="-122"/>
                <a:cs typeface="Cambria" pitchFamily="34" charset="-120"/>
              </a:rPr>
              <a:t>22.9</a:t>
            </a:r>
            <a:endParaRPr lang="en-US" sz="3200" dirty="0"/>
          </a:p>
        </p:txBody>
      </p:sp>
      <p:sp>
        <p:nvSpPr>
          <p:cNvPr id="6" name="Text 4"/>
          <p:cNvSpPr/>
          <p:nvPr/>
        </p:nvSpPr>
        <p:spPr>
          <a:xfrm>
            <a:off x="640080" y="1956816"/>
            <a:ext cx="2286000" cy="457200"/>
          </a:xfrm>
          <a:prstGeom prst="rect">
            <a:avLst/>
          </a:prstGeom>
          <a:noFill/>
          <a:ln/>
        </p:spPr>
        <p:txBody>
          <a:bodyPr wrap="square" lIns="0" tIns="0" rIns="0" bIns="0" rtlCol="0" anchor="t"/>
          <a:lstStyle/>
          <a:p>
            <a:pPr algn="ctr" indent="0" marL="0">
              <a:buNone/>
            </a:pPr>
            <a:r>
              <a:rPr lang="en-US" sz="1000" dirty="0">
                <a:solidFill>
                  <a:srgbClr val="27374F"/>
                </a:solidFill>
                <a:latin typeface="Calibri" pitchFamily="34" charset="0"/>
                <a:ea typeface="Calibri" pitchFamily="34" charset="-122"/>
                <a:cs typeface="Calibri" pitchFamily="34" charset="-120"/>
              </a:rPr>
              <a:t>published now</a:t>
            </a:r>
            <a:endParaRPr lang="en-US" sz="1000" dirty="0"/>
          </a:p>
        </p:txBody>
      </p:sp>
      <p:sp>
        <p:nvSpPr>
          <p:cNvPr id="7" name="Shape 5"/>
          <p:cNvSpPr/>
          <p:nvPr/>
        </p:nvSpPr>
        <p:spPr>
          <a:xfrm>
            <a:off x="3108960" y="1188720"/>
            <a:ext cx="2468880" cy="1298448"/>
          </a:xfrm>
          <a:prstGeom prst="roundRect">
            <a:avLst>
              <a:gd name="adj" fmla="val 4225"/>
            </a:avLst>
          </a:prstGeom>
          <a:solidFill>
            <a:srgbClr val="F2F5FA"/>
          </a:solidFill>
          <a:ln w="12700">
            <a:solidFill>
              <a:srgbClr val="D3DCEA"/>
            </a:solidFill>
            <a:prstDash val="solid"/>
          </a:ln>
        </p:spPr>
      </p:sp>
      <p:sp>
        <p:nvSpPr>
          <p:cNvPr id="8" name="Text 6"/>
          <p:cNvSpPr/>
          <p:nvPr/>
        </p:nvSpPr>
        <p:spPr>
          <a:xfrm>
            <a:off x="3163824" y="1316736"/>
            <a:ext cx="2359152" cy="603504"/>
          </a:xfrm>
          <a:prstGeom prst="rect">
            <a:avLst/>
          </a:prstGeom>
          <a:noFill/>
          <a:ln/>
        </p:spPr>
        <p:txBody>
          <a:bodyPr wrap="square" lIns="0" tIns="0" rIns="0" bIns="0" rtlCol="0" anchor="ctr"/>
          <a:lstStyle/>
          <a:p>
            <a:pPr algn="ctr" indent="0" marL="0">
              <a:buNone/>
            </a:pPr>
            <a:r>
              <a:rPr lang="en-US" sz="3200" b="1" dirty="0">
                <a:solidFill>
                  <a:srgbClr val="02A37A"/>
                </a:solidFill>
                <a:latin typeface="Cambria" pitchFamily="34" charset="0"/>
                <a:ea typeface="Cambria" pitchFamily="34" charset="-122"/>
                <a:cs typeface="Cambria" pitchFamily="34" charset="-120"/>
              </a:rPr>
              <a:t>30</a:t>
            </a:r>
            <a:endParaRPr lang="en-US" sz="3200" dirty="0"/>
          </a:p>
        </p:txBody>
      </p:sp>
      <p:sp>
        <p:nvSpPr>
          <p:cNvPr id="9" name="Text 7"/>
          <p:cNvSpPr/>
          <p:nvPr/>
        </p:nvSpPr>
        <p:spPr>
          <a:xfrm>
            <a:off x="3200400" y="1956816"/>
            <a:ext cx="2286000" cy="457200"/>
          </a:xfrm>
          <a:prstGeom prst="rect">
            <a:avLst/>
          </a:prstGeom>
          <a:noFill/>
          <a:ln/>
        </p:spPr>
        <p:txBody>
          <a:bodyPr wrap="square" lIns="0" tIns="0" rIns="0" bIns="0" rtlCol="0" anchor="t"/>
          <a:lstStyle/>
          <a:p>
            <a:pPr algn="ctr" indent="0" marL="0">
              <a:buNone/>
            </a:pPr>
            <a:r>
              <a:rPr lang="en-US" sz="1000" dirty="0">
                <a:solidFill>
                  <a:srgbClr val="27374F"/>
                </a:solidFill>
                <a:latin typeface="Calibri" pitchFamily="34" charset="0"/>
                <a:ea typeface="Calibri" pitchFamily="34" charset="-122"/>
                <a:cs typeface="Calibri" pitchFamily="34" charset="-120"/>
              </a:rPr>
              <a:t>cameras deliver</a:t>
            </a:r>
            <a:endParaRPr lang="en-US" sz="1000" dirty="0"/>
          </a:p>
        </p:txBody>
      </p:sp>
      <p:sp>
        <p:nvSpPr>
          <p:cNvPr id="10" name="Shape 8"/>
          <p:cNvSpPr/>
          <p:nvPr/>
        </p:nvSpPr>
        <p:spPr>
          <a:xfrm>
            <a:off x="5669280" y="1188720"/>
            <a:ext cx="2468880" cy="1298448"/>
          </a:xfrm>
          <a:prstGeom prst="roundRect">
            <a:avLst>
              <a:gd name="adj" fmla="val 4225"/>
            </a:avLst>
          </a:prstGeom>
          <a:solidFill>
            <a:srgbClr val="F2F5FA"/>
          </a:solidFill>
          <a:ln w="12700">
            <a:solidFill>
              <a:srgbClr val="D3DCEA"/>
            </a:solidFill>
            <a:prstDash val="solid"/>
          </a:ln>
        </p:spPr>
      </p:sp>
      <p:sp>
        <p:nvSpPr>
          <p:cNvPr id="11" name="Text 9"/>
          <p:cNvSpPr/>
          <p:nvPr/>
        </p:nvSpPr>
        <p:spPr>
          <a:xfrm>
            <a:off x="5724144" y="1316736"/>
            <a:ext cx="2359152" cy="603504"/>
          </a:xfrm>
          <a:prstGeom prst="rect">
            <a:avLst/>
          </a:prstGeom>
          <a:noFill/>
          <a:ln/>
        </p:spPr>
        <p:txBody>
          <a:bodyPr wrap="square" lIns="0" tIns="0" rIns="0" bIns="0" rtlCol="0" anchor="ctr"/>
          <a:lstStyle/>
          <a:p>
            <a:pPr algn="ctr" indent="0" marL="0">
              <a:buNone/>
            </a:pPr>
            <a:r>
              <a:rPr lang="en-US" sz="3200" b="1" dirty="0">
                <a:solidFill>
                  <a:srgbClr val="02A37A"/>
                </a:solidFill>
                <a:latin typeface="Cambria" pitchFamily="34" charset="0"/>
                <a:ea typeface="Cambria" pitchFamily="34" charset="-122"/>
                <a:cs typeface="Cambria" pitchFamily="34" charset="-120"/>
              </a:rPr>
              <a:t>78%</a:t>
            </a:r>
            <a:endParaRPr lang="en-US" sz="3200" dirty="0"/>
          </a:p>
        </p:txBody>
      </p:sp>
      <p:sp>
        <p:nvSpPr>
          <p:cNvPr id="12" name="Text 10"/>
          <p:cNvSpPr/>
          <p:nvPr/>
        </p:nvSpPr>
        <p:spPr>
          <a:xfrm>
            <a:off x="5760720" y="1956816"/>
            <a:ext cx="2286000" cy="457200"/>
          </a:xfrm>
          <a:prstGeom prst="rect">
            <a:avLst/>
          </a:prstGeom>
          <a:noFill/>
          <a:ln/>
        </p:spPr>
        <p:txBody>
          <a:bodyPr wrap="square" lIns="0" tIns="0" rIns="0" bIns="0" rtlCol="0" anchor="t"/>
          <a:lstStyle/>
          <a:p>
            <a:pPr algn="ctr" indent="0" marL="0">
              <a:buNone/>
            </a:pPr>
            <a:r>
              <a:rPr lang="en-US" sz="1000" dirty="0">
                <a:solidFill>
                  <a:srgbClr val="27374F"/>
                </a:solidFill>
                <a:latin typeface="Calibri" pitchFamily="34" charset="0"/>
                <a:ea typeface="Calibri" pitchFamily="34" charset="-122"/>
                <a:cs typeface="Calibri" pitchFamily="34" charset="-120"/>
              </a:rPr>
              <a:t>frames on the full</a:t>
            </a:r>
            <a:endParaRPr lang="en-US" sz="1000" dirty="0"/>
          </a:p>
          <a:p>
            <a:pPr algn="ctr" indent="0" marL="0">
              <a:buNone/>
            </a:pPr>
            <a:r>
              <a:rPr lang="en-US" sz="1000" dirty="0">
                <a:solidFill>
                  <a:srgbClr val="27374F"/>
                </a:solidFill>
                <a:latin typeface="Calibri" pitchFamily="34" charset="0"/>
                <a:ea typeface="Calibri" pitchFamily="34" charset="-122"/>
                <a:cs typeface="Calibri" pitchFamily="34" charset="-120"/>
              </a:rPr>
              <a:t>33 ms cadence</a:t>
            </a:r>
            <a:endParaRPr lang="en-US" sz="1000" dirty="0"/>
          </a:p>
        </p:txBody>
      </p:sp>
      <p:sp>
        <p:nvSpPr>
          <p:cNvPr id="13" name="Shape 11"/>
          <p:cNvSpPr/>
          <p:nvPr/>
        </p:nvSpPr>
        <p:spPr>
          <a:xfrm>
            <a:off x="8229600" y="1188720"/>
            <a:ext cx="3429000" cy="1298448"/>
          </a:xfrm>
          <a:prstGeom prst="roundRect">
            <a:avLst>
              <a:gd name="adj" fmla="val 4225"/>
            </a:avLst>
          </a:prstGeom>
          <a:solidFill>
            <a:srgbClr val="F2F5FA"/>
          </a:solidFill>
          <a:ln w="12700">
            <a:solidFill>
              <a:srgbClr val="D3DCEA"/>
            </a:solidFill>
            <a:prstDash val="solid"/>
          </a:ln>
        </p:spPr>
      </p:sp>
      <p:sp>
        <p:nvSpPr>
          <p:cNvPr id="14" name="Text 12"/>
          <p:cNvSpPr/>
          <p:nvPr/>
        </p:nvSpPr>
        <p:spPr>
          <a:xfrm>
            <a:off x="8284464" y="1316736"/>
            <a:ext cx="3319272" cy="603504"/>
          </a:xfrm>
          <a:prstGeom prst="rect">
            <a:avLst/>
          </a:prstGeom>
          <a:noFill/>
          <a:ln/>
        </p:spPr>
        <p:txBody>
          <a:bodyPr wrap="square" lIns="0" tIns="0" rIns="0" bIns="0" rtlCol="0" anchor="ctr"/>
          <a:lstStyle/>
          <a:p>
            <a:pPr algn="ctr" indent="0" marL="0">
              <a:buNone/>
            </a:pPr>
            <a:r>
              <a:rPr lang="en-US" sz="3200" b="1" dirty="0">
                <a:solidFill>
                  <a:srgbClr val="B4443A"/>
                </a:solidFill>
                <a:latin typeface="Cambria" pitchFamily="34" charset="0"/>
                <a:ea typeface="Cambria" pitchFamily="34" charset="-122"/>
                <a:cs typeface="Cambria" pitchFamily="34" charset="-120"/>
              </a:rPr>
              <a:t>22%</a:t>
            </a:r>
            <a:endParaRPr lang="en-US" sz="3200" dirty="0"/>
          </a:p>
        </p:txBody>
      </p:sp>
      <p:sp>
        <p:nvSpPr>
          <p:cNvPr id="15" name="Text 13"/>
          <p:cNvSpPr/>
          <p:nvPr/>
        </p:nvSpPr>
        <p:spPr>
          <a:xfrm>
            <a:off x="8321040" y="1956816"/>
            <a:ext cx="3246120" cy="457200"/>
          </a:xfrm>
          <a:prstGeom prst="rect">
            <a:avLst/>
          </a:prstGeom>
          <a:noFill/>
          <a:ln/>
        </p:spPr>
        <p:txBody>
          <a:bodyPr wrap="square" lIns="0" tIns="0" rIns="0" bIns="0" rtlCol="0" anchor="t"/>
          <a:lstStyle/>
          <a:p>
            <a:pPr algn="ctr" indent="0" marL="0">
              <a:buNone/>
            </a:pPr>
            <a:r>
              <a:rPr lang="en-US" sz="1000" dirty="0">
                <a:solidFill>
                  <a:srgbClr val="27374F"/>
                </a:solidFill>
                <a:latin typeface="Calibri" pitchFamily="34" charset="0"/>
                <a:ea typeface="Calibri" pitchFamily="34" charset="-122"/>
                <a:cs typeface="Calibri" pitchFamily="34" charset="-120"/>
              </a:rPr>
              <a:t>slip by one or two frame periods</a:t>
            </a:r>
            <a:endParaRPr lang="en-US" sz="1000" dirty="0"/>
          </a:p>
        </p:txBody>
      </p:sp>
      <p:sp>
        <p:nvSpPr>
          <p:cNvPr id="16" name="Text 14"/>
          <p:cNvSpPr/>
          <p:nvPr/>
        </p:nvSpPr>
        <p:spPr>
          <a:xfrm>
            <a:off x="548640" y="2697480"/>
            <a:ext cx="11109960" cy="274320"/>
          </a:xfrm>
          <a:prstGeom prst="rect">
            <a:avLst/>
          </a:prstGeom>
          <a:noFill/>
          <a:ln/>
        </p:spPr>
        <p:txBody>
          <a:bodyPr wrap="square" lIns="0" tIns="0" rIns="0" bIns="0" rtlCol="0" anchor="ctr"/>
          <a:lstStyle/>
          <a:p>
            <a:pPr indent="0" marL="0">
              <a:buNone/>
            </a:pPr>
            <a:r>
              <a:rPr lang="en-US" sz="1500" b="1" dirty="0">
                <a:solidFill>
                  <a:srgbClr val="0E1C36"/>
                </a:solidFill>
                <a:latin typeface="Calibri" pitchFamily="34" charset="0"/>
                <a:ea typeface="Calibri" pitchFamily="34" charset="-122"/>
                <a:cs typeface="Calibri" pitchFamily="34" charset="-120"/>
              </a:rPr>
              <a:t>It is not the output stage, and it is not the cameras</a:t>
            </a:r>
            <a:endParaRPr lang="en-US" sz="1500" dirty="0"/>
          </a:p>
        </p:txBody>
      </p:sp>
      <p:sp>
        <p:nvSpPr>
          <p:cNvPr id="17" name="Text 15"/>
          <p:cNvSpPr/>
          <p:nvPr/>
        </p:nvSpPr>
        <p:spPr>
          <a:xfrm>
            <a:off x="548640" y="3017520"/>
            <a:ext cx="11109960" cy="548640"/>
          </a:xfrm>
          <a:prstGeom prst="rect">
            <a:avLst/>
          </a:prstGeom>
          <a:noFill/>
          <a:ln/>
        </p:spPr>
        <p:txBody>
          <a:bodyPr wrap="square" lIns="0" tIns="0" rIns="0" bIns="0" rtlCol="0" anchor="ctr"/>
          <a:lstStyle/>
          <a:p>
            <a:pPr indent="0" marL="0">
              <a:buNone/>
            </a:pPr>
            <a:r>
              <a:rPr lang="en-US" sz="1250" dirty="0">
                <a:solidFill>
                  <a:srgbClr val="27374F"/>
                </a:solidFill>
                <a:latin typeface="Calibri" pitchFamily="34" charset="0"/>
                <a:ea typeface="Calibri" pitchFamily="34" charset="-122"/>
                <a:cs typeface="Calibri" pitchFamily="34" charset="-120"/>
              </a:rPr>
              <a:t>Switching the EO cameras from triggered to free-running changed the rate by 0.5 fps — within the run-to-run spread. That removes the shared exposure trigger entirely, so the limit is internal. And the profile is not a mode stuck at half rate; it is a mode that mostly keeps up and intermittently misses.</a:t>
            </a:r>
            <a:endParaRPr lang="en-US" sz="1250" dirty="0"/>
          </a:p>
        </p:txBody>
      </p:sp>
      <p:sp>
        <p:nvSpPr>
          <p:cNvPr id="18" name="Text 16"/>
          <p:cNvSpPr/>
          <p:nvPr/>
        </p:nvSpPr>
        <p:spPr>
          <a:xfrm>
            <a:off x="548640" y="3657600"/>
            <a:ext cx="11109960" cy="274320"/>
          </a:xfrm>
          <a:prstGeom prst="rect">
            <a:avLst/>
          </a:prstGeom>
          <a:noFill/>
          <a:ln/>
        </p:spPr>
        <p:txBody>
          <a:bodyPr wrap="square" lIns="0" tIns="0" rIns="0" bIns="0" rtlCol="0" anchor="ctr"/>
          <a:lstStyle/>
          <a:p>
            <a:pPr indent="0" marL="0">
              <a:buNone/>
            </a:pPr>
            <a:r>
              <a:rPr lang="en-US" sz="1500" b="1" dirty="0">
                <a:solidFill>
                  <a:srgbClr val="0E1C36"/>
                </a:solidFill>
                <a:latin typeface="Calibri" pitchFamily="34" charset="0"/>
                <a:ea typeface="Calibri" pitchFamily="34" charset="-122"/>
                <a:cs typeface="Calibri" pitchFamily="34" charset="-120"/>
              </a:rPr>
              <a:t>The mechanism, and the fix</a:t>
            </a:r>
            <a:endParaRPr lang="en-US" sz="1500" dirty="0"/>
          </a:p>
        </p:txBody>
      </p:sp>
      <p:sp>
        <p:nvSpPr>
          <p:cNvPr id="19" name="Text 17"/>
          <p:cNvSpPr/>
          <p:nvPr/>
        </p:nvSpPr>
        <p:spPr>
          <a:xfrm>
            <a:off x="530352" y="4142232"/>
            <a:ext cx="265176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Render frame N</a:t>
            </a:r>
            <a:endParaRPr lang="en-US" sz="1050" dirty="0"/>
          </a:p>
        </p:txBody>
      </p:sp>
      <p:sp>
        <p:nvSpPr>
          <p:cNvPr id="20" name="Shape 18"/>
          <p:cNvSpPr/>
          <p:nvPr/>
        </p:nvSpPr>
        <p:spPr>
          <a:xfrm>
            <a:off x="3291840" y="4160520"/>
            <a:ext cx="2504542" cy="292608"/>
          </a:xfrm>
          <a:prstGeom prst="roundRect">
            <a:avLst>
              <a:gd name="adj" fmla="val 9375"/>
            </a:avLst>
          </a:prstGeom>
          <a:solidFill>
            <a:srgbClr val="C1663A"/>
          </a:solidFill>
          <a:ln w="12700">
            <a:solidFill>
              <a:srgbClr val="C1663A"/>
            </a:solidFill>
            <a:prstDash val="solid"/>
          </a:ln>
        </p:spPr>
      </p:sp>
      <p:sp>
        <p:nvSpPr>
          <p:cNvPr id="21" name="Text 19"/>
          <p:cNvSpPr/>
          <p:nvPr/>
        </p:nvSpPr>
        <p:spPr>
          <a:xfrm>
            <a:off x="3291840" y="4160520"/>
            <a:ext cx="250454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24.9 ms</a:t>
            </a:r>
            <a:endParaRPr lang="en-US" sz="900" dirty="0"/>
          </a:p>
        </p:txBody>
      </p:sp>
      <p:sp>
        <p:nvSpPr>
          <p:cNvPr id="22" name="Text 20"/>
          <p:cNvSpPr/>
          <p:nvPr/>
        </p:nvSpPr>
        <p:spPr>
          <a:xfrm>
            <a:off x="530352" y="4526280"/>
            <a:ext cx="265176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Manager releases, then searches</a:t>
            </a:r>
            <a:endParaRPr lang="en-US" sz="1050" dirty="0"/>
          </a:p>
        </p:txBody>
      </p:sp>
      <p:sp>
        <p:nvSpPr>
          <p:cNvPr id="23" name="Shape 21"/>
          <p:cNvSpPr/>
          <p:nvPr/>
        </p:nvSpPr>
        <p:spPr>
          <a:xfrm>
            <a:off x="5796382" y="4544568"/>
            <a:ext cx="1056132" cy="292608"/>
          </a:xfrm>
          <a:prstGeom prst="roundRect">
            <a:avLst>
              <a:gd name="adj" fmla="val 9375"/>
            </a:avLst>
          </a:prstGeom>
          <a:solidFill>
            <a:srgbClr val="F6E2E0"/>
          </a:solidFill>
          <a:ln w="12700">
            <a:solidFill>
              <a:srgbClr val="B4443A"/>
            </a:solidFill>
            <a:prstDash val="solid"/>
          </a:ln>
        </p:spPr>
      </p:sp>
      <p:sp>
        <p:nvSpPr>
          <p:cNvPr id="24" name="Text 22"/>
          <p:cNvSpPr/>
          <p:nvPr/>
        </p:nvSpPr>
        <p:spPr>
          <a:xfrm>
            <a:off x="5796382" y="4544568"/>
            <a:ext cx="1056132" cy="292608"/>
          </a:xfrm>
          <a:prstGeom prst="rect">
            <a:avLst/>
          </a:prstGeom>
          <a:noFill/>
          <a:ln/>
        </p:spPr>
        <p:txBody>
          <a:bodyPr wrap="square" lIns="0" tIns="0" rIns="0" bIns="0" rtlCol="0" anchor="ctr"/>
          <a:lstStyle/>
          <a:p>
            <a:pPr algn="ctr" indent="0" marL="0">
              <a:buNone/>
            </a:pPr>
            <a:r>
              <a:rPr lang="en-US" sz="900" b="1" dirty="0">
                <a:solidFill>
                  <a:srgbClr val="B4443A"/>
                </a:solidFill>
                <a:latin typeface="Calibri" pitchFamily="34" charset="0"/>
                <a:ea typeface="Calibri" pitchFamily="34" charset="-122"/>
                <a:cs typeface="Calibri" pitchFamily="34" charset="-120"/>
              </a:rPr>
              <a:t>serialised — starts only when the render ends</a:t>
            </a:r>
            <a:endParaRPr lang="en-US" sz="900" dirty="0"/>
          </a:p>
        </p:txBody>
      </p:sp>
      <p:sp>
        <p:nvSpPr>
          <p:cNvPr id="25" name="Text 23"/>
          <p:cNvSpPr/>
          <p:nvPr/>
        </p:nvSpPr>
        <p:spPr>
          <a:xfrm>
            <a:off x="530352" y="4910328"/>
            <a:ext cx="2651760" cy="310896"/>
          </a:xfrm>
          <a:prstGeom prst="rect">
            <a:avLst/>
          </a:prstGeom>
          <a:noFill/>
          <a:ln/>
        </p:spPr>
        <p:txBody>
          <a:bodyPr wrap="square" lIns="0" tIns="0" rIns="0" bIns="0" rtlCol="0" anchor="ctr"/>
          <a:lstStyle/>
          <a:p>
            <a:pPr algn="r" indent="0" marL="0">
              <a:buNone/>
            </a:pPr>
            <a:r>
              <a:rPr lang="en-US" sz="1050" dirty="0">
                <a:solidFill>
                  <a:srgbClr val="27374F"/>
                </a:solidFill>
                <a:latin typeface="Calibri" pitchFamily="34" charset="0"/>
                <a:ea typeface="Calibri" pitchFamily="34" charset="-122"/>
                <a:cs typeface="Calibri" pitchFamily="34" charset="-120"/>
              </a:rPr>
              <a:t>Render frame N+1</a:t>
            </a:r>
            <a:endParaRPr lang="en-US" sz="1050" dirty="0"/>
          </a:p>
        </p:txBody>
      </p:sp>
      <p:sp>
        <p:nvSpPr>
          <p:cNvPr id="26" name="Shape 24"/>
          <p:cNvSpPr/>
          <p:nvPr/>
        </p:nvSpPr>
        <p:spPr>
          <a:xfrm>
            <a:off x="6852514" y="4928616"/>
            <a:ext cx="2504542" cy="292608"/>
          </a:xfrm>
          <a:prstGeom prst="roundRect">
            <a:avLst>
              <a:gd name="adj" fmla="val 9375"/>
            </a:avLst>
          </a:prstGeom>
          <a:solidFill>
            <a:srgbClr val="C2A33B"/>
          </a:solidFill>
          <a:ln w="12700">
            <a:solidFill>
              <a:srgbClr val="C2A33B"/>
            </a:solidFill>
            <a:prstDash val="solid"/>
          </a:ln>
        </p:spPr>
      </p:sp>
      <p:sp>
        <p:nvSpPr>
          <p:cNvPr id="27" name="Text 25"/>
          <p:cNvSpPr/>
          <p:nvPr/>
        </p:nvSpPr>
        <p:spPr>
          <a:xfrm>
            <a:off x="6852514" y="4928616"/>
            <a:ext cx="250454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starts late</a:t>
            </a:r>
            <a:endParaRPr lang="en-US" sz="900" dirty="0"/>
          </a:p>
        </p:txBody>
      </p:sp>
      <p:sp>
        <p:nvSpPr>
          <p:cNvPr id="28" name="Shape 26"/>
          <p:cNvSpPr/>
          <p:nvPr/>
        </p:nvSpPr>
        <p:spPr>
          <a:xfrm>
            <a:off x="6644606" y="4050792"/>
            <a:ext cx="0" cy="1207008"/>
          </a:xfrm>
          <a:prstGeom prst="line">
            <a:avLst/>
          </a:prstGeom>
          <a:noFill/>
          <a:ln w="15875">
            <a:solidFill>
              <a:srgbClr val="6B7C97"/>
            </a:solidFill>
            <a:prstDash val="dash"/>
          </a:ln>
        </p:spPr>
      </p:sp>
      <p:sp>
        <p:nvSpPr>
          <p:cNvPr id="29" name="Text 27"/>
          <p:cNvSpPr/>
          <p:nvPr/>
        </p:nvSpPr>
        <p:spPr>
          <a:xfrm>
            <a:off x="5730206" y="3776472"/>
            <a:ext cx="1828800" cy="237744"/>
          </a:xfrm>
          <a:prstGeom prst="rect">
            <a:avLst/>
          </a:prstGeom>
          <a:noFill/>
          <a:ln/>
        </p:spPr>
        <p:txBody>
          <a:bodyPr wrap="square" lIns="0" tIns="0" rIns="0" bIns="0" rtlCol="0" anchor="ctr"/>
          <a:lstStyle/>
          <a:p>
            <a:pPr algn="ctr" indent="0" marL="0">
              <a:buNone/>
            </a:pPr>
            <a:r>
              <a:rPr lang="en-US" sz="900" b="1" dirty="0">
                <a:solidFill>
                  <a:srgbClr val="6B7C97"/>
                </a:solidFill>
                <a:latin typeface="Calibri" pitchFamily="34" charset="0"/>
                <a:ea typeface="Calibri" pitchFamily="34" charset="-122"/>
                <a:cs typeface="Calibri" pitchFamily="34" charset="-120"/>
              </a:rPr>
              <a:t>edge</a:t>
            </a:r>
            <a:endParaRPr lang="en-US" sz="900" dirty="0"/>
          </a:p>
        </p:txBody>
      </p:sp>
      <p:sp>
        <p:nvSpPr>
          <p:cNvPr id="30" name="Shape 28"/>
          <p:cNvSpPr/>
          <p:nvPr/>
        </p:nvSpPr>
        <p:spPr>
          <a:xfrm>
            <a:off x="3291840" y="5349240"/>
            <a:ext cx="8046720" cy="0"/>
          </a:xfrm>
          <a:prstGeom prst="line">
            <a:avLst/>
          </a:prstGeom>
          <a:noFill/>
          <a:ln w="12700">
            <a:solidFill>
              <a:srgbClr val="6B7C97"/>
            </a:solidFill>
            <a:prstDash val="solid"/>
          </a:ln>
        </p:spPr>
      </p:sp>
      <p:sp>
        <p:nvSpPr>
          <p:cNvPr id="31" name="Shape 29"/>
          <p:cNvSpPr/>
          <p:nvPr/>
        </p:nvSpPr>
        <p:spPr>
          <a:xfrm>
            <a:off x="3291840" y="5266944"/>
            <a:ext cx="0" cy="82296"/>
          </a:xfrm>
          <a:prstGeom prst="line">
            <a:avLst/>
          </a:prstGeom>
          <a:noFill/>
          <a:ln w="12700">
            <a:solidFill>
              <a:srgbClr val="6B7C97"/>
            </a:solidFill>
            <a:prstDash val="solid"/>
          </a:ln>
        </p:spPr>
      </p:sp>
      <p:sp>
        <p:nvSpPr>
          <p:cNvPr id="32" name="Text 30"/>
          <p:cNvSpPr/>
          <p:nvPr/>
        </p:nvSpPr>
        <p:spPr>
          <a:xfrm>
            <a:off x="2907792" y="5038344"/>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0.0</a:t>
            </a:r>
            <a:endParaRPr lang="en-US" sz="850" dirty="0"/>
          </a:p>
        </p:txBody>
      </p:sp>
      <p:sp>
        <p:nvSpPr>
          <p:cNvPr id="33" name="Shape 31"/>
          <p:cNvSpPr/>
          <p:nvPr/>
        </p:nvSpPr>
        <p:spPr>
          <a:xfrm>
            <a:off x="5303520" y="5266944"/>
            <a:ext cx="0" cy="82296"/>
          </a:xfrm>
          <a:prstGeom prst="line">
            <a:avLst/>
          </a:prstGeom>
          <a:noFill/>
          <a:ln w="12700">
            <a:solidFill>
              <a:srgbClr val="6B7C97"/>
            </a:solidFill>
            <a:prstDash val="solid"/>
          </a:ln>
        </p:spPr>
      </p:sp>
      <p:sp>
        <p:nvSpPr>
          <p:cNvPr id="34" name="Text 32"/>
          <p:cNvSpPr/>
          <p:nvPr/>
        </p:nvSpPr>
        <p:spPr>
          <a:xfrm>
            <a:off x="4919472" y="5038344"/>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20.0</a:t>
            </a:r>
            <a:endParaRPr lang="en-US" sz="850" dirty="0"/>
          </a:p>
        </p:txBody>
      </p:sp>
      <p:sp>
        <p:nvSpPr>
          <p:cNvPr id="35" name="Shape 33"/>
          <p:cNvSpPr/>
          <p:nvPr/>
        </p:nvSpPr>
        <p:spPr>
          <a:xfrm>
            <a:off x="7315200" y="5266944"/>
            <a:ext cx="0" cy="82296"/>
          </a:xfrm>
          <a:prstGeom prst="line">
            <a:avLst/>
          </a:prstGeom>
          <a:noFill/>
          <a:ln w="12700">
            <a:solidFill>
              <a:srgbClr val="6B7C97"/>
            </a:solidFill>
            <a:prstDash val="solid"/>
          </a:ln>
        </p:spPr>
      </p:sp>
      <p:sp>
        <p:nvSpPr>
          <p:cNvPr id="36" name="Text 34"/>
          <p:cNvSpPr/>
          <p:nvPr/>
        </p:nvSpPr>
        <p:spPr>
          <a:xfrm>
            <a:off x="6931152" y="5038344"/>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40.0</a:t>
            </a:r>
            <a:endParaRPr lang="en-US" sz="850" dirty="0"/>
          </a:p>
        </p:txBody>
      </p:sp>
      <p:sp>
        <p:nvSpPr>
          <p:cNvPr id="37" name="Shape 35"/>
          <p:cNvSpPr/>
          <p:nvPr/>
        </p:nvSpPr>
        <p:spPr>
          <a:xfrm>
            <a:off x="9326880" y="5266944"/>
            <a:ext cx="0" cy="82296"/>
          </a:xfrm>
          <a:prstGeom prst="line">
            <a:avLst/>
          </a:prstGeom>
          <a:noFill/>
          <a:ln w="12700">
            <a:solidFill>
              <a:srgbClr val="6B7C97"/>
            </a:solidFill>
            <a:prstDash val="solid"/>
          </a:ln>
        </p:spPr>
      </p:sp>
      <p:sp>
        <p:nvSpPr>
          <p:cNvPr id="38" name="Text 36"/>
          <p:cNvSpPr/>
          <p:nvPr/>
        </p:nvSpPr>
        <p:spPr>
          <a:xfrm>
            <a:off x="8942832" y="5038344"/>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60.0</a:t>
            </a:r>
            <a:endParaRPr lang="en-US" sz="850" dirty="0"/>
          </a:p>
        </p:txBody>
      </p:sp>
      <p:sp>
        <p:nvSpPr>
          <p:cNvPr id="39" name="Shape 37"/>
          <p:cNvSpPr/>
          <p:nvPr/>
        </p:nvSpPr>
        <p:spPr>
          <a:xfrm>
            <a:off x="11338560" y="5266944"/>
            <a:ext cx="0" cy="82296"/>
          </a:xfrm>
          <a:prstGeom prst="line">
            <a:avLst/>
          </a:prstGeom>
          <a:noFill/>
          <a:ln w="12700">
            <a:solidFill>
              <a:srgbClr val="6B7C97"/>
            </a:solidFill>
            <a:prstDash val="solid"/>
          </a:ln>
        </p:spPr>
      </p:sp>
      <p:sp>
        <p:nvSpPr>
          <p:cNvPr id="40" name="Text 38"/>
          <p:cNvSpPr/>
          <p:nvPr/>
        </p:nvSpPr>
        <p:spPr>
          <a:xfrm>
            <a:off x="10954512" y="5038344"/>
            <a:ext cx="768096" cy="219456"/>
          </a:xfrm>
          <a:prstGeom prst="rect">
            <a:avLst/>
          </a:prstGeom>
          <a:noFill/>
          <a:ln/>
        </p:spPr>
        <p:txBody>
          <a:bodyPr wrap="square" lIns="0" tIns="0" rIns="0" bIns="0" rtlCol="0" anchor="ctr"/>
          <a:lstStyle/>
          <a:p>
            <a:pPr algn="ctr" indent="0" marL="0">
              <a:buNone/>
            </a:pPr>
            <a:r>
              <a:rPr lang="en-US" sz="850" dirty="0">
                <a:solidFill>
                  <a:srgbClr val="6B7C97"/>
                </a:solidFill>
                <a:latin typeface="Calibri" pitchFamily="34" charset="0"/>
                <a:ea typeface="Calibri" pitchFamily="34" charset="-122"/>
                <a:cs typeface="Calibri" pitchFamily="34" charset="-120"/>
              </a:rPr>
              <a:t>80.0</a:t>
            </a:r>
            <a:endParaRPr lang="en-US" sz="850" dirty="0"/>
          </a:p>
        </p:txBody>
      </p:sp>
      <p:sp>
        <p:nvSpPr>
          <p:cNvPr id="41" name="Text 39"/>
          <p:cNvSpPr/>
          <p:nvPr/>
        </p:nvSpPr>
        <p:spPr>
          <a:xfrm>
            <a:off x="8046720" y="5404104"/>
            <a:ext cx="3291840" cy="219456"/>
          </a:xfrm>
          <a:prstGeom prst="rect">
            <a:avLst/>
          </a:prstGeom>
          <a:noFill/>
          <a:ln/>
        </p:spPr>
        <p:txBody>
          <a:bodyPr wrap="square" lIns="0" tIns="0" rIns="0" bIns="0" rtlCol="0" anchor="ctr"/>
          <a:lstStyle/>
          <a:p>
            <a:pPr algn="r" indent="0" marL="0">
              <a:buNone/>
            </a:pPr>
            <a:r>
              <a:rPr lang="en-US" sz="900" i="1" dirty="0">
                <a:solidFill>
                  <a:srgbClr val="6B7C97"/>
                </a:solidFill>
                <a:latin typeface="Calibri" pitchFamily="34" charset="0"/>
                <a:ea typeface="Calibri" pitchFamily="34" charset="-122"/>
                <a:cs typeface="Calibri" pitchFamily="34" charset="-120"/>
              </a:rPr>
              <a:t>milliseconds</a:t>
            </a:r>
            <a:endParaRPr lang="en-US" sz="900" dirty="0"/>
          </a:p>
        </p:txBody>
      </p:sp>
      <p:sp>
        <p:nvSpPr>
          <p:cNvPr id="42" name="Text 40"/>
          <p:cNvSpPr/>
          <p:nvPr/>
        </p:nvSpPr>
        <p:spPr>
          <a:xfrm>
            <a:off x="548640" y="5806440"/>
            <a:ext cx="11109960" cy="640080"/>
          </a:xfrm>
          <a:prstGeom prst="rect">
            <a:avLst/>
          </a:prstGeom>
          <a:noFill/>
          <a:ln/>
        </p:spPr>
        <p:txBody>
          <a:bodyPr wrap="square" lIns="0" tIns="0" rIns="0" bIns="0" rtlCol="0" anchor="ctr"/>
          <a:lstStyle/>
          <a:p>
            <a:pPr indent="0" marL="0">
              <a:buNone/>
            </a:pPr>
            <a:r>
              <a:rPr lang="en-US" sz="1150" dirty="0">
                <a:solidFill>
                  <a:srgbClr val="27374F"/>
                </a:solidFill>
                <a:latin typeface="Calibri" pitchFamily="34" charset="0"/>
                <a:ea typeface="Calibri" pitchFamily="34" charset="-122"/>
                <a:cs typeface="Calibri" pitchFamily="34" charset="-120"/>
              </a:rPr>
              <a:t>An EO panorama render needs a matched frame from all six cameras. The frame-set manager holds that set until the render completes, then walks four bank slots with a handshake to each camera before it can look for the next matched set. None of it overlaps the render. Acquiring the next set while the current render is still running is the targeted fix.</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indent="0" marL="0">
              <a:buNone/>
            </a:pPr>
            <a:r>
              <a:rPr lang="en-US" sz="1100" b="1" spc="200" kern="0" dirty="0">
                <a:solidFill>
                  <a:srgbClr val="6B7C97"/>
                </a:solidFill>
                <a:latin typeface="Calibri" pitchFamily="34" charset="0"/>
                <a:ea typeface="Calibri" pitchFamily="34" charset="-122"/>
                <a:cs typeface="Calibri" pitchFamily="34" charset="-120"/>
              </a:rPr>
              <a:t>PROVENANCE</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indent="0" marL="0">
              <a:buNone/>
            </a:pPr>
            <a:r>
              <a:rPr lang="en-US" sz="3000" b="1" dirty="0">
                <a:solidFill>
                  <a:srgbClr val="0E1C36"/>
                </a:solidFill>
                <a:latin typeface="Cambria" pitchFamily="34" charset="0"/>
                <a:ea typeface="Cambria" pitchFamily="34" charset="-122"/>
                <a:cs typeface="Cambria" pitchFamily="34" charset="-120"/>
              </a:rPr>
              <a:t>Basis of every figure</a:t>
            </a:r>
            <a:endParaRPr lang="en-US" sz="3000" dirty="0"/>
          </a:p>
        </p:txBody>
      </p:sp>
      <p:sp>
        <p:nvSpPr>
          <p:cNvPr id="4" name="Shape 2"/>
          <p:cNvSpPr/>
          <p:nvPr/>
        </p:nvSpPr>
        <p:spPr>
          <a:xfrm>
            <a:off x="548640" y="1371600"/>
            <a:ext cx="3547872" cy="3566160"/>
          </a:xfrm>
          <a:prstGeom prst="roundRect">
            <a:avLst>
              <a:gd name="adj" fmla="val 1546"/>
            </a:avLst>
          </a:prstGeom>
          <a:solidFill>
            <a:srgbClr val="FFFFFF"/>
          </a:solidFill>
          <a:ln w="19050">
            <a:solidFill>
              <a:srgbClr val="02A37A"/>
            </a:solidFill>
            <a:prstDash val="solid"/>
          </a:ln>
        </p:spPr>
      </p:sp>
      <p:sp>
        <p:nvSpPr>
          <p:cNvPr id="5" name="Shape 3"/>
          <p:cNvSpPr/>
          <p:nvPr/>
        </p:nvSpPr>
        <p:spPr>
          <a:xfrm>
            <a:off x="804672" y="1609344"/>
            <a:ext cx="292608" cy="292608"/>
          </a:xfrm>
          <a:prstGeom prst="ellipse">
            <a:avLst/>
          </a:prstGeom>
          <a:solidFill>
            <a:srgbClr val="02A37A"/>
          </a:solidFill>
          <a:ln w="12700">
            <a:solidFill>
              <a:srgbClr val="333333"/>
            </a:solidFill>
            <a:prstDash val="solid"/>
          </a:ln>
        </p:spPr>
      </p:sp>
      <p:sp>
        <p:nvSpPr>
          <p:cNvPr id="6" name="Text 4"/>
          <p:cNvSpPr/>
          <p:nvPr/>
        </p:nvSpPr>
        <p:spPr>
          <a:xfrm>
            <a:off x="1207008" y="1591056"/>
            <a:ext cx="2743200" cy="329184"/>
          </a:xfrm>
          <a:prstGeom prst="rect">
            <a:avLst/>
          </a:prstGeom>
          <a:noFill/>
          <a:ln/>
        </p:spPr>
        <p:txBody>
          <a:bodyPr wrap="square" lIns="0" tIns="0" rIns="0" bIns="0" rtlCol="0" anchor="ctr"/>
          <a:lstStyle/>
          <a:p>
            <a:pPr indent="0" marL="0">
              <a:buNone/>
            </a:pPr>
            <a:r>
              <a:rPr lang="en-US" sz="1300" b="1" dirty="0">
                <a:solidFill>
                  <a:srgbClr val="0E1C36"/>
                </a:solidFill>
                <a:latin typeface="Calibri" pitchFamily="34" charset="0"/>
                <a:ea typeface="Calibri" pitchFamily="34" charset="-122"/>
                <a:cs typeface="Calibri" pitchFamily="34" charset="-120"/>
              </a:rPr>
              <a:t>Measured on hardware</a:t>
            </a:r>
            <a:endParaRPr lang="en-US" sz="1300" dirty="0"/>
          </a:p>
        </p:txBody>
      </p:sp>
      <p:sp>
        <p:nvSpPr>
          <p:cNvPr id="7" name="Text 5"/>
          <p:cNvSpPr/>
          <p:nvPr/>
        </p:nvSpPr>
        <p:spPr>
          <a:xfrm>
            <a:off x="822960" y="2048256"/>
            <a:ext cx="3017520" cy="2743200"/>
          </a:xfrm>
          <a:prstGeom prst="rect">
            <a:avLst/>
          </a:prstGeom>
          <a:noFill/>
          <a:ln/>
        </p:spPr>
        <p:txBody>
          <a:bodyPr wrap="square" lIns="0" tIns="0" rIns="0" bIns="0" rtlCol="0" anchor="t"/>
          <a:lstStyle/>
          <a:p>
            <a:pPr marL="342900" indent="-342900">
              <a:spcAft>
                <a:spcPts val="900"/>
              </a:spcAft>
              <a:buSzPct val="100000"/>
              <a:buChar char="•"/>
            </a:pPr>
            <a:r>
              <a:rPr lang="en-US" sz="1050" dirty="0">
                <a:solidFill>
                  <a:srgbClr val="27374F"/>
                </a:solidFill>
                <a:latin typeface="Calibri" pitchFamily="34" charset="0"/>
                <a:ea typeface="Calibri" pitchFamily="34" charset="-122"/>
                <a:cs typeface="Calibri" pitchFamily="34" charset="-120"/>
              </a:rPr>
              <a:t>Frame rates: SDI output grabbed at 60 fps, distinct frames counted by exact hash. 2026-08-20, build 00e0c57.</a:t>
            </a:r>
            <a:endParaRPr lang="en-US" sz="1050" dirty="0"/>
          </a:p>
          <a:p>
            <a:pPr marL="342900" indent="-342900">
              <a:spcAft>
                <a:spcPts val="900"/>
              </a:spcAft>
              <a:buSzPct val="100000"/>
              <a:buChar char="•"/>
            </a:pPr>
            <a:r>
              <a:rPr lang="en-US" sz="1050" dirty="0">
                <a:solidFill>
                  <a:srgbClr val="27374F"/>
                </a:solidFill>
                <a:latin typeface="Calibri" pitchFamily="34" charset="0"/>
                <a:ea typeface="Calibri" pitchFamily="34" charset="-122"/>
                <a:cs typeface="Calibri" pitchFamily="34" charset="-120"/>
              </a:rPr>
              <a:t>Render and publish latency: in-fabric probe on a ui_clk/64 tick, read over JTAG. 2026-08-19, build 67955bc.</a:t>
            </a:r>
            <a:endParaRPr lang="en-US" sz="1050" dirty="0"/>
          </a:p>
          <a:p>
            <a:pPr marL="342900" indent="-342900">
              <a:spcAft>
                <a:spcPts val="900"/>
              </a:spcAft>
              <a:buSzPct val="100000"/>
              <a:buChar char="•"/>
            </a:pPr>
            <a:r>
              <a:rPr lang="en-US" sz="1050" dirty="0">
                <a:solidFill>
                  <a:srgbClr val="27374F"/>
                </a:solidFill>
                <a:latin typeface="Calibri" pitchFamily="34" charset="0"/>
                <a:ea typeface="Calibri" pitchFamily="34" charset="-122"/>
                <a:cs typeface="Calibri" pitchFamily="34" charset="-120"/>
              </a:rPr>
              <a:t>How often the worst case occurs: counted from the on-screen dwell distribution, same optical capture.</a:t>
            </a:r>
            <a:endParaRPr lang="en-US" sz="1050" dirty="0"/>
          </a:p>
        </p:txBody>
      </p:sp>
      <p:sp>
        <p:nvSpPr>
          <p:cNvPr id="8" name="Shape 6"/>
          <p:cNvSpPr/>
          <p:nvPr/>
        </p:nvSpPr>
        <p:spPr>
          <a:xfrm>
            <a:off x="4325112" y="1371600"/>
            <a:ext cx="3547872" cy="3566160"/>
          </a:xfrm>
          <a:prstGeom prst="roundRect">
            <a:avLst>
              <a:gd name="adj" fmla="val 1546"/>
            </a:avLst>
          </a:prstGeom>
          <a:solidFill>
            <a:srgbClr val="FFFFFF"/>
          </a:solidFill>
          <a:ln w="19050">
            <a:solidFill>
              <a:srgbClr val="1C7293"/>
            </a:solidFill>
            <a:prstDash val="solid"/>
          </a:ln>
        </p:spPr>
      </p:sp>
      <p:sp>
        <p:nvSpPr>
          <p:cNvPr id="9" name="Shape 7"/>
          <p:cNvSpPr/>
          <p:nvPr/>
        </p:nvSpPr>
        <p:spPr>
          <a:xfrm>
            <a:off x="4581144" y="1609344"/>
            <a:ext cx="292608" cy="292608"/>
          </a:xfrm>
          <a:prstGeom prst="ellipse">
            <a:avLst/>
          </a:prstGeom>
          <a:solidFill>
            <a:srgbClr val="1C7293"/>
          </a:solidFill>
          <a:ln w="12700">
            <a:solidFill>
              <a:srgbClr val="333333"/>
            </a:solidFill>
            <a:prstDash val="solid"/>
          </a:ln>
        </p:spPr>
      </p:sp>
      <p:sp>
        <p:nvSpPr>
          <p:cNvPr id="10" name="Text 8"/>
          <p:cNvSpPr/>
          <p:nvPr/>
        </p:nvSpPr>
        <p:spPr>
          <a:xfrm>
            <a:off x="4983480" y="1591056"/>
            <a:ext cx="2743200" cy="329184"/>
          </a:xfrm>
          <a:prstGeom prst="rect">
            <a:avLst/>
          </a:prstGeom>
          <a:noFill/>
          <a:ln/>
        </p:spPr>
        <p:txBody>
          <a:bodyPr wrap="square" lIns="0" tIns="0" rIns="0" bIns="0" rtlCol="0" anchor="ctr"/>
          <a:lstStyle/>
          <a:p>
            <a:pPr indent="0" marL="0">
              <a:buNone/>
            </a:pPr>
            <a:r>
              <a:rPr lang="en-US" sz="1300" b="1" dirty="0">
                <a:solidFill>
                  <a:srgbClr val="0E1C36"/>
                </a:solidFill>
                <a:latin typeface="Calibri" pitchFamily="34" charset="0"/>
                <a:ea typeface="Calibri" pitchFamily="34" charset="-122"/>
                <a:cs typeface="Calibri" pitchFamily="34" charset="-120"/>
              </a:rPr>
              <a:t>Design constants</a:t>
            </a:r>
            <a:endParaRPr lang="en-US" sz="1300" dirty="0"/>
          </a:p>
        </p:txBody>
      </p:sp>
      <p:sp>
        <p:nvSpPr>
          <p:cNvPr id="11" name="Text 9"/>
          <p:cNvSpPr/>
          <p:nvPr/>
        </p:nvSpPr>
        <p:spPr>
          <a:xfrm>
            <a:off x="4599432" y="2048256"/>
            <a:ext cx="3017520" cy="2743200"/>
          </a:xfrm>
          <a:prstGeom prst="rect">
            <a:avLst/>
          </a:prstGeom>
          <a:noFill/>
          <a:ln/>
        </p:spPr>
        <p:txBody>
          <a:bodyPr wrap="square" lIns="0" tIns="0" rIns="0" bIns="0" rtlCol="0" anchor="t"/>
          <a:lstStyle/>
          <a:p>
            <a:pPr marL="342900" indent="-342900">
              <a:spcAft>
                <a:spcPts val="900"/>
              </a:spcAft>
              <a:buSzPct val="100000"/>
              <a:buChar char="•"/>
            </a:pPr>
            <a:r>
              <a:rPr lang="en-US" sz="1050" dirty="0">
                <a:solidFill>
                  <a:srgbClr val="27374F"/>
                </a:solidFill>
                <a:latin typeface="Calibri" pitchFamily="34" charset="0"/>
                <a:ea typeface="Calibri" pitchFamily="34" charset="-122"/>
                <a:cs typeface="Calibri" pitchFamily="34" charset="-120"/>
              </a:rPr>
              <a:t>Output raster 1920x1080p30 - one frame period is 33.333 ms.</a:t>
            </a:r>
            <a:endParaRPr lang="en-US" sz="1050" dirty="0"/>
          </a:p>
          <a:p>
            <a:pPr marL="342900" indent="-342900">
              <a:spcAft>
                <a:spcPts val="900"/>
              </a:spcAft>
              <a:buSzPct val="100000"/>
              <a:buChar char="•"/>
            </a:pPr>
            <a:r>
              <a:rPr lang="en-US" sz="1050" dirty="0">
                <a:solidFill>
                  <a:srgbClr val="27374F"/>
                </a:solidFill>
                <a:latin typeface="Calibri" pitchFamily="34" charset="0"/>
                <a:ea typeface="Calibri" pitchFamily="34" charset="-122"/>
                <a:cs typeface="Calibri" pitchFamily="34" charset="-120"/>
              </a:rPr>
              <a:t>Capture-plus-scan-out geometry sums to exactly one frame period for every row; verified over all 1080 rows, spread 0.00 ms.</a:t>
            </a:r>
            <a:endParaRPr lang="en-US" sz="1050" dirty="0"/>
          </a:p>
          <a:p>
            <a:pPr marL="342900" indent="-342900">
              <a:spcAft>
                <a:spcPts val="900"/>
              </a:spcAft>
              <a:buSzPct val="100000"/>
              <a:buChar char="•"/>
            </a:pPr>
            <a:r>
              <a:rPr lang="en-US" sz="1050" dirty="0">
                <a:solidFill>
                  <a:srgbClr val="27374F"/>
                </a:solidFill>
                <a:latin typeface="Calibri" pitchFamily="34" charset="0"/>
                <a:ea typeface="Calibri" pitchFamily="34" charset="-122"/>
                <a:cs typeface="Calibri" pitchFamily="34" charset="-120"/>
              </a:rPr>
              <a:t>Render start windows read from the RTL: 1.95 ms per camera frame for IR panorama, matched six-camera set for EO panorama.</a:t>
            </a:r>
            <a:endParaRPr lang="en-US" sz="1050" dirty="0"/>
          </a:p>
        </p:txBody>
      </p:sp>
      <p:sp>
        <p:nvSpPr>
          <p:cNvPr id="12" name="Shape 10"/>
          <p:cNvSpPr/>
          <p:nvPr/>
        </p:nvSpPr>
        <p:spPr>
          <a:xfrm>
            <a:off x="8101584" y="1371600"/>
            <a:ext cx="3547872" cy="3566160"/>
          </a:xfrm>
          <a:prstGeom prst="roundRect">
            <a:avLst>
              <a:gd name="adj" fmla="val 1546"/>
            </a:avLst>
          </a:prstGeom>
          <a:solidFill>
            <a:srgbClr val="FFFFFF"/>
          </a:solidFill>
          <a:ln w="19050">
            <a:solidFill>
              <a:srgbClr val="C2A33B"/>
            </a:solidFill>
            <a:prstDash val="solid"/>
          </a:ln>
        </p:spPr>
      </p:sp>
      <p:sp>
        <p:nvSpPr>
          <p:cNvPr id="13" name="Shape 11"/>
          <p:cNvSpPr/>
          <p:nvPr/>
        </p:nvSpPr>
        <p:spPr>
          <a:xfrm>
            <a:off x="8357616" y="1609344"/>
            <a:ext cx="292608" cy="292608"/>
          </a:xfrm>
          <a:prstGeom prst="ellipse">
            <a:avLst/>
          </a:prstGeom>
          <a:solidFill>
            <a:srgbClr val="C2A33B"/>
          </a:solidFill>
          <a:ln w="12700">
            <a:solidFill>
              <a:srgbClr val="333333"/>
            </a:solidFill>
            <a:prstDash val="solid"/>
          </a:ln>
        </p:spPr>
      </p:sp>
      <p:sp>
        <p:nvSpPr>
          <p:cNvPr id="14" name="Text 12"/>
          <p:cNvSpPr/>
          <p:nvPr/>
        </p:nvSpPr>
        <p:spPr>
          <a:xfrm>
            <a:off x="8759952" y="1591056"/>
            <a:ext cx="2743200" cy="329184"/>
          </a:xfrm>
          <a:prstGeom prst="rect">
            <a:avLst/>
          </a:prstGeom>
          <a:noFill/>
          <a:ln/>
        </p:spPr>
        <p:txBody>
          <a:bodyPr wrap="square" lIns="0" tIns="0" rIns="0" bIns="0" rtlCol="0" anchor="ctr"/>
          <a:lstStyle/>
          <a:p>
            <a:pPr indent="0" marL="0">
              <a:buNone/>
            </a:pPr>
            <a:r>
              <a:rPr lang="en-US" sz="1300" b="1" dirty="0">
                <a:solidFill>
                  <a:srgbClr val="0E1C36"/>
                </a:solidFill>
                <a:latin typeface="Calibri" pitchFamily="34" charset="0"/>
                <a:ea typeface="Calibri" pitchFamily="34" charset="-122"/>
                <a:cs typeface="Calibri" pitchFamily="34" charset="-120"/>
              </a:rPr>
              <a:t>Limits and exclusions</a:t>
            </a:r>
            <a:endParaRPr lang="en-US" sz="1300" dirty="0"/>
          </a:p>
        </p:txBody>
      </p:sp>
      <p:sp>
        <p:nvSpPr>
          <p:cNvPr id="15" name="Text 13"/>
          <p:cNvSpPr/>
          <p:nvPr/>
        </p:nvSpPr>
        <p:spPr>
          <a:xfrm>
            <a:off x="8375904" y="2048256"/>
            <a:ext cx="3017520" cy="2743200"/>
          </a:xfrm>
          <a:prstGeom prst="rect">
            <a:avLst/>
          </a:prstGeom>
          <a:noFill/>
          <a:ln/>
        </p:spPr>
        <p:txBody>
          <a:bodyPr wrap="square" lIns="0" tIns="0" rIns="0" bIns="0" rtlCol="0" anchor="t"/>
          <a:lstStyle/>
          <a:p>
            <a:pPr marL="342900" indent="-342900">
              <a:spcAft>
                <a:spcPts val="900"/>
              </a:spcAft>
              <a:buSzPct val="100000"/>
              <a:buChar char="•"/>
            </a:pPr>
            <a:r>
              <a:rPr lang="en-US" sz="1050" dirty="0">
                <a:solidFill>
                  <a:srgbClr val="27374F"/>
                </a:solidFill>
                <a:latin typeface="Calibri" pitchFamily="34" charset="0"/>
                <a:ea typeface="Calibri" pitchFamily="34" charset="-122"/>
                <a:cs typeface="Calibri" pitchFamily="34" charset="-120"/>
              </a:rPr>
              <a:t>Camera sensor and ISP delay excluded throughout - vendor specification.</a:t>
            </a:r>
            <a:endParaRPr lang="en-US" sz="1050" dirty="0"/>
          </a:p>
          <a:p>
            <a:pPr marL="342900" indent="-342900">
              <a:spcAft>
                <a:spcPts val="900"/>
              </a:spcAft>
              <a:buSzPct val="100000"/>
              <a:buChar char="•"/>
            </a:pPr>
            <a:r>
              <a:rPr lang="en-US" sz="1050" dirty="0">
                <a:solidFill>
                  <a:srgbClr val="27374F"/>
                </a:solidFill>
                <a:latin typeface="Calibri" pitchFamily="34" charset="0"/>
                <a:ea typeface="Calibri" pitchFamily="34" charset="-122"/>
                <a:cs typeface="Calibri" pitchFamily="34" charset="-120"/>
              </a:rPr>
              <a:t>Latency and frame rate come from different builds and different days; each is labelled. The three-bank change improves EO panorama's rate and was not re-measured for latency.</a:t>
            </a:r>
            <a:endParaRPr lang="en-US" sz="1050" dirty="0"/>
          </a:p>
          <a:p>
            <a:pPr marL="342900" indent="-342900">
              <a:spcAft>
                <a:spcPts val="900"/>
              </a:spcAft>
              <a:buSzPct val="100000"/>
              <a:buChar char="•"/>
            </a:pPr>
            <a:r>
              <a:rPr lang="en-US" sz="1050" dirty="0">
                <a:solidFill>
                  <a:srgbClr val="27374F"/>
                </a:solidFill>
                <a:latin typeface="Calibri" pitchFamily="34" charset="0"/>
                <a:ea typeface="Calibri" pitchFamily="34" charset="-122"/>
                <a:cs typeface="Calibri" pitchFamily="34" charset="-120"/>
              </a:rPr>
              <a:t>Row cancellation is exact for the single-camera modes and approximate for the panoramas, bounded by the row-window span (under 0.5 ms).</a:t>
            </a:r>
            <a:endParaRPr lang="en-US" sz="1050" dirty="0"/>
          </a:p>
        </p:txBody>
      </p:sp>
      <p:sp>
        <p:nvSpPr>
          <p:cNvPr id="16" name="Shape 14"/>
          <p:cNvSpPr/>
          <p:nvPr/>
        </p:nvSpPr>
        <p:spPr>
          <a:xfrm>
            <a:off x="548640" y="5120640"/>
            <a:ext cx="11109960" cy="868680"/>
          </a:xfrm>
          <a:prstGeom prst="roundRect">
            <a:avLst>
              <a:gd name="adj" fmla="val 6316"/>
            </a:avLst>
          </a:prstGeom>
          <a:solidFill>
            <a:srgbClr val="F2F5FA"/>
          </a:solidFill>
          <a:ln w="12700">
            <a:solidFill>
              <a:srgbClr val="D3DCEA"/>
            </a:solidFill>
            <a:prstDash val="solid"/>
          </a:ln>
        </p:spPr>
      </p:sp>
      <p:sp>
        <p:nvSpPr>
          <p:cNvPr id="17" name="Text 15"/>
          <p:cNvSpPr/>
          <p:nvPr/>
        </p:nvSpPr>
        <p:spPr>
          <a:xfrm>
            <a:off x="804672" y="5248656"/>
            <a:ext cx="10607040" cy="640080"/>
          </a:xfrm>
          <a:prstGeom prst="rect">
            <a:avLst/>
          </a:prstGeom>
          <a:noFill/>
          <a:ln/>
        </p:spPr>
        <p:txBody>
          <a:bodyPr wrap="square" lIns="0" tIns="0" rIns="0" bIns="0" rtlCol="0" anchor="ctr"/>
          <a:lstStyle/>
          <a:p>
            <a:pPr indent="0" marL="0">
              <a:buNone/>
            </a:pPr>
            <a:r>
              <a:rPr lang="en-US" sz="1150" b="1" dirty="0">
                <a:solidFill>
                  <a:srgbClr val="0E1C36"/>
                </a:solidFill>
                <a:latin typeface="Calibri" pitchFamily="34" charset="0"/>
                <a:ea typeface="Calibri" pitchFamily="34" charset="-122"/>
                <a:cs typeface="Calibri" pitchFamily="34" charset="-120"/>
              </a:rPr>
              <a:t>Not claimed: a certified sensor-to-display figure. </a:t>
            </a:r>
            <a:pPr indent="0" marL="0">
              <a:buNone/>
            </a:pPr>
            <a:r>
              <a:rPr lang="en-US" sz="1150" dirty="0">
                <a:solidFill>
                  <a:srgbClr val="27374F"/>
                </a:solidFill>
                <a:latin typeface="Calibri" pitchFamily="34" charset="0"/>
                <a:ea typeface="Calibri" pitchFamily="34" charset="-122"/>
                <a:cs typeface="Calibri" pitchFamily="34" charset="-120"/>
              </a:rPr>
              <a:t>Everything here is bounded by what can be observed at the camera interface and at the SDI output. An end-to-end number would need an external optical reference - a pulsed source into the lens and a photodiode on the display - which has not been run.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Latency and Frame Rate Analysis</dc:title>
  <dc:subject>PptxGenJS Presentation</dc:subject>
  <dc:creator>EO/IR Panorama V19</dc:creator>
  <cp:lastModifiedBy>EO/IR Panorama V19</cp:lastModifiedBy>
  <cp:revision>1</cp:revision>
  <dcterms:created xsi:type="dcterms:W3CDTF">2026-08-20T07:19:38Z</dcterms:created>
  <dcterms:modified xsi:type="dcterms:W3CDTF">2026-08-20T07:19:38Z</dcterms:modified>
</cp:coreProperties>
</file>