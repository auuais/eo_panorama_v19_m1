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Typical latency (ms)</c:v>
                </c:pt>
              </c:strCache>
            </c:strRef>
          </c:tx>
          <c:spPr>
            <a:solidFill>
              <a:srgbClr val="C166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E1C3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166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18E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9B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IR panorama</c:v>
                  </c:pt>
                  <c:pt idx="1">
                    <c:v>IR single</c:v>
                  </c:pt>
                  <c:pt idx="2">
                    <c:v>EO single</c:v>
                  </c:pt>
                  <c:pt idx="3">
                    <c:v>EO panorama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</c:v>
                </c:pt>
                <c:pt idx="1">
                  <c:v>100</c:v>
                </c:pt>
                <c:pt idx="2">
                  <c:v>100</c:v>
                </c:pt>
                <c:pt idx="3">
                  <c:v>117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E1C3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737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</c:scaling>
        <c:delete val="0"/>
        <c:axPos val="b"/>
        <c:majorGridlines>
          <c:spPr>
            <a:ln w="12700" cap="flat">
              <a:solidFill>
                <a:srgbClr val="D3DC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C9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modes share one output stage. The differences are entirely in how each mode gets a finished frame into the output framebuffer.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five-stage model is what makes the four modes comparable. Stages 4 and 5 are identical everywhere; only stages 1-3 differ.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commit-plus-scan tail is a property of driving a 30 Hz raster from a frame store. It averages half a frame of commit wait plus half a frame of scan 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EO single reads back one camera's stored frame. It shares the capture path with the panorama, which is why it behaves like the panorama minus the alignment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alignment stage exists purely because the EO cameras are free-running. It is the single largest difference between EO panorama and IR panorama.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Keeping the IR frame on-chip was a capacity decision, not a latency one - it does not shorten the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 rows is a property of the panorama geometry: producing the first output row needs source rows up to 34. Read directly from the generated row-window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 panorama is roughly one output frame ahead of everything else, and that gap is architectural rather than an optimisation.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by grabbing the output at 60 fps and counting distinct frames by exact hash. Four independent captures gave 14.8-15.1 Hz.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1 and 2 are within the current hardware. Item 3 depends on the camera vendor. Item 4 is a property of the output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customer needs a certified end-to-end figure, that requires an external reference - an LED pulsed into the camera and a photodiode on the display - which we have not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574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Analysis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Six-camera EO / IR panorama  ·  V19 Milestone 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timing for all four display modes, with the pipeline stage that sets each one.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7091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 single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18688" y="470916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18688" y="47091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 panorama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14416" y="470916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14416" y="47091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single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10144" y="4709160"/>
            <a:ext cx="214884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10144" y="47091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panorama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2026-08-19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mean by latency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quoted is glass-to-glass inside the FPGA: </a:t>
            </a:r>
            <a:pPr indent="0" marL="0">
              <a:buNone/>
            </a:pPr>
            <a:r>
              <a:rPr lang="en-US" sz="14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moment a camera has delivered an image row, to the moment that row leaves the HD-SDI output.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sensor integration and ISP delay sit in front of this and are the camera vendor's specification, not ours.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them to every figure in this deck for a true sensor-to-display number.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 is built from the same five stages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529584"/>
            <a:ext cx="256032" cy="256032"/>
          </a:xfrm>
          <a:prstGeom prst="ellipse">
            <a:avLst/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41832" y="3493008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rows arrive and are stored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014216"/>
            <a:ext cx="256032" cy="256032"/>
          </a:xfrm>
          <a:prstGeom prst="ellipse">
            <a:avLst/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41832" y="397764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until all contributing cameras agree on one moment in 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98848"/>
            <a:ext cx="256032" cy="256032"/>
          </a:xfrm>
          <a:prstGeom prst="ellipse">
            <a:avLst/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498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41832" y="446227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Warp, blend and write the finished output frame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256032" cy="256032"/>
          </a:xfrm>
          <a:prstGeom prst="ellipse">
            <a:avLst/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983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41832" y="4946904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that frame at the next output frame boundary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68112"/>
            <a:ext cx="256032" cy="256032"/>
          </a:xfrm>
          <a:prstGeom prst="ellipse">
            <a:avLst/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41832" y="5431536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 the row at its position in the raster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03720" y="1325880"/>
            <a:ext cx="4754880" cy="4526280"/>
          </a:xfrm>
          <a:prstGeom prst="roundRect">
            <a:avLst>
              <a:gd name="adj" fmla="val 1616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153619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timing constants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78040" y="196596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raster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78040" y="21854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1920x1080p30 HD-SDI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178040" y="2606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frame period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78040" y="2825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33.33 ms  (2200x1125 @ 74.25 MHz)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178040" y="324612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 cameras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178040" y="34655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x 1920x1080 @ 30 Hz, free-running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178040" y="38862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cameras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178040" y="41056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x 640x512 @ 30 Hz, FPGA-genlocked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178040" y="452628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IR genlock skew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78040" y="47457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274 ns across all six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178040" y="516636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user clock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78040" y="538581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233.4 MHz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output stage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produces the picture, it lands in the same place: a double-buffered output frame store that is published on an output frame boundary and then transmitted.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022653" cy="1691640"/>
          </a:xfrm>
          <a:prstGeom prst="roundRect">
            <a:avLst>
              <a:gd name="adj" fmla="val 432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07568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06654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ingest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2423160"/>
            <a:ext cx="176662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EO or six IR sensors deliver rows continuously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6656" y="327355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mode-dependent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725" y="27294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9037" y="1965960"/>
            <a:ext cx="2022653" cy="1691640"/>
          </a:xfrm>
          <a:prstGeom prst="roundRect">
            <a:avLst>
              <a:gd name="adj" fmla="val 432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8765" y="207568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8765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6237" y="206654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7053" y="2423160"/>
            <a:ext cx="176662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coherent instant across the contributing cameras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37053" y="327355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mode-dependent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9122" y="27294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69434" y="1965960"/>
            <a:ext cx="2022653" cy="1691640"/>
          </a:xfrm>
          <a:prstGeom prst="roundRect">
            <a:avLst>
              <a:gd name="adj" fmla="val 4324"/>
            </a:avLst>
          </a:prstGeom>
          <a:solidFill>
            <a:srgbClr val="F6E7DE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79162" y="2075688"/>
            <a:ext cx="274320" cy="274320"/>
          </a:xfrm>
          <a:prstGeom prst="ellipse">
            <a:avLst/>
          </a:prstGeom>
          <a:solidFill>
            <a:srgbClr val="C1663A"/>
          </a:solidFill>
          <a:ln w="12700">
            <a:solidFill>
              <a:srgbClr val="C16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916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6634" y="206654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97450" y="2423160"/>
            <a:ext cx="176662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warp, seam blending, fold to the output raster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7450" y="327355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mode-dependent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19518" y="27294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9830" y="1965960"/>
            <a:ext cx="2022653" cy="1691640"/>
          </a:xfrm>
          <a:prstGeom prst="roundRect">
            <a:avLst>
              <a:gd name="adj" fmla="val 432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39558" y="207568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9558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87030" y="206654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57846" y="2423160"/>
            <a:ext cx="176662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frame published at the next output frame edge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57846" y="327355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79915" y="27294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0227" y="1965960"/>
            <a:ext cx="2022653" cy="1691640"/>
          </a:xfrm>
          <a:prstGeom prst="roundRect">
            <a:avLst>
              <a:gd name="adj" fmla="val 432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9955" y="207568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9955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47427" y="206654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18243" y="2423160"/>
            <a:ext cx="176662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transmitted at its position in the HD-SDI raster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8243" y="327355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041648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DAF2EB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960" y="420624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4 and 5 are common to every mode and together contribute 33.3 ms on average. </a:t>
            </a:r>
            <a:pPr indent="0" marL="0">
              <a:buNone/>
            </a:pPr>
            <a:r>
              <a:rPr lang="en-US" sz="13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set by the output standard, not by the processing, so they are the floor: no mode can be faster than this without changing the output format.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separates the four modes happens in stages 1 to 3.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0X07 - 0X0C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EO single camera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six EO cameras, taken from its stored frame and presented full-raster.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8424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camera's full 1920x1080 frame is written to memory as it arrives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665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72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903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15875">
            <a:solidFill>
              <a:srgbClr val="D3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8765" y="1984248"/>
            <a:ext cx="274320" cy="274320"/>
          </a:xfrm>
          <a:prstGeom prst="ellipse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876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623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705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 - only one camera contributes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3705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9122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69434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6E7DE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79162" y="1984248"/>
            <a:ext cx="274320" cy="274320"/>
          </a:xfrm>
          <a:prstGeom prst="ellipse">
            <a:avLst/>
          </a:prstGeom>
          <a:solidFill>
            <a:srgbClr val="C1663A"/>
          </a:solidFill>
          <a:ln w="12700">
            <a:solidFill>
              <a:srgbClr val="C16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9162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6634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97450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read back and copied to the output frame store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7450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19518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983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39558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955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8703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5784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at the next output frame edge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5784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7991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022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9955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995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4742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1824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Transmitted in the HD-SDI raster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824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budget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33.3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74113" y="4114800"/>
            <a:ext cx="1725473" cy="365760"/>
          </a:xfrm>
          <a:prstGeom prst="rect">
            <a:avLst/>
          </a:prstGeom>
          <a:solidFill>
            <a:srgbClr val="C166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74113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33.3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999586" y="4114800"/>
            <a:ext cx="865327" cy="365760"/>
          </a:xfrm>
          <a:prstGeom prst="rect">
            <a:avLst/>
          </a:prstGeom>
          <a:solidFill>
            <a:srgbClr val="02A3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99586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solidFill>
            <a:srgbClr val="6FC2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48640" y="45354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are proportional. Commit and scan shown at their average of 16.7 ms each.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595360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50224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2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ms</a:t>
            </a:r>
            <a:endParaRPr lang="en-US" sz="2500" dirty="0"/>
          </a:p>
        </p:txBody>
      </p:sp>
      <p:sp>
        <p:nvSpPr>
          <p:cNvPr id="51" name="Text 49"/>
          <p:cNvSpPr/>
          <p:nvPr/>
        </p:nvSpPr>
        <p:spPr>
          <a:xfrm>
            <a:off x="8705088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204704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259568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1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 ms</a:t>
            </a:r>
            <a:endParaRPr lang="en-US" sz="2500" dirty="0"/>
          </a:p>
        </p:txBody>
      </p:sp>
      <p:sp>
        <p:nvSpPr>
          <p:cNvPr id="54" name="Text 52"/>
          <p:cNvSpPr/>
          <p:nvPr/>
        </p:nvSpPr>
        <p:spPr>
          <a:xfrm>
            <a:off x="10314432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95360" y="5285232"/>
            <a:ext cx="3090672" cy="786384"/>
          </a:xfrm>
          <a:prstGeom prst="roundRect">
            <a:avLst>
              <a:gd name="adj" fmla="val 6977"/>
            </a:avLst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95360" y="5285232"/>
            <a:ext cx="30906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  </a:t>
            </a:r>
            <a:pPr algn="ctr" indent="0" marL="0">
              <a:buNone/>
            </a:pPr>
            <a:r>
              <a:rPr lang="en-US" sz="1200" dirty="0">
                <a:solidFill>
                  <a:srgbClr val="9F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548640" y="4956048"/>
            <a:ext cx="7772400" cy="1115568"/>
          </a:xfrm>
          <a:prstGeom prst="roundRect">
            <a:avLst>
              <a:gd name="adj" fmla="val 4918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4672" y="5120640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it: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store-and-forward round trip. The frame is fully written before any of it is read back, so ingest and render cannot overlap.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0X15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EO panorama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EO cameras stitched into one wide panorama, folded into the HD output raster.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8424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cameras write their frames to memory concurrently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665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72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903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8765" y="198424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876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623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705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 set of six frames that share one exposure instant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3705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9122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69434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6E7DE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79162" y="1984248"/>
            <a:ext cx="274320" cy="274320"/>
          </a:xfrm>
          <a:prstGeom prst="ellipse">
            <a:avLst/>
          </a:prstGeom>
          <a:solidFill>
            <a:srgbClr val="C1663A"/>
          </a:solidFill>
          <a:ln w="12700">
            <a:solidFill>
              <a:srgbClr val="C16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9162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6634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97450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frames read back, warped, seam-blended and folded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7450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19518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983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39558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955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8703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5784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at the next output frame edge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5784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7991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022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9955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995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4742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1824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Transmitted in the HD-SDI raster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824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budget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33.3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74113" y="4114800"/>
            <a:ext cx="865327" cy="365760"/>
          </a:xfrm>
          <a:prstGeom prst="rect">
            <a:avLst/>
          </a:prstGeom>
          <a:solidFill>
            <a:srgbClr val="5C9B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74113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16.7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139440" y="4114800"/>
            <a:ext cx="1725473" cy="365760"/>
          </a:xfrm>
          <a:prstGeom prst="rect">
            <a:avLst/>
          </a:prstGeom>
          <a:solidFill>
            <a:srgbClr val="C166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39440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33.3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solidFill>
            <a:srgbClr val="02A3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730240" y="4114800"/>
            <a:ext cx="865327" cy="365760"/>
          </a:xfrm>
          <a:prstGeom prst="rect">
            <a:avLst/>
          </a:prstGeom>
          <a:solidFill>
            <a:srgbClr val="6FC2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0240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48640" y="45354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shown at its average. It is zero when the cameras happen to be in phase and a full frame when they are not.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595360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50224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2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ms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8705088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0204704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59568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1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 ms</a:t>
            </a:r>
            <a:endParaRPr lang="en-US" sz="2500" dirty="0"/>
          </a:p>
        </p:txBody>
      </p:sp>
      <p:sp>
        <p:nvSpPr>
          <p:cNvPr id="56" name="Text 54"/>
          <p:cNvSpPr/>
          <p:nvPr/>
        </p:nvSpPr>
        <p:spPr>
          <a:xfrm>
            <a:off x="10314432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8595360" y="5285232"/>
            <a:ext cx="3090672" cy="786384"/>
          </a:xfrm>
          <a:prstGeom prst="roundRect">
            <a:avLst>
              <a:gd name="adj" fmla="val 6977"/>
            </a:avLst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95360" y="5285232"/>
            <a:ext cx="30906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 ms  </a:t>
            </a:r>
            <a:pPr algn="ctr" indent="0" marL="0">
              <a:buNone/>
            </a:pPr>
            <a:r>
              <a:rPr lang="en-US" sz="1200" dirty="0">
                <a:solidFill>
                  <a:srgbClr val="9F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</a:t>
            </a:r>
            <a:endParaRPr lang="en-US" sz="2200" dirty="0"/>
          </a:p>
        </p:txBody>
      </p:sp>
      <p:sp>
        <p:nvSpPr>
          <p:cNvPr id="59" name="Shape 57"/>
          <p:cNvSpPr/>
          <p:nvPr/>
        </p:nvSpPr>
        <p:spPr>
          <a:xfrm>
            <a:off x="548640" y="4956048"/>
            <a:ext cx="7772400" cy="1115568"/>
          </a:xfrm>
          <a:prstGeom prst="roundRect">
            <a:avLst>
              <a:gd name="adj" fmla="val 4918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4672" y="5120640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it: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EO cameras cannot be genlocked - the vendor confirmed their BT.1120 output is free-running - so the system must wait for six independently-timed frames to line up.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 0X00 - 0X05, 0X0D - 0X12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single camera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six IR cameras, held in on-chip memory and scaled into the output raster.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8424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camera's 640x512 frame written to on-chip memory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665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72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903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15875">
            <a:solidFill>
              <a:srgbClr val="D3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8765" y="1984248"/>
            <a:ext cx="274320" cy="274320"/>
          </a:xfrm>
          <a:prstGeom prst="ellipse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876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623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705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 - only one camera contributes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3705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9122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69434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6E7DE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79162" y="1984248"/>
            <a:ext cx="274320" cy="274320"/>
          </a:xfrm>
          <a:prstGeom prst="ellipse">
            <a:avLst/>
          </a:prstGeom>
          <a:solidFill>
            <a:srgbClr val="C1663A"/>
          </a:solidFill>
          <a:ln w="12700">
            <a:solidFill>
              <a:srgbClr val="C16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9162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6634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97450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on-chip memory into the output frame store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7450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19518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983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39558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955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8703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5784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at the next output frame edge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5784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7991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022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9955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995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4742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1824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Transmitted in the HD-SDI raster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824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budget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solidFill>
            <a:srgbClr val="C166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33.3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274113" y="4114800"/>
            <a:ext cx="1725473" cy="365760"/>
          </a:xfrm>
          <a:prstGeom prst="rect">
            <a:avLst/>
          </a:prstGeom>
          <a:solidFill>
            <a:srgbClr val="D18E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74113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33.3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999586" y="4114800"/>
            <a:ext cx="865327" cy="365760"/>
          </a:xfrm>
          <a:prstGeom prst="rect">
            <a:avLst/>
          </a:prstGeom>
          <a:solidFill>
            <a:srgbClr val="02A3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99586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solidFill>
            <a:srgbClr val="6FC2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64913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48640" y="45354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frames are small enough to hold on-chip, so this path never touches external memory.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595360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50224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2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ms</a:t>
            </a:r>
            <a:endParaRPr lang="en-US" sz="2500" dirty="0"/>
          </a:p>
        </p:txBody>
      </p:sp>
      <p:sp>
        <p:nvSpPr>
          <p:cNvPr id="51" name="Text 49"/>
          <p:cNvSpPr/>
          <p:nvPr/>
        </p:nvSpPr>
        <p:spPr>
          <a:xfrm>
            <a:off x="8705088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204704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259568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1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 ms</a:t>
            </a:r>
            <a:endParaRPr lang="en-US" sz="2500" dirty="0"/>
          </a:p>
        </p:txBody>
      </p:sp>
      <p:sp>
        <p:nvSpPr>
          <p:cNvPr id="54" name="Text 52"/>
          <p:cNvSpPr/>
          <p:nvPr/>
        </p:nvSpPr>
        <p:spPr>
          <a:xfrm>
            <a:off x="10314432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8595360" y="5285232"/>
            <a:ext cx="3090672" cy="786384"/>
          </a:xfrm>
          <a:prstGeom prst="roundRect">
            <a:avLst>
              <a:gd name="adj" fmla="val 6977"/>
            </a:avLst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95360" y="5285232"/>
            <a:ext cx="30906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ms  </a:t>
            </a:r>
            <a:pPr algn="ctr" indent="0" marL="0">
              <a:buNone/>
            </a:pPr>
            <a:r>
              <a:rPr lang="en-US" sz="1200" dirty="0">
                <a:solidFill>
                  <a:srgbClr val="9F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</a:t>
            </a:r>
            <a:endParaRPr lang="en-US" sz="2200" dirty="0"/>
          </a:p>
        </p:txBody>
      </p:sp>
      <p:sp>
        <p:nvSpPr>
          <p:cNvPr id="57" name="Shape 55"/>
          <p:cNvSpPr/>
          <p:nvPr/>
        </p:nvSpPr>
        <p:spPr>
          <a:xfrm>
            <a:off x="548640" y="4956048"/>
            <a:ext cx="7772400" cy="1115568"/>
          </a:xfrm>
          <a:prstGeom prst="roundRect">
            <a:avLst>
              <a:gd name="adj" fmla="val 4918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4672" y="5120640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sets it: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store-and-forward structure as EO single. The frame store is on-chip rather than external, which removes a bandwidth risk but not a frame of latency.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0X14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panorama - direct ingress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IR cameras stitched live, with rendering overlapped onto the arriving rows instead of waiting for whole frames.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CEAF0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98424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7665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feed rolling line buffers; rendering starts after 35 rows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7665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9872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903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 w="15875">
            <a:solidFill>
              <a:srgbClr val="D3DC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18765" y="1984248"/>
            <a:ext cx="274320" cy="274320"/>
          </a:xfrm>
          <a:prstGeom prst="ellipse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1876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6623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93705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required - the six IR cameras are genlocked by the FPGA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3705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3D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59122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69434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F6E7DE"/>
          </a:solidFill>
          <a:ln w="15875">
            <a:solidFill>
              <a:srgbClr val="C166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79162" y="1984248"/>
            <a:ext cx="274320" cy="274320"/>
          </a:xfrm>
          <a:prstGeom prst="ellipse">
            <a:avLst/>
          </a:prstGeom>
          <a:solidFill>
            <a:srgbClr val="C1663A"/>
          </a:solidFill>
          <a:ln w="12700">
            <a:solidFill>
              <a:srgbClr val="C16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9162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26634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97450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Warp, blend and fold, paced by the incoming rows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97450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16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 ms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19518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29830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39558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39558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87030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457846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at the next output frame edge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57846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379915" y="2615184"/>
            <a:ext cx="182880" cy="164592"/>
          </a:xfrm>
          <a:prstGeom prst="rightArrow">
            <a:avLst/>
          </a:prstGeom>
          <a:solidFill>
            <a:srgbClr val="D3DCE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90227" y="1874520"/>
            <a:ext cx="2022653" cy="1645920"/>
          </a:xfrm>
          <a:prstGeom prst="roundRect">
            <a:avLst>
              <a:gd name="adj" fmla="val 4444"/>
            </a:avLst>
          </a:prstGeom>
          <a:solidFill>
            <a:srgbClr val="DAF2EB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9955" y="1984248"/>
            <a:ext cx="274320" cy="274320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9955" y="1984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47427" y="1975104"/>
            <a:ext cx="145572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Scan-out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718243" y="2331720"/>
            <a:ext cx="176662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Transmitted in the HD-SDI raster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8243" y="3136392"/>
            <a:ext cx="1766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0 - 33.3 ms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4864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budget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4114800"/>
            <a:ext cx="128016" cy="365760"/>
          </a:xfrm>
          <a:prstGeom prst="rect">
            <a:avLst/>
          </a:prstGeom>
          <a:solidFill>
            <a:srgbClr val="C166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76656" y="4114800"/>
            <a:ext cx="1725473" cy="365760"/>
          </a:xfrm>
          <a:prstGeom prst="rect">
            <a:avLst/>
          </a:prstGeom>
          <a:solidFill>
            <a:srgbClr val="D18E6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114800"/>
            <a:ext cx="172547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33.3  -  overlapped with ingest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402129" y="4114800"/>
            <a:ext cx="865327" cy="365760"/>
          </a:xfrm>
          <a:prstGeom prst="rect">
            <a:avLst/>
          </a:prstGeom>
          <a:solidFill>
            <a:srgbClr val="02A3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02129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67456" y="4114800"/>
            <a:ext cx="865327" cy="365760"/>
          </a:xfrm>
          <a:prstGeom prst="rect">
            <a:avLst/>
          </a:prstGeom>
          <a:solidFill>
            <a:srgbClr val="6FC2A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67456" y="4114800"/>
            <a:ext cx="8653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48640" y="45354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runs concurrently with ingest rather than after it - this is where the saving comes from.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595360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650224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2A3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ms</a:t>
            </a:r>
            <a:endParaRPr lang="en-US" sz="2500" dirty="0"/>
          </a:p>
        </p:txBody>
      </p:sp>
      <p:sp>
        <p:nvSpPr>
          <p:cNvPr id="50" name="Text 48"/>
          <p:cNvSpPr/>
          <p:nvPr/>
        </p:nvSpPr>
        <p:spPr>
          <a:xfrm>
            <a:off x="8705088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case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204704" y="3767328"/>
            <a:ext cx="1481328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259568" y="391363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16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 ms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10314432" y="4608576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8595360" y="5285232"/>
            <a:ext cx="3090672" cy="786384"/>
          </a:xfrm>
          <a:prstGeom prst="roundRect">
            <a:avLst>
              <a:gd name="adj" fmla="val 6977"/>
            </a:avLst>
          </a:prstGeom>
          <a:solidFill>
            <a:srgbClr val="0E1C36"/>
          </a:solidFill>
          <a:ln w="12700">
            <a:solidFill>
              <a:srgbClr val="0E1C3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595360" y="5285232"/>
            <a:ext cx="30906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 ms  </a:t>
            </a:r>
            <a:pPr algn="ctr" indent="0" marL="0">
              <a:buNone/>
            </a:pPr>
            <a:r>
              <a:rPr lang="en-US" sz="1200" dirty="0">
                <a:solidFill>
                  <a:srgbClr val="9F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</a:t>
            </a:r>
            <a:endParaRPr lang="en-US" sz="2200" dirty="0"/>
          </a:p>
        </p:txBody>
      </p:sp>
      <p:sp>
        <p:nvSpPr>
          <p:cNvPr id="56" name="Shape 54"/>
          <p:cNvSpPr/>
          <p:nvPr/>
        </p:nvSpPr>
        <p:spPr>
          <a:xfrm>
            <a:off x="548640" y="4956048"/>
            <a:ext cx="7772400" cy="1115568"/>
          </a:xfrm>
          <a:prstGeom prst="roundRect">
            <a:avLst>
              <a:gd name="adj" fmla="val 4918"/>
            </a:avLst>
          </a:prstGeom>
          <a:solidFill>
            <a:srgbClr val="DAF2EB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5120640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frame faster.  </a:t>
            </a:r>
            <a:pPr indent="0" marL="0">
              <a:buNone/>
            </a:pPr>
            <a:r>
              <a:rPr lang="en-US" sz="12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Genlocking removes the alignment wait, and starting the render 35 source rows in removes the store-and-forward frame. This is the architecture the other modes would adopt to close the gap.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modes side by side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FPGA-internal. Camera sensor and ISP delay is additional and is the camera vendor's specification.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400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783080"/>
          <a:ext cx="4434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58368"/>
                <a:gridCol w="777240"/>
                <a:gridCol w="731520"/>
                <a:gridCol w="10332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Dominant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panorama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stage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 single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forward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 single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and forward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EO panorama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73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alignment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230368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5394960"/>
            <a:ext cx="10561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between best and worst is one output frame in each direction. </a:t>
            </a:r>
            <a:pPr indent="0" marL="0"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where a frame happens to land relative to the output frame boundary, which is not controlled and varies frame to frame.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effect: how often the picture changes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how old the picture is. Refresh is how often it is replaced. They are separate, and on the EO paths they differ.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75104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Hz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58368" y="267004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HD-SDI output raster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27248" y="18288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2112" y="1975104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2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15.1 Hz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236976" y="267004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new frames on the EO paths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05856" y="18288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1975104"/>
            <a:ext cx="22677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2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815584" y="267004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frame is presented twice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84464" y="1828800"/>
            <a:ext cx="3383280" cy="1371600"/>
          </a:xfrm>
          <a:prstGeom prst="roundRect">
            <a:avLst>
              <a:gd name="adj" fmla="val 4000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975104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2A3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+33 ms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394192" y="26700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extra staleness this adds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388620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 pass currently occupies almost a whole output frame period. A render that begins on one frame boundary therefore finishes during the next one, and can only be published on the boundary after that - so a new picture appears every second output frame.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throughput limit, not a correctness one: no frames are lost, each is simply shown twice.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DAF2EB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39776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already recovered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36992" y="4315968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defect fixed in August was issuing a large fraction of memory write commands twice. 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them raised measured memory write throughput from 36.7 to 94.1 commands per 1000 cycles - most of the way to what a 30 Hz refresh needs.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remaining time is, and what would remove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024128"/>
          </a:xfrm>
          <a:prstGeom prst="roundRect">
            <a:avLst>
              <a:gd name="adj" fmla="val 5357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402336" cy="402336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728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58191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direct ingress on the EO paths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90195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rendering onto arriving rows instead of storing whole frames first, exactly as the IR panorama already does.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464040" y="1728216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64040" y="17282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~33 ms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109960" cy="1024128"/>
          </a:xfrm>
          <a:prstGeom prst="roundRect">
            <a:avLst>
              <a:gd name="adj" fmla="val 5357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16936"/>
            <a:ext cx="402336" cy="402336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916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77063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render inside one frame period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09067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a genuine 30 Hz refresh and removes the average 33 ms of extra staleness. The memory headroom for this has largely been recovered already.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464040" y="2916936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02A3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0" y="291693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A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~33 ms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94760"/>
            <a:ext cx="11109960" cy="1024128"/>
          </a:xfrm>
          <a:prstGeom prst="roundRect">
            <a:avLst>
              <a:gd name="adj" fmla="val 5357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4105656"/>
            <a:ext cx="402336" cy="402336"/>
          </a:xfrm>
          <a:prstGeom prst="ellipse">
            <a:avLst/>
          </a:prstGeom>
          <a:solidFill>
            <a:srgbClr val="C2A33B"/>
          </a:solidFill>
          <a:ln w="12700">
            <a:solidFill>
              <a:srgbClr val="C2A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395935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Genlock the EO cameras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2793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remove the alignment wait on EO panorama. Requires camera support that the current EO units do not offer.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464040" y="4105656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C2A3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410565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A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~17 ms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109960" cy="1024128"/>
          </a:xfrm>
          <a:prstGeom prst="roundRect">
            <a:avLst>
              <a:gd name="adj" fmla="val 5357"/>
            </a:avLst>
          </a:prstGeom>
          <a:solidFill>
            <a:srgbClr val="F2F5FA"/>
          </a:solidFill>
          <a:ln w="12700">
            <a:solidFill>
              <a:srgbClr val="D3DC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5294376"/>
            <a:ext cx="402336" cy="402336"/>
          </a:xfrm>
          <a:prstGeom prst="ellipse">
            <a:avLst/>
          </a:prstGeom>
          <a:solidFill>
            <a:srgbClr val="6B7C97"/>
          </a:solidFill>
          <a:ln w="12700">
            <a:solidFill>
              <a:srgbClr val="6B7C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5294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5148072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stage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71600" y="546811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and scan-out are fixed by driving a 30 Hz raster from a frame store. Only a change of output format would reduce this.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464040" y="5294376"/>
            <a:ext cx="192024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6B7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64040" y="529437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floor: ~33 ms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1C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Basis of these numbers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figures can be audited rather than taken on trust.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29968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11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constants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5146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frame period 33.33 ms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formats and frame rates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source rows before the IR panorama can emit its first output row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directly from the design and its generated geometry tables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02A3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1144" y="2029968"/>
            <a:ext cx="310896" cy="310896"/>
          </a:xfrm>
          <a:prstGeom prst="ellipse">
            <a:avLst/>
          </a:prstGeom>
          <a:solidFill>
            <a:srgbClr val="02A37A"/>
          </a:solidFill>
          <a:ln w="12700">
            <a:solidFill>
              <a:srgbClr val="02A3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2011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hardware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99432" y="25146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refresh 15.1 Hz on the EO paths, from four independent captures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genlock skew under 274 ns across six cameras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write throughput before and after the August fix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01584" y="1783080"/>
            <a:ext cx="3547872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C2A33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7616" y="2029968"/>
            <a:ext cx="310896" cy="310896"/>
          </a:xfrm>
          <a:prstGeom prst="ellipse">
            <a:avLst/>
          </a:prstGeom>
          <a:solidFill>
            <a:srgbClr val="C2A33B"/>
          </a:solidFill>
          <a:ln w="12700">
            <a:solidFill>
              <a:srgbClr val="C2A3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2011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1C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assumptions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75904" y="251460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sensor and ISP delay is excluded - vendor specification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and scan-out quoted at their average; both range 0 to one frame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7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occupancy taken as one frame period, consistent with the measured refresh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11109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was derived from the pipeline structure and validated against the measured refresh rate; it was not measured end to end with an external timing reference.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 Analysis</dc:title>
  <dc:subject>PptxGenJS Presentation</dc:subject>
  <dc:creator>EO/IR Panorama V19</dc:creator>
  <cp:lastModifiedBy>EO/IR Panorama V19</cp:lastModifiedBy>
  <cp:revision>1</cp:revision>
  <dcterms:created xsi:type="dcterms:W3CDTF">2026-08-19T08:52:14Z</dcterms:created>
  <dcterms:modified xsi:type="dcterms:W3CDTF">2026-08-19T08:52:14Z</dcterms:modified>
</cp:coreProperties>
</file>